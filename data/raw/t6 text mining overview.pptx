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44"/>
  </p:handoutMasterIdLst>
  <p:sldIdLst>
    <p:sldId id="268" r:id="rId2"/>
    <p:sldId id="257" r:id="rId3"/>
    <p:sldId id="269" r:id="rId4"/>
    <p:sldId id="308" r:id="rId5"/>
    <p:sldId id="309" r:id="rId6"/>
    <p:sldId id="258" r:id="rId7"/>
    <p:sldId id="307" r:id="rId8"/>
    <p:sldId id="284" r:id="rId9"/>
    <p:sldId id="285" r:id="rId10"/>
    <p:sldId id="286" r:id="rId11"/>
    <p:sldId id="270" r:id="rId12"/>
    <p:sldId id="273" r:id="rId13"/>
    <p:sldId id="287" r:id="rId14"/>
    <p:sldId id="272" r:id="rId15"/>
    <p:sldId id="271" r:id="rId16"/>
    <p:sldId id="288" r:id="rId17"/>
    <p:sldId id="289" r:id="rId18"/>
    <p:sldId id="290" r:id="rId19"/>
    <p:sldId id="291" r:id="rId20"/>
    <p:sldId id="292" r:id="rId21"/>
    <p:sldId id="301" r:id="rId22"/>
    <p:sldId id="303" r:id="rId23"/>
    <p:sldId id="304" r:id="rId24"/>
    <p:sldId id="274" r:id="rId25"/>
    <p:sldId id="275" r:id="rId26"/>
    <p:sldId id="276" r:id="rId27"/>
    <p:sldId id="277" r:id="rId28"/>
    <p:sldId id="293" r:id="rId29"/>
    <p:sldId id="294" r:id="rId30"/>
    <p:sldId id="295" r:id="rId31"/>
    <p:sldId id="296" r:id="rId32"/>
    <p:sldId id="298" r:id="rId33"/>
    <p:sldId id="297" r:id="rId34"/>
    <p:sldId id="299" r:id="rId35"/>
    <p:sldId id="300" r:id="rId36"/>
    <p:sldId id="302" r:id="rId37"/>
    <p:sldId id="278" r:id="rId38"/>
    <p:sldId id="279" r:id="rId39"/>
    <p:sldId id="280" r:id="rId40"/>
    <p:sldId id="281" r:id="rId41"/>
    <p:sldId id="305" r:id="rId42"/>
    <p:sldId id="306" r:id="rId43"/>
  </p:sldIdLst>
  <p:sldSz cx="9144000" cy="6858000" type="screen4x3"/>
  <p:notesSz cx="6662738" cy="9906000"/>
  <p:defaultTextStyle>
    <a:defPPr>
      <a:defRPr lang="pt-PT"/>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0">
          <p15:clr>
            <a:srgbClr val="A4A3A4"/>
          </p15:clr>
        </p15:guide>
        <p15:guide id="2" pos="209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006600"/>
    <a:srgbClr val="000099"/>
    <a:srgbClr val="FFFF99"/>
    <a:srgbClr val="003300"/>
    <a:srgbClr val="FFFF00"/>
    <a:srgbClr val="FF4519"/>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6A53E6-0796-453E-97B4-AFACA5798E1F}" v="134" dt="2026-05-15T01:17:29.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7" autoAdjust="0"/>
    <p:restoredTop sz="94660"/>
  </p:normalViewPr>
  <p:slideViewPr>
    <p:cSldViewPr>
      <p:cViewPr varScale="1">
        <p:scale>
          <a:sx n="81" d="100"/>
          <a:sy n="81" d="100"/>
        </p:scale>
        <p:origin x="1382" y="48"/>
      </p:cViewPr>
      <p:guideLst>
        <p:guide orient="horz" pos="2160"/>
        <p:guide pos="2880"/>
      </p:guideLst>
    </p:cSldViewPr>
  </p:slideViewPr>
  <p:notesTextViewPr>
    <p:cViewPr>
      <p:scale>
        <a:sx n="100" d="100"/>
        <a:sy n="100" d="100"/>
      </p:scale>
      <p:origin x="0" y="0"/>
    </p:cViewPr>
  </p:notesTextViewPr>
  <p:notesViewPr>
    <p:cSldViewPr>
      <p:cViewPr varScale="1">
        <p:scale>
          <a:sx n="64" d="100"/>
          <a:sy n="64" d="100"/>
        </p:scale>
        <p:origin x="-2772" y="-108"/>
      </p:cViewPr>
      <p:guideLst>
        <p:guide orient="horz" pos="3120"/>
        <p:guide pos="209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no Escudeiro" userId="866ef74d-6fed-4278-96a8-2b77f2e68b55" providerId="ADAL" clId="{531E2814-D12D-4460-BE90-F7B6E7F4B87B}"/>
    <pc:docChg chg="custSel modSld">
      <pc:chgData name="Nuno Escudeiro" userId="866ef74d-6fed-4278-96a8-2b77f2e68b55" providerId="ADAL" clId="{531E2814-D12D-4460-BE90-F7B6E7F4B87B}" dt="2026-05-15T01:17:29.084" v="157" actId="20577"/>
      <pc:docMkLst>
        <pc:docMk/>
      </pc:docMkLst>
      <pc:sldChg chg="delSp mod">
        <pc:chgData name="Nuno Escudeiro" userId="866ef74d-6fed-4278-96a8-2b77f2e68b55" providerId="ADAL" clId="{531E2814-D12D-4460-BE90-F7B6E7F4B87B}" dt="2026-05-15T00:56:44.635" v="21" actId="478"/>
        <pc:sldMkLst>
          <pc:docMk/>
          <pc:sldMk cId="0" sldId="257"/>
        </pc:sldMkLst>
        <pc:spChg chg="del">
          <ac:chgData name="Nuno Escudeiro" userId="866ef74d-6fed-4278-96a8-2b77f2e68b55" providerId="ADAL" clId="{531E2814-D12D-4460-BE90-F7B6E7F4B87B}" dt="2026-05-15T00:56:44.635" v="21" actId="478"/>
          <ac:spMkLst>
            <pc:docMk/>
            <pc:sldMk cId="0" sldId="257"/>
            <ac:spMk id="3" creationId="{00000000-0000-0000-0000-000000000000}"/>
          </ac:spMkLst>
        </pc:spChg>
      </pc:sldChg>
      <pc:sldChg chg="modSp mod">
        <pc:chgData name="Nuno Escudeiro" userId="866ef74d-6fed-4278-96a8-2b77f2e68b55" providerId="ADAL" clId="{531E2814-D12D-4460-BE90-F7B6E7F4B87B}" dt="2026-05-15T00:56:27.494" v="20" actId="20577"/>
        <pc:sldMkLst>
          <pc:docMk/>
          <pc:sldMk cId="0" sldId="268"/>
        </pc:sldMkLst>
        <pc:spChg chg="mod">
          <ac:chgData name="Nuno Escudeiro" userId="866ef74d-6fed-4278-96a8-2b77f2e68b55" providerId="ADAL" clId="{531E2814-D12D-4460-BE90-F7B6E7F4B87B}" dt="2026-05-15T00:56:27.494" v="20" actId="20577"/>
          <ac:spMkLst>
            <pc:docMk/>
            <pc:sldMk cId="0" sldId="268"/>
            <ac:spMk id="2053" creationId="{00000000-0000-0000-0000-000000000000}"/>
          </ac:spMkLst>
        </pc:spChg>
      </pc:sldChg>
      <pc:sldChg chg="modSp">
        <pc:chgData name="Nuno Escudeiro" userId="866ef74d-6fed-4278-96a8-2b77f2e68b55" providerId="ADAL" clId="{531E2814-D12D-4460-BE90-F7B6E7F4B87B}" dt="2026-05-15T01:00:50.517" v="23" actId="20577"/>
        <pc:sldMkLst>
          <pc:docMk/>
          <pc:sldMk cId="0" sldId="284"/>
        </pc:sldMkLst>
        <pc:spChg chg="mod">
          <ac:chgData name="Nuno Escudeiro" userId="866ef74d-6fed-4278-96a8-2b77f2e68b55" providerId="ADAL" clId="{531E2814-D12D-4460-BE90-F7B6E7F4B87B}" dt="2026-05-15T01:00:50.517" v="23" actId="20577"/>
          <ac:spMkLst>
            <pc:docMk/>
            <pc:sldMk cId="0" sldId="284"/>
            <ac:spMk id="4" creationId="{00000000-0000-0000-0000-000000000000}"/>
          </ac:spMkLst>
        </pc:spChg>
      </pc:sldChg>
      <pc:sldChg chg="modSp mod">
        <pc:chgData name="Nuno Escudeiro" userId="866ef74d-6fed-4278-96a8-2b77f2e68b55" providerId="ADAL" clId="{531E2814-D12D-4460-BE90-F7B6E7F4B87B}" dt="2026-05-15T01:00:41.038" v="22" actId="20577"/>
        <pc:sldMkLst>
          <pc:docMk/>
          <pc:sldMk cId="0" sldId="286"/>
        </pc:sldMkLst>
        <pc:spChg chg="mod">
          <ac:chgData name="Nuno Escudeiro" userId="866ef74d-6fed-4278-96a8-2b77f2e68b55" providerId="ADAL" clId="{531E2814-D12D-4460-BE90-F7B6E7F4B87B}" dt="2026-05-15T01:00:41.038" v="22" actId="20577"/>
          <ac:spMkLst>
            <pc:docMk/>
            <pc:sldMk cId="0" sldId="286"/>
            <ac:spMk id="14339" creationId="{00000000-0000-0000-0000-000000000000}"/>
          </ac:spMkLst>
        </pc:spChg>
      </pc:sldChg>
      <pc:sldChg chg="modAnim">
        <pc:chgData name="Nuno Escudeiro" userId="866ef74d-6fed-4278-96a8-2b77f2e68b55" providerId="ADAL" clId="{531E2814-D12D-4460-BE90-F7B6E7F4B87B}" dt="2026-05-15T01:01:58.086" v="25"/>
        <pc:sldMkLst>
          <pc:docMk/>
          <pc:sldMk cId="0" sldId="287"/>
        </pc:sldMkLst>
      </pc:sldChg>
      <pc:sldChg chg="modSp">
        <pc:chgData name="Nuno Escudeiro" userId="866ef74d-6fed-4278-96a8-2b77f2e68b55" providerId="ADAL" clId="{531E2814-D12D-4460-BE90-F7B6E7F4B87B}" dt="2026-05-15T01:17:29.084" v="157" actId="20577"/>
        <pc:sldMkLst>
          <pc:docMk/>
          <pc:sldMk cId="0" sldId="305"/>
        </pc:sldMkLst>
        <pc:spChg chg="mod">
          <ac:chgData name="Nuno Escudeiro" userId="866ef74d-6fed-4278-96a8-2b77f2e68b55" providerId="ADAL" clId="{531E2814-D12D-4460-BE90-F7B6E7F4B87B}" dt="2026-05-15T01:17:29.084" v="157" actId="20577"/>
          <ac:spMkLst>
            <pc:docMk/>
            <pc:sldMk cId="0" sldId="305"/>
            <ac:spMk id="6" creationId="{00000000-0000-0000-0000-000000000000}"/>
          </ac:spMkLst>
        </pc:spChg>
      </pc:sldChg>
      <pc:sldChg chg="modSp mod">
        <pc:chgData name="Nuno Escudeiro" userId="866ef74d-6fed-4278-96a8-2b77f2e68b55" providerId="ADAL" clId="{531E2814-D12D-4460-BE90-F7B6E7F4B87B}" dt="2026-05-15T01:00:55.298" v="24" actId="20577"/>
        <pc:sldMkLst>
          <pc:docMk/>
          <pc:sldMk cId="1590815082" sldId="307"/>
        </pc:sldMkLst>
        <pc:graphicFrameChg chg="modGraphic">
          <ac:chgData name="Nuno Escudeiro" userId="866ef74d-6fed-4278-96a8-2b77f2e68b55" providerId="ADAL" clId="{531E2814-D12D-4460-BE90-F7B6E7F4B87B}" dt="2026-05-15T01:00:55.298" v="24" actId="20577"/>
          <ac:graphicFrameMkLst>
            <pc:docMk/>
            <pc:sldMk cId="1590815082" sldId="307"/>
            <ac:graphicFrameMk id="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7476" cy="494645"/>
          </a:xfrm>
          <a:prstGeom prst="rect">
            <a:avLst/>
          </a:prstGeom>
        </p:spPr>
        <p:txBody>
          <a:bodyPr vert="horz" lIns="96661" tIns="48331" rIns="96661" bIns="48331" rtlCol="0"/>
          <a:lstStyle>
            <a:lvl1pPr algn="l">
              <a:defRPr sz="1300"/>
            </a:lvl1pPr>
          </a:lstStyle>
          <a:p>
            <a:pPr>
              <a:defRPr/>
            </a:pPr>
            <a:endParaRPr lang="pt-PT"/>
          </a:p>
        </p:txBody>
      </p:sp>
      <p:sp>
        <p:nvSpPr>
          <p:cNvPr id="3" name="Date Placeholder 2"/>
          <p:cNvSpPr>
            <a:spLocks noGrp="1"/>
          </p:cNvSpPr>
          <p:nvPr>
            <p:ph type="dt" sz="quarter" idx="1"/>
          </p:nvPr>
        </p:nvSpPr>
        <p:spPr>
          <a:xfrm>
            <a:off x="3773816" y="0"/>
            <a:ext cx="2887476" cy="494645"/>
          </a:xfrm>
          <a:prstGeom prst="rect">
            <a:avLst/>
          </a:prstGeom>
        </p:spPr>
        <p:txBody>
          <a:bodyPr vert="horz" lIns="96661" tIns="48331" rIns="96661" bIns="48331" rtlCol="0"/>
          <a:lstStyle>
            <a:lvl1pPr algn="r">
              <a:defRPr sz="1300"/>
            </a:lvl1pPr>
          </a:lstStyle>
          <a:p>
            <a:pPr>
              <a:defRPr/>
            </a:pPr>
            <a:fld id="{CA14C5FF-1F1C-49E8-9F2A-2096E2F163AC}" type="datetimeFigureOut">
              <a:rPr lang="pt-PT"/>
              <a:pPr>
                <a:defRPr/>
              </a:pPr>
              <a:t>15/05/2026</a:t>
            </a:fld>
            <a:endParaRPr lang="pt-PT"/>
          </a:p>
        </p:txBody>
      </p:sp>
      <p:sp>
        <p:nvSpPr>
          <p:cNvPr id="4" name="Footer Placeholder 3"/>
          <p:cNvSpPr>
            <a:spLocks noGrp="1"/>
          </p:cNvSpPr>
          <p:nvPr>
            <p:ph type="ftr" sz="quarter" idx="2"/>
          </p:nvPr>
        </p:nvSpPr>
        <p:spPr>
          <a:xfrm>
            <a:off x="0" y="9409718"/>
            <a:ext cx="2887476" cy="494645"/>
          </a:xfrm>
          <a:prstGeom prst="rect">
            <a:avLst/>
          </a:prstGeom>
        </p:spPr>
        <p:txBody>
          <a:bodyPr vert="horz" lIns="96661" tIns="48331" rIns="96661" bIns="48331" rtlCol="0" anchor="b"/>
          <a:lstStyle>
            <a:lvl1pPr algn="l">
              <a:defRPr sz="1300"/>
            </a:lvl1pPr>
          </a:lstStyle>
          <a:p>
            <a:pPr>
              <a:defRPr/>
            </a:pPr>
            <a:endParaRPr lang="pt-PT"/>
          </a:p>
        </p:txBody>
      </p:sp>
      <p:sp>
        <p:nvSpPr>
          <p:cNvPr id="5" name="Slide Number Placeholder 4"/>
          <p:cNvSpPr>
            <a:spLocks noGrp="1"/>
          </p:cNvSpPr>
          <p:nvPr>
            <p:ph type="sldNum" sz="quarter" idx="3"/>
          </p:nvPr>
        </p:nvSpPr>
        <p:spPr>
          <a:xfrm>
            <a:off x="3773816" y="9409718"/>
            <a:ext cx="2887476" cy="494645"/>
          </a:xfrm>
          <a:prstGeom prst="rect">
            <a:avLst/>
          </a:prstGeom>
        </p:spPr>
        <p:txBody>
          <a:bodyPr vert="horz" lIns="96661" tIns="48331" rIns="96661" bIns="48331" rtlCol="0" anchor="b"/>
          <a:lstStyle>
            <a:lvl1pPr algn="r">
              <a:defRPr sz="1300"/>
            </a:lvl1pPr>
          </a:lstStyle>
          <a:p>
            <a:pPr>
              <a:defRPr/>
            </a:pPr>
            <a:fld id="{F1F95113-0925-4CF1-BBBC-770652864567}" type="slidenum">
              <a:rPr lang="pt-PT"/>
              <a:pPr>
                <a:defRPr/>
              </a:pPr>
              <a:t>‹#›</a:t>
            </a:fld>
            <a:endParaRPr lang="pt-PT"/>
          </a:p>
        </p:txBody>
      </p:sp>
    </p:spTree>
    <p:extLst>
      <p:ext uri="{BB962C8B-B14F-4D97-AF65-F5344CB8AC3E}">
        <p14:creationId xmlns:p14="http://schemas.microsoft.com/office/powerpoint/2010/main" val="185478171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a:prstGeom prst="rect">
            <a:avLst/>
          </a:prstGeom>
        </p:spPr>
        <p:txBody>
          <a:bodyPr/>
          <a:lstStyle/>
          <a:p>
            <a:r>
              <a:rPr lang="pt-PT"/>
              <a:t>Clique para editar o estilo</a:t>
            </a:r>
          </a:p>
        </p:txBody>
      </p:sp>
      <p:sp>
        <p:nvSpPr>
          <p:cNvPr id="3" name="Subtítulo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pt-PT"/>
              <a:t>Faça clique para editar o estilo</a:t>
            </a:r>
          </a:p>
        </p:txBody>
      </p:sp>
      <p:sp>
        <p:nvSpPr>
          <p:cNvPr id="4"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a:prstGeom prst="rect">
            <a:avLst/>
          </a:prstGeom>
        </p:spPr>
        <p:txBody>
          <a:bodyPr/>
          <a:lstStyle/>
          <a:p>
            <a:r>
              <a:rPr lang="pt-PT"/>
              <a:t>Clique para editar o estilo</a:t>
            </a:r>
          </a:p>
        </p:txBody>
      </p:sp>
      <p:sp>
        <p:nvSpPr>
          <p:cNvPr id="3" name="Marcador de Posição de Conteúdo 2"/>
          <p:cNvSpPr>
            <a:spLocks noGrp="1"/>
          </p:cNvSpPr>
          <p:nvPr>
            <p:ph idx="1"/>
          </p:nvPr>
        </p:nvSpPr>
        <p:spPr>
          <a:xfrm>
            <a:off x="457200" y="1600200"/>
            <a:ext cx="8229600" cy="4525963"/>
          </a:xfrm>
          <a:prstGeom prst="rect">
            <a:avLst/>
          </a:prstGeom>
        </p:spPr>
        <p:txBody>
          <a:body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pt-PT"/>
              <a:t>Clique para editar o estilo</a:t>
            </a:r>
          </a:p>
        </p:txBody>
      </p:sp>
      <p:sp>
        <p:nvSpPr>
          <p:cNvPr id="3" name="Marcador de Posição do Texto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t-PT"/>
              <a:t>Clique para editar os estilos</a:t>
            </a:r>
          </a:p>
        </p:txBody>
      </p:sp>
      <p:sp>
        <p:nvSpPr>
          <p:cNvPr id="4"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a:prstGeom prst="rect">
            <a:avLst/>
          </a:prstGeom>
        </p:spPr>
        <p:txBody>
          <a:bodyPr/>
          <a:lstStyle/>
          <a:p>
            <a:r>
              <a:rPr lang="pt-PT"/>
              <a:t>Clique para editar o estilo</a:t>
            </a:r>
          </a:p>
        </p:txBody>
      </p:sp>
      <p:sp>
        <p:nvSpPr>
          <p:cNvPr id="3" name="Marcador de Posição de Conteúdo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e Conteúdo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a:prstGeom prst="rect">
            <a:avLst/>
          </a:prstGeom>
        </p:spPr>
        <p:txBody>
          <a:bodyPr/>
          <a:lstStyle>
            <a:lvl1pPr>
              <a:defRPr/>
            </a:lvl1pPr>
          </a:lstStyle>
          <a:p>
            <a:r>
              <a:rPr lang="pt-PT"/>
              <a:t>Clique para editar o estilo</a:t>
            </a:r>
          </a:p>
        </p:txBody>
      </p:sp>
      <p:sp>
        <p:nvSpPr>
          <p:cNvPr id="3" name="Marcador de Posição do Texto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a:t>
            </a:r>
          </a:p>
        </p:txBody>
      </p:sp>
      <p:sp>
        <p:nvSpPr>
          <p:cNvPr id="4" name="Marcador de Posição de Conteúdo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Texto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a:t>
            </a:r>
          </a:p>
        </p:txBody>
      </p:sp>
      <p:sp>
        <p:nvSpPr>
          <p:cNvPr id="6" name="Marcador de Posição de Conteúdo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7"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a:prstGeom prst="rect">
            <a:avLst/>
          </a:prstGeom>
        </p:spPr>
        <p:txBody>
          <a:bodyPr/>
          <a:lstStyle/>
          <a:p>
            <a:r>
              <a:rPr lang="pt-PT"/>
              <a:t>Clique para editar o estilo</a:t>
            </a:r>
          </a:p>
        </p:txBody>
      </p:sp>
      <p:sp>
        <p:nvSpPr>
          <p:cNvPr id="3"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a:prstGeom prst="rect">
            <a:avLst/>
          </a:prstGeom>
        </p:spPr>
        <p:txBody>
          <a:bodyPr anchor="b"/>
          <a:lstStyle>
            <a:lvl1pPr algn="l">
              <a:defRPr sz="2000" b="1"/>
            </a:lvl1pPr>
          </a:lstStyle>
          <a:p>
            <a:r>
              <a:rPr lang="pt-PT"/>
              <a:t>Clique para editar o estilo</a:t>
            </a:r>
          </a:p>
        </p:txBody>
      </p:sp>
      <p:sp>
        <p:nvSpPr>
          <p:cNvPr id="3" name="Marcador de Posição de Conteúdo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Texto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Clique para editar os estilos</a:t>
            </a:r>
          </a:p>
        </p:txBody>
      </p:sp>
      <p:sp>
        <p:nvSpPr>
          <p:cNvPr id="5"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a:prstGeom prst="rect">
            <a:avLst/>
          </a:prstGeom>
        </p:spPr>
        <p:txBody>
          <a:bodyPr anchor="b"/>
          <a:lstStyle>
            <a:lvl1pPr algn="l">
              <a:defRPr sz="2000" b="1"/>
            </a:lvl1pPr>
          </a:lstStyle>
          <a:p>
            <a:r>
              <a:rPr lang="pt-PT"/>
              <a:t>Clique para editar o estilo</a:t>
            </a:r>
          </a:p>
        </p:txBody>
      </p:sp>
      <p:sp>
        <p:nvSpPr>
          <p:cNvPr id="3" name="Marcador de Posição da Imagem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PT" noProof="0"/>
          </a:p>
        </p:txBody>
      </p:sp>
      <p:sp>
        <p:nvSpPr>
          <p:cNvPr id="4" name="Marcador de Posição do Texto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Clique para editar os estilos</a:t>
            </a:r>
          </a:p>
        </p:txBody>
      </p:sp>
      <p:sp>
        <p:nvSpPr>
          <p:cNvPr id="5"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a:prstGeom prst="rect">
            <a:avLst/>
          </a:prstGeom>
        </p:spPr>
        <p:txBody>
          <a:bodyPr/>
          <a:lstStyle/>
          <a:p>
            <a:r>
              <a:rPr lang="pt-PT"/>
              <a:t>Clique para editar o estilo</a:t>
            </a:r>
          </a:p>
        </p:txBody>
      </p:sp>
      <p:sp>
        <p:nvSpPr>
          <p:cNvPr id="3" name="Marcador de Posição de Texto Vertical 2"/>
          <p:cNvSpPr>
            <a:spLocks noGrp="1"/>
          </p:cNvSpPr>
          <p:nvPr>
            <p:ph type="body" orient="vert" idx="1"/>
          </p:nvPr>
        </p:nvSpPr>
        <p:spPr>
          <a:xfrm>
            <a:off x="457200" y="1600200"/>
            <a:ext cx="8229600" cy="4525963"/>
          </a:xfrm>
          <a:prstGeom prst="rect">
            <a:avLst/>
          </a:prstGeom>
        </p:spPr>
        <p:txBody>
          <a:bodyPr vert="eaVert"/>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a:prstGeom prst="rect">
            <a:avLst/>
          </a:prstGeom>
        </p:spPr>
        <p:txBody>
          <a:bodyPr vert="eaVert"/>
          <a:lstStyle/>
          <a:p>
            <a:r>
              <a:rPr lang="pt-PT"/>
              <a:t>Clique para editar o estilo</a:t>
            </a:r>
          </a:p>
        </p:txBody>
      </p:sp>
      <p:sp>
        <p:nvSpPr>
          <p:cNvPr id="3" name="Marcador de Posição de Texto Vertical 2"/>
          <p:cNvSpPr>
            <a:spLocks noGrp="1"/>
          </p:cNvSpPr>
          <p:nvPr>
            <p:ph type="body" orient="vert" idx="1"/>
          </p:nvPr>
        </p:nvSpPr>
        <p:spPr>
          <a:xfrm>
            <a:off x="457200" y="274638"/>
            <a:ext cx="6019800" cy="5851525"/>
          </a:xfrm>
          <a:prstGeom prst="rect">
            <a:avLst/>
          </a:prstGeom>
        </p:spPr>
        <p:txBody>
          <a:bodyPr vert="eaVert"/>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Rodapé 3"/>
          <p:cNvSpPr>
            <a:spLocks noGrp="1"/>
          </p:cNvSpPr>
          <p:nvPr>
            <p:ph type="ftr" sz="quarter" idx="10"/>
          </p:nvPr>
        </p:nvSpPr>
        <p:spPr>
          <a:ln/>
        </p:spPr>
        <p:txBody>
          <a:bodyPr/>
          <a:lstStyle>
            <a:lvl1pPr>
              <a:defRPr/>
            </a:lvl1pPr>
          </a:lstStyle>
          <a:p>
            <a:pPr>
              <a:defRPr/>
            </a:pPr>
            <a:endParaRPr lang="en-GB"/>
          </a:p>
          <a:p>
            <a:pPr>
              <a:defRPr/>
            </a:pPr>
            <a:endParaRPr lang="en-GB"/>
          </a:p>
          <a:p>
            <a:pPr>
              <a:defRPr/>
            </a:pPr>
            <a:r>
              <a:rPr lang="en-GB"/>
              <a:t>MUTW	ELLEIEC meeting, ISEP – 6th March, 2009</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1032" name="Rectangle 8"/>
          <p:cNvSpPr>
            <a:spLocks noChangeArrowheads="1"/>
          </p:cNvSpPr>
          <p:nvPr userDrawn="1"/>
        </p:nvSpPr>
        <p:spPr bwMode="auto">
          <a:xfrm>
            <a:off x="0" y="0"/>
            <a:ext cx="9144000" cy="404813"/>
          </a:xfrm>
          <a:prstGeom prst="rect">
            <a:avLst/>
          </a:prstGeom>
          <a:solidFill>
            <a:srgbClr val="DDDDDD"/>
          </a:solidFill>
          <a:ln w="9525">
            <a:noFill/>
            <a:miter lim="800000"/>
            <a:headEnd/>
            <a:tailEnd/>
          </a:ln>
          <a:effectLst/>
        </p:spPr>
        <p:txBody>
          <a:bodyPr anchor="ctr" anchorCtr="1"/>
          <a:lstStyle/>
          <a:p>
            <a:pPr marL="342900" indent="-342900">
              <a:spcBef>
                <a:spcPct val="20000"/>
              </a:spcBef>
              <a:buFontTx/>
              <a:buChar char="•"/>
              <a:defRPr/>
            </a:pPr>
            <a:endParaRPr lang="pt-PT" sz="2800">
              <a:solidFill>
                <a:srgbClr val="336699"/>
              </a:solidFill>
              <a:latin typeface="Arial" pitchFamily="34" charset="0"/>
              <a:cs typeface="+mn-cs"/>
            </a:endParaRPr>
          </a:p>
        </p:txBody>
      </p:sp>
      <p:sp>
        <p:nvSpPr>
          <p:cNvPr id="6" name="Marcador de Posição do Rodapé 3"/>
          <p:cNvSpPr>
            <a:spLocks noGrp="1"/>
          </p:cNvSpPr>
          <p:nvPr>
            <p:ph type="ftr" sz="quarter" idx="3"/>
          </p:nvPr>
        </p:nvSpPr>
        <p:spPr bwMode="auto">
          <a:xfrm>
            <a:off x="0" y="6165850"/>
            <a:ext cx="9144000" cy="692150"/>
          </a:xfrm>
          <a:prstGeom prst="rect">
            <a:avLst/>
          </a:prstGeom>
          <a:gradFill rotWithShape="1">
            <a:gsLst>
              <a:gs pos="0">
                <a:srgbClr val="EAEAEA">
                  <a:gamma/>
                  <a:shade val="86275"/>
                  <a:invGamma/>
                </a:srgbClr>
              </a:gs>
              <a:gs pos="100000">
                <a:srgbClr val="EAEAEA">
                  <a:alpha val="0"/>
                </a:srgbClr>
              </a:gs>
            </a:gsLst>
            <a:lin ang="0" scaled="1"/>
          </a:gradFill>
          <a:ln>
            <a:miter lim="800000"/>
            <a:headEnd/>
            <a:tailEnd/>
          </a:ln>
        </p:spPr>
        <p:txBody>
          <a:bodyPr vert="horz" wrap="square" lIns="91440" tIns="45720" rIns="91440" bIns="45720" numCol="1" anchor="t" anchorCtr="0" compatLnSpc="1">
            <a:prstTxWarp prst="textNoShape">
              <a:avLst/>
            </a:prstTxWarp>
          </a:bodyPr>
          <a:lstStyle>
            <a:lvl1pPr algn="r">
              <a:defRPr sz="800" b="1" i="1">
                <a:solidFill>
                  <a:srgbClr val="A50021"/>
                </a:solidFill>
              </a:defRPr>
            </a:lvl1pPr>
          </a:lstStyle>
          <a:p>
            <a:pPr>
              <a:defRPr/>
            </a:pPr>
            <a:endParaRPr lang="en-GB"/>
          </a:p>
          <a:p>
            <a:pPr>
              <a:defRPr/>
            </a:pPr>
            <a:endParaRPr lang="en-GB"/>
          </a:p>
          <a:p>
            <a:pPr>
              <a:defRPr/>
            </a:pPr>
            <a:r>
              <a:rPr lang="en-GB"/>
              <a:t>MUTW	ELLEIEC meeting, ISEP – 6th March, 2009</a:t>
            </a:r>
          </a:p>
        </p:txBody>
      </p:sp>
      <p:pic>
        <p:nvPicPr>
          <p:cNvPr id="1028" name="Picture 7" descr="logo_ISEP"/>
          <p:cNvPicPr>
            <a:picLocks noChangeAspect="1" noChangeArrowheads="1"/>
          </p:cNvPicPr>
          <p:nvPr userDrawn="1"/>
        </p:nvPicPr>
        <p:blipFill>
          <a:blip r:embed="rId13" cstate="print">
            <a:clrChange>
              <a:clrFrom>
                <a:srgbClr val="D2D2D4"/>
              </a:clrFrom>
              <a:clrTo>
                <a:srgbClr val="D2D2D4">
                  <a:alpha val="0"/>
                </a:srgbClr>
              </a:clrTo>
            </a:clrChange>
          </a:blip>
          <a:srcRect/>
          <a:stretch>
            <a:fillRect/>
          </a:stretch>
        </p:blipFill>
        <p:spPr bwMode="auto">
          <a:xfrm>
            <a:off x="34925" y="6159500"/>
            <a:ext cx="792163" cy="7223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wordnet.princeton.edu/"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mallet.cs.umass.edu/" TargetMode="External"/><Relationship Id="rId2" Type="http://schemas.openxmlformats.org/officeDocument/2006/relationships/hyperlink" Target="http://www.r-project.org/" TargetMode="External"/><Relationship Id="rId1" Type="http://schemas.openxmlformats.org/officeDocument/2006/relationships/slideLayout" Target="../slideLayouts/slideLayout1.xml"/><Relationship Id="rId6" Type="http://schemas.openxmlformats.org/officeDocument/2006/relationships/hyperlink" Target="http://rapid-i.com/" TargetMode="External"/><Relationship Id="rId5" Type="http://schemas.openxmlformats.org/officeDocument/2006/relationships/hyperlink" Target="http://opennlp.apache.org/" TargetMode="External"/><Relationship Id="rId4" Type="http://schemas.openxmlformats.org/officeDocument/2006/relationships/hyperlink" Target="http://lucene.apache.org/"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hyperlink" Target="R%20docs/R-intro.pdf"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hyperlink" Target="R%20docs/tm.pdf"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hyperlink" Target="http://www.metacritic.com/game/pc" TargetMode="External"/><Relationship Id="rId2" Type="http://schemas.openxmlformats.org/officeDocument/2006/relationships/hyperlink" Target="https://www.dropbox.com/sh/zeb9iqiy9u0isdx/_EhjMTTRXL"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p:cNvSpPr>
            <a:spLocks noChangeArrowheads="1"/>
          </p:cNvSpPr>
          <p:nvPr/>
        </p:nvSpPr>
        <p:spPr bwMode="auto">
          <a:xfrm>
            <a:off x="1403648" y="1412776"/>
            <a:ext cx="7560394" cy="4216539"/>
          </a:xfrm>
          <a:prstGeom prst="rect">
            <a:avLst/>
          </a:prstGeom>
          <a:noFill/>
          <a:ln w="9525">
            <a:noFill/>
            <a:miter lim="800000"/>
            <a:headEnd/>
            <a:tailEnd/>
          </a:ln>
        </p:spPr>
        <p:txBody>
          <a:bodyPr wrap="square">
            <a:spAutoFit/>
          </a:bodyPr>
          <a:lstStyle/>
          <a:p>
            <a:endParaRPr lang="pt-PT" sz="3200" b="1" dirty="0">
              <a:solidFill>
                <a:srgbClr val="002060"/>
              </a:solidFill>
            </a:endParaRPr>
          </a:p>
          <a:p>
            <a:endParaRPr lang="pt-PT" sz="3200" b="1" dirty="0">
              <a:solidFill>
                <a:srgbClr val="002060"/>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r>
              <a:rPr lang="pt-PT" sz="3200" b="1" dirty="0" err="1">
                <a:solidFill>
                  <a:schemeClr val="tx1">
                    <a:lumMod val="65000"/>
                    <a:lumOff val="35000"/>
                  </a:schemeClr>
                </a:solidFill>
              </a:rPr>
              <a:t>Text</a:t>
            </a:r>
            <a:r>
              <a:rPr lang="pt-PT" sz="3200" b="1" dirty="0">
                <a:solidFill>
                  <a:schemeClr val="tx1">
                    <a:lumMod val="65000"/>
                    <a:lumOff val="35000"/>
                  </a:schemeClr>
                </a:solidFill>
              </a:rPr>
              <a:t> </a:t>
            </a:r>
            <a:r>
              <a:rPr lang="pt-PT" sz="3200" b="1" dirty="0" err="1">
                <a:solidFill>
                  <a:schemeClr val="tx1">
                    <a:lumMod val="65000"/>
                    <a:lumOff val="35000"/>
                  </a:schemeClr>
                </a:solidFill>
              </a:rPr>
              <a:t>Mining</a:t>
            </a:r>
            <a:r>
              <a:rPr lang="pt-PT" sz="3200" b="1" dirty="0">
                <a:solidFill>
                  <a:schemeClr val="tx1">
                    <a:lumMod val="65000"/>
                    <a:lumOff val="35000"/>
                  </a:schemeClr>
                </a:solidFill>
              </a:rPr>
              <a:t> </a:t>
            </a:r>
            <a:r>
              <a:rPr lang="pt-PT" sz="3200" b="1" dirty="0" err="1">
                <a:solidFill>
                  <a:schemeClr val="tx1">
                    <a:lumMod val="65000"/>
                    <a:lumOff val="35000"/>
                  </a:schemeClr>
                </a:solidFill>
              </a:rPr>
              <a:t>Overview</a:t>
            </a:r>
            <a:endParaRPr lang="pt-PT" sz="3200" b="1" dirty="0">
              <a:solidFill>
                <a:schemeClr val="tx1">
                  <a:lumMod val="65000"/>
                  <a:lumOff val="35000"/>
                </a:schemeClr>
              </a:solidFill>
            </a:endParaRPr>
          </a:p>
          <a:p>
            <a:endParaRPr lang="pt-PT" sz="2600" b="1" i="1" dirty="0">
              <a:solidFill>
                <a:schemeClr val="tx1">
                  <a:lumMod val="65000"/>
                  <a:lumOff val="35000"/>
                </a:schemeClr>
              </a:solidFill>
            </a:endParaRPr>
          </a:p>
          <a:p>
            <a:r>
              <a:rPr lang="pt-PT" dirty="0">
                <a:solidFill>
                  <a:schemeClr val="tx1">
                    <a:lumMod val="65000"/>
                    <a:lumOff val="35000"/>
                  </a:schemeClr>
                </a:solidFill>
              </a:rPr>
              <a:t>				Nuno Escudeiro, </a:t>
            </a:r>
            <a:r>
              <a:rPr lang="pt-PT" dirty="0" err="1">
                <a:solidFill>
                  <a:schemeClr val="tx1">
                    <a:lumMod val="65000"/>
                    <a:lumOff val="35000"/>
                  </a:schemeClr>
                </a:solidFill>
              </a:rPr>
              <a:t>nfe@isep.ipp.pt</a:t>
            </a:r>
            <a:endParaRPr lang="pt-PT" dirty="0">
              <a:solidFill>
                <a:schemeClr val="tx1">
                  <a:lumMod val="65000"/>
                  <a:lumOff val="35000"/>
                </a:schemeClr>
              </a:solidFill>
            </a:endParaRPr>
          </a:p>
        </p:txBody>
      </p:sp>
      <p:pic>
        <p:nvPicPr>
          <p:cNvPr id="17410" name="Picture 2" descr="http://mediatemetrics.files.wordpress.com/2012/01/text-mining.jpg?w=216&amp;h=100&amp;crop=1"/>
          <p:cNvPicPr>
            <a:picLocks noChangeAspect="1" noChangeArrowheads="1"/>
          </p:cNvPicPr>
          <p:nvPr/>
        </p:nvPicPr>
        <p:blipFill>
          <a:blip r:embed="rId2" cstate="print"/>
          <a:srcRect/>
          <a:stretch>
            <a:fillRect/>
          </a:stretch>
        </p:blipFill>
        <p:spPr bwMode="auto">
          <a:xfrm>
            <a:off x="1475656" y="1268760"/>
            <a:ext cx="3816424" cy="1766864"/>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3"/>
          <p:cNvSpPr txBox="1">
            <a:spLocks noChangeArrowheads="1"/>
          </p:cNvSpPr>
          <p:nvPr/>
        </p:nvSpPr>
        <p:spPr bwMode="auto">
          <a:xfrm>
            <a:off x="250825" y="908050"/>
            <a:ext cx="8642350" cy="3901068"/>
          </a:xfrm>
          <a:prstGeom prst="rect">
            <a:avLst/>
          </a:prstGeom>
          <a:noFill/>
          <a:ln w="9525">
            <a:noFill/>
            <a:miter lim="800000"/>
            <a:headEnd/>
            <a:tailEnd/>
          </a:ln>
        </p:spPr>
        <p:txBody>
          <a:bodyPr>
            <a:spAutoFit/>
          </a:bodyPr>
          <a:lstStyle/>
          <a:p>
            <a:pPr marL="342900" indent="-342900">
              <a:lnSpc>
                <a:spcPct val="150000"/>
              </a:lnSpc>
              <a:spcBef>
                <a:spcPct val="25000"/>
              </a:spcBef>
              <a:defRPr/>
            </a:pPr>
            <a:r>
              <a:rPr lang="pt-PT" b="1" u="sng" cap="all" dirty="0" err="1">
                <a:solidFill>
                  <a:schemeClr val="accent6"/>
                </a:solidFill>
              </a:rPr>
              <a:t>Outline</a:t>
            </a:r>
            <a:endParaRPr lang="pt-PT" b="1" u="sng" dirty="0">
              <a:solidFill>
                <a:schemeClr val="accent6"/>
              </a:solidFill>
            </a:endParaRPr>
          </a:p>
          <a:p>
            <a:pPr marL="904875" indent="-342900">
              <a:lnSpc>
                <a:spcPct val="150000"/>
              </a:lnSpc>
              <a:spcBef>
                <a:spcPct val="25000"/>
              </a:spcBef>
              <a:buFontTx/>
              <a:buAutoNum type="arabicPeriod"/>
              <a:defRPr/>
            </a:pPr>
            <a:r>
              <a:rPr lang="pt-PT" b="1" dirty="0" err="1">
                <a:solidFill>
                  <a:schemeClr val="accent6"/>
                </a:solidFill>
              </a:rPr>
              <a:t>Introduction</a:t>
            </a:r>
            <a:r>
              <a:rPr lang="pt-PT" b="1" dirty="0">
                <a:solidFill>
                  <a:schemeClr val="accent6"/>
                </a:solidFill>
              </a:rPr>
              <a:t> to </a:t>
            </a:r>
            <a:r>
              <a:rPr lang="pt-PT" b="1" dirty="0" err="1">
                <a:solidFill>
                  <a:schemeClr val="accent6"/>
                </a:solidFill>
              </a:rPr>
              <a:t>text</a:t>
            </a:r>
            <a:r>
              <a:rPr lang="pt-PT" b="1" dirty="0">
                <a:solidFill>
                  <a:schemeClr val="accent6"/>
                </a:solidFill>
              </a:rPr>
              <a:t> </a:t>
            </a:r>
            <a:r>
              <a:rPr lang="pt-PT" b="1" dirty="0" err="1">
                <a:solidFill>
                  <a:schemeClr val="accent6"/>
                </a:solidFill>
              </a:rPr>
              <a:t>mining</a:t>
            </a:r>
            <a:endParaRPr lang="pt-PT" b="1" dirty="0">
              <a:solidFill>
                <a:schemeClr val="accent6"/>
              </a:solidFill>
            </a:endParaRPr>
          </a:p>
          <a:p>
            <a:pPr marL="904875" indent="-342900">
              <a:lnSpc>
                <a:spcPct val="150000"/>
              </a:lnSpc>
              <a:spcBef>
                <a:spcPct val="25000"/>
              </a:spcBef>
              <a:buFontTx/>
              <a:buAutoNum type="arabicPeriod"/>
              <a:defRPr/>
            </a:pPr>
            <a:r>
              <a:rPr lang="pt-PT" b="1" dirty="0" err="1">
                <a:solidFill>
                  <a:schemeClr val="accent6"/>
                </a:solidFill>
              </a:rPr>
              <a:t>Text</a:t>
            </a:r>
            <a:r>
              <a:rPr lang="pt-PT" b="1" dirty="0">
                <a:solidFill>
                  <a:schemeClr val="accent6"/>
                </a:solidFill>
              </a:rPr>
              <a:t> </a:t>
            </a:r>
            <a:r>
              <a:rPr lang="pt-PT" b="1" dirty="0" err="1">
                <a:solidFill>
                  <a:schemeClr val="accent6"/>
                </a:solidFill>
              </a:rPr>
              <a:t>modeling</a:t>
            </a:r>
            <a:r>
              <a:rPr lang="pt-PT" b="1" dirty="0">
                <a:solidFill>
                  <a:schemeClr val="accent6"/>
                </a:solidFill>
              </a:rPr>
              <a:t>, </a:t>
            </a:r>
            <a:r>
              <a:rPr lang="pt-PT" b="1" dirty="0" err="1">
                <a:solidFill>
                  <a:schemeClr val="accent6"/>
                </a:solidFill>
              </a:rPr>
              <a:t>bag</a:t>
            </a:r>
            <a:r>
              <a:rPr lang="pt-PT" b="1" dirty="0">
                <a:solidFill>
                  <a:schemeClr val="accent6"/>
                </a:solidFill>
              </a:rPr>
              <a:t>-of-</a:t>
            </a:r>
            <a:r>
              <a:rPr lang="pt-PT" b="1" dirty="0" err="1">
                <a:solidFill>
                  <a:schemeClr val="accent6"/>
                </a:solidFill>
              </a:rPr>
              <a:t>words</a:t>
            </a:r>
            <a:r>
              <a:rPr lang="pt-PT" b="1" dirty="0">
                <a:solidFill>
                  <a:schemeClr val="accent6"/>
                </a:solidFill>
              </a:rPr>
              <a:t>, </a:t>
            </a:r>
            <a:r>
              <a:rPr lang="pt-PT" b="1" dirty="0" err="1">
                <a:solidFill>
                  <a:schemeClr val="accent6"/>
                </a:solidFill>
              </a:rPr>
              <a:t>TFxIDF</a:t>
            </a:r>
            <a:endParaRPr lang="pt-PT" b="1" dirty="0">
              <a:solidFill>
                <a:schemeClr val="accent6"/>
              </a:solidFill>
            </a:endParaRPr>
          </a:p>
          <a:p>
            <a:pPr marL="904875" indent="-342900">
              <a:lnSpc>
                <a:spcPct val="150000"/>
              </a:lnSpc>
              <a:spcBef>
                <a:spcPct val="25000"/>
              </a:spcBef>
              <a:buFontTx/>
              <a:buAutoNum type="arabicPeriod"/>
              <a:defRPr/>
            </a:pPr>
            <a:r>
              <a:rPr lang="pt-PT" b="1" dirty="0" err="1">
                <a:solidFill>
                  <a:schemeClr val="accent6"/>
                </a:solidFill>
              </a:rPr>
              <a:t>Text</a:t>
            </a:r>
            <a:r>
              <a:rPr lang="pt-PT" b="1" dirty="0">
                <a:solidFill>
                  <a:schemeClr val="accent6"/>
                </a:solidFill>
              </a:rPr>
              <a:t> </a:t>
            </a:r>
            <a:r>
              <a:rPr lang="pt-PT" b="1" dirty="0" err="1">
                <a:solidFill>
                  <a:schemeClr val="accent6"/>
                </a:solidFill>
              </a:rPr>
              <a:t>processing</a:t>
            </a:r>
            <a:endParaRPr lang="pt-PT" b="1" dirty="0">
              <a:solidFill>
                <a:schemeClr val="accent6"/>
              </a:solidFill>
            </a:endParaRPr>
          </a:p>
          <a:p>
            <a:pPr marL="904875" indent="-342900">
              <a:lnSpc>
                <a:spcPct val="150000"/>
              </a:lnSpc>
              <a:spcBef>
                <a:spcPct val="25000"/>
              </a:spcBef>
              <a:buFontTx/>
              <a:buAutoNum type="arabicPeriod"/>
              <a:defRPr/>
            </a:pPr>
            <a:r>
              <a:rPr lang="pt-PT" b="1" dirty="0" err="1">
                <a:solidFill>
                  <a:schemeClr val="accent6"/>
                </a:solidFill>
              </a:rPr>
              <a:t>Tools</a:t>
            </a:r>
            <a:r>
              <a:rPr lang="pt-PT" b="1" dirty="0">
                <a:solidFill>
                  <a:schemeClr val="accent6"/>
                </a:solidFill>
              </a:rPr>
              <a:t> for </a:t>
            </a:r>
            <a:r>
              <a:rPr lang="pt-PT" b="1" dirty="0" err="1">
                <a:solidFill>
                  <a:schemeClr val="accent6"/>
                </a:solidFill>
              </a:rPr>
              <a:t>text</a:t>
            </a:r>
            <a:r>
              <a:rPr lang="pt-PT" b="1" dirty="0">
                <a:solidFill>
                  <a:schemeClr val="accent6"/>
                </a:solidFill>
              </a:rPr>
              <a:t> </a:t>
            </a:r>
            <a:r>
              <a:rPr lang="pt-PT" b="1" dirty="0" err="1">
                <a:solidFill>
                  <a:schemeClr val="accent6"/>
                </a:solidFill>
              </a:rPr>
              <a:t>mining</a:t>
            </a:r>
            <a:endParaRPr lang="pt-PT" b="1" dirty="0">
              <a:solidFill>
                <a:schemeClr val="accent6"/>
              </a:solidFill>
            </a:endParaRPr>
          </a:p>
          <a:p>
            <a:pPr marL="904875" indent="-342900">
              <a:lnSpc>
                <a:spcPct val="150000"/>
              </a:lnSpc>
              <a:spcBef>
                <a:spcPct val="25000"/>
              </a:spcBef>
              <a:buFontTx/>
              <a:buAutoNum type="arabicPeriod"/>
              <a:defRPr/>
            </a:pPr>
            <a:r>
              <a:rPr lang="pt-PT" b="1" dirty="0">
                <a:solidFill>
                  <a:schemeClr val="accent6"/>
                </a:solidFill>
              </a:rPr>
              <a:t>R </a:t>
            </a:r>
            <a:r>
              <a:rPr lang="pt-PT" b="1" dirty="0" err="1">
                <a:solidFill>
                  <a:schemeClr val="accent6"/>
                </a:solidFill>
              </a:rPr>
              <a:t>language</a:t>
            </a:r>
            <a:r>
              <a:rPr lang="pt-PT" b="1" dirty="0">
                <a:solidFill>
                  <a:schemeClr val="accent6"/>
                </a:solidFill>
              </a:rPr>
              <a:t>, </a:t>
            </a:r>
            <a:r>
              <a:rPr lang="pt-PT" b="1" dirty="0" err="1">
                <a:solidFill>
                  <a:schemeClr val="accent6"/>
                </a:solidFill>
              </a:rPr>
              <a:t>tm</a:t>
            </a:r>
            <a:r>
              <a:rPr lang="pt-PT" b="1" dirty="0">
                <a:solidFill>
                  <a:schemeClr val="accent6"/>
                </a:solidFill>
              </a:rPr>
              <a:t> package</a:t>
            </a:r>
          </a:p>
          <a:p>
            <a:pPr marL="904875" indent="-342900">
              <a:lnSpc>
                <a:spcPct val="150000"/>
              </a:lnSpc>
              <a:spcBef>
                <a:spcPct val="25000"/>
              </a:spcBef>
              <a:buFontTx/>
              <a:buAutoNum type="arabicPeriod"/>
              <a:defRPr/>
            </a:pPr>
            <a:r>
              <a:rPr lang="pt-PT" b="1" dirty="0">
                <a:solidFill>
                  <a:schemeClr val="accent6"/>
                </a:solidFill>
              </a:rPr>
              <a:t>Case </a:t>
            </a:r>
            <a:r>
              <a:rPr lang="pt-PT" b="1" dirty="0" err="1">
                <a:solidFill>
                  <a:schemeClr val="accent6"/>
                </a:solidFill>
              </a:rPr>
              <a:t>study</a:t>
            </a:r>
            <a:endParaRPr lang="pt-PT" b="1" dirty="0">
              <a:solidFill>
                <a:schemeClr val="accent6"/>
              </a:solidFill>
            </a:endParaRPr>
          </a:p>
          <a:p>
            <a:pPr marL="904875" indent="-342900">
              <a:lnSpc>
                <a:spcPct val="150000"/>
              </a:lnSpc>
              <a:spcBef>
                <a:spcPct val="25000"/>
              </a:spcBef>
              <a:buFontTx/>
              <a:buAutoNum type="arabicPeriod"/>
              <a:defRPr/>
            </a:pPr>
            <a:r>
              <a:rPr lang="pt-PT" b="1" dirty="0" err="1">
                <a:solidFill>
                  <a:schemeClr val="accent6"/>
                </a:solidFill>
              </a:rPr>
              <a:t>Hands-on</a:t>
            </a:r>
            <a:r>
              <a:rPr lang="pt-PT" b="1" dirty="0">
                <a:solidFill>
                  <a:schemeClr val="accent6"/>
                </a:solidFill>
              </a:rPr>
              <a:t> </a:t>
            </a:r>
            <a:r>
              <a:rPr lang="pt-PT" b="1" dirty="0" err="1">
                <a:solidFill>
                  <a:schemeClr val="accent6"/>
                </a:solidFill>
              </a:rPr>
              <a:t>contest</a:t>
            </a:r>
            <a:endParaRPr lang="pt-PT" b="1" dirty="0">
              <a:solidFill>
                <a:schemeClr val="accent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p:cNvSpPr>
            <a:spLocks noChangeArrowheads="1"/>
          </p:cNvSpPr>
          <p:nvPr/>
        </p:nvSpPr>
        <p:spPr bwMode="auto">
          <a:xfrm>
            <a:off x="1403648" y="1412776"/>
            <a:ext cx="7560394" cy="4216539"/>
          </a:xfrm>
          <a:prstGeom prst="rect">
            <a:avLst/>
          </a:prstGeom>
          <a:noFill/>
          <a:ln w="9525">
            <a:noFill/>
            <a:miter lim="800000"/>
            <a:headEnd/>
            <a:tailEnd/>
          </a:ln>
        </p:spPr>
        <p:txBody>
          <a:bodyPr wrap="square">
            <a:spAutoFit/>
          </a:bodyPr>
          <a:lstStyle/>
          <a:p>
            <a:endParaRPr lang="pt-PT" sz="3200" b="1" dirty="0">
              <a:solidFill>
                <a:srgbClr val="002060"/>
              </a:solidFill>
            </a:endParaRPr>
          </a:p>
          <a:p>
            <a:endParaRPr lang="pt-PT" sz="3200" b="1" dirty="0">
              <a:solidFill>
                <a:srgbClr val="002060"/>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r>
              <a:rPr lang="pt-PT" sz="3200" b="1" dirty="0">
                <a:solidFill>
                  <a:schemeClr val="tx1">
                    <a:lumMod val="65000"/>
                    <a:lumOff val="35000"/>
                  </a:schemeClr>
                </a:solidFill>
              </a:rPr>
              <a:t>INTRODUCTION</a:t>
            </a:r>
          </a:p>
          <a:p>
            <a:endParaRPr lang="pt-PT" sz="2600" b="1" i="1" dirty="0">
              <a:solidFill>
                <a:schemeClr val="tx1">
                  <a:lumMod val="65000"/>
                  <a:lumOff val="35000"/>
                </a:schemeClr>
              </a:solidFill>
            </a:endParaRPr>
          </a:p>
          <a:p>
            <a:r>
              <a:rPr lang="pt-PT" dirty="0">
                <a:solidFill>
                  <a:schemeClr val="tx1">
                    <a:lumMod val="65000"/>
                    <a:lumOff val="35000"/>
                  </a:schemeClr>
                </a:solidFill>
              </a:rPr>
              <a:t>				</a:t>
            </a:r>
          </a:p>
        </p:txBody>
      </p:sp>
      <p:pic>
        <p:nvPicPr>
          <p:cNvPr id="17410" name="Picture 2" descr="http://mediatemetrics.files.wordpress.com/2012/01/text-mining.jpg?w=216&amp;h=100&amp;crop=1"/>
          <p:cNvPicPr>
            <a:picLocks noChangeAspect="1" noChangeArrowheads="1"/>
          </p:cNvPicPr>
          <p:nvPr/>
        </p:nvPicPr>
        <p:blipFill>
          <a:blip r:embed="rId2" cstate="print"/>
          <a:srcRect/>
          <a:stretch>
            <a:fillRect/>
          </a:stretch>
        </p:blipFill>
        <p:spPr bwMode="auto">
          <a:xfrm>
            <a:off x="1475656" y="1268760"/>
            <a:ext cx="3816424" cy="1766864"/>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b="1" dirty="0" err="1">
                <a:solidFill>
                  <a:srgbClr val="C00000"/>
                </a:solidFill>
              </a:rPr>
              <a:t>Intro</a:t>
            </a:r>
            <a:r>
              <a:rPr lang="pt-PT" sz="2800" dirty="0" err="1">
                <a:solidFill>
                  <a:schemeClr val="bg1">
                    <a:lumMod val="50000"/>
                  </a:schemeClr>
                </a:solidFill>
              </a:rPr>
              <a:t>|Models|Processing|Tools|R|Case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14339" name="Text Box 3"/>
          <p:cNvSpPr txBox="1">
            <a:spLocks noChangeArrowheads="1"/>
          </p:cNvSpPr>
          <p:nvPr/>
        </p:nvSpPr>
        <p:spPr bwMode="auto">
          <a:xfrm>
            <a:off x="250825" y="692150"/>
            <a:ext cx="8642350" cy="4870564"/>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Motivations</a:t>
            </a:r>
            <a:endParaRPr lang="pt-PT" b="1" u="sng" cap="all" dirty="0">
              <a:solidFill>
                <a:schemeClr val="accent6"/>
              </a:solidFill>
            </a:endParaRPr>
          </a:p>
          <a:p>
            <a:pPr marL="546100" indent="-342900">
              <a:lnSpc>
                <a:spcPct val="150000"/>
              </a:lnSpc>
              <a:spcBef>
                <a:spcPct val="25000"/>
              </a:spcBef>
            </a:pPr>
            <a:r>
              <a:rPr lang="pt-PT" dirty="0">
                <a:solidFill>
                  <a:schemeClr val="accent6"/>
                </a:solidFill>
              </a:rPr>
              <a:t>Data </a:t>
            </a:r>
            <a:r>
              <a:rPr lang="pt-PT" dirty="0" err="1">
                <a:solidFill>
                  <a:schemeClr val="accent6"/>
                </a:solidFill>
              </a:rPr>
              <a:t>mining</a:t>
            </a:r>
            <a:r>
              <a:rPr lang="pt-PT" dirty="0">
                <a:solidFill>
                  <a:schemeClr val="accent6"/>
                </a:solidFill>
              </a:rPr>
              <a:t>: </a:t>
            </a:r>
            <a:r>
              <a:rPr lang="pt-PT" dirty="0" err="1">
                <a:solidFill>
                  <a:schemeClr val="accent6"/>
                </a:solidFill>
              </a:rPr>
              <a:t>finding</a:t>
            </a:r>
            <a:r>
              <a:rPr lang="pt-PT" dirty="0">
                <a:solidFill>
                  <a:schemeClr val="accent6"/>
                </a:solidFill>
              </a:rPr>
              <a:t> </a:t>
            </a:r>
            <a:r>
              <a:rPr lang="pt-PT" dirty="0" err="1">
                <a:solidFill>
                  <a:schemeClr val="accent6"/>
                </a:solidFill>
              </a:rPr>
              <a:t>valuable</a:t>
            </a:r>
            <a:r>
              <a:rPr lang="pt-PT" dirty="0">
                <a:solidFill>
                  <a:schemeClr val="accent6"/>
                </a:solidFill>
              </a:rPr>
              <a:t> </a:t>
            </a:r>
            <a:r>
              <a:rPr lang="pt-PT" dirty="0" err="1">
                <a:solidFill>
                  <a:schemeClr val="accent6"/>
                </a:solidFill>
              </a:rPr>
              <a:t>patterns</a:t>
            </a:r>
            <a:r>
              <a:rPr lang="pt-PT" dirty="0">
                <a:solidFill>
                  <a:schemeClr val="accent6"/>
                </a:solidFill>
              </a:rPr>
              <a:t> in data</a:t>
            </a:r>
          </a:p>
          <a:p>
            <a:pPr marL="987425" indent="-342900">
              <a:lnSpc>
                <a:spcPct val="150000"/>
              </a:lnSpc>
              <a:spcBef>
                <a:spcPct val="25000"/>
              </a:spcBef>
              <a:buFont typeface="Arial" pitchFamily="34" charset="0"/>
              <a:buChar char="•"/>
            </a:pPr>
            <a:r>
              <a:rPr lang="pt-PT" dirty="0" err="1">
                <a:solidFill>
                  <a:schemeClr val="accent6"/>
                </a:solidFill>
              </a:rPr>
              <a:t>big</a:t>
            </a:r>
            <a:r>
              <a:rPr lang="pt-PT" dirty="0">
                <a:solidFill>
                  <a:schemeClr val="accent6"/>
                </a:solidFill>
              </a:rPr>
              <a:t> data</a:t>
            </a:r>
          </a:p>
          <a:p>
            <a:pPr marL="987425" indent="-342900">
              <a:lnSpc>
                <a:spcPct val="150000"/>
              </a:lnSpc>
              <a:spcBef>
                <a:spcPct val="25000"/>
              </a:spcBef>
              <a:buFont typeface="Arial" pitchFamily="34" charset="0"/>
              <a:buChar char="•"/>
            </a:pPr>
            <a:r>
              <a:rPr lang="pt-PT" dirty="0" err="1">
                <a:solidFill>
                  <a:schemeClr val="accent6"/>
                </a:solidFill>
              </a:rPr>
              <a:t>availability</a:t>
            </a:r>
            <a:r>
              <a:rPr lang="pt-PT" dirty="0">
                <a:solidFill>
                  <a:schemeClr val="accent6"/>
                </a:solidFill>
              </a:rPr>
              <a:t> of </a:t>
            </a:r>
            <a:r>
              <a:rPr lang="pt-PT" dirty="0" err="1">
                <a:solidFill>
                  <a:schemeClr val="accent6"/>
                </a:solidFill>
              </a:rPr>
              <a:t>text</a:t>
            </a:r>
            <a:r>
              <a:rPr lang="pt-PT" dirty="0">
                <a:solidFill>
                  <a:schemeClr val="accent6"/>
                </a:solidFill>
              </a:rPr>
              <a:t> in digital </a:t>
            </a:r>
            <a:r>
              <a:rPr lang="pt-PT" dirty="0" err="1">
                <a:solidFill>
                  <a:schemeClr val="accent6"/>
                </a:solidFill>
              </a:rPr>
              <a:t>form</a:t>
            </a:r>
            <a:endParaRPr lang="pt-PT" dirty="0">
              <a:solidFill>
                <a:schemeClr val="accent6"/>
              </a:solidFill>
            </a:endParaRPr>
          </a:p>
          <a:p>
            <a:pPr marL="987425" indent="-342900">
              <a:lnSpc>
                <a:spcPct val="150000"/>
              </a:lnSpc>
              <a:spcBef>
                <a:spcPct val="25000"/>
              </a:spcBef>
              <a:buFont typeface="Arial" pitchFamily="34" charset="0"/>
              <a:buChar char="•"/>
            </a:pPr>
            <a:endParaRPr lang="pt-PT" dirty="0">
              <a:solidFill>
                <a:schemeClr val="accent6"/>
              </a:solidFill>
            </a:endParaRPr>
          </a:p>
          <a:p>
            <a:pPr marL="987425" indent="-342900">
              <a:lnSpc>
                <a:spcPct val="150000"/>
              </a:lnSpc>
              <a:spcBef>
                <a:spcPct val="25000"/>
              </a:spcBef>
              <a:buFont typeface="Arial" pitchFamily="34" charset="0"/>
              <a:buChar char="•"/>
            </a:pPr>
            <a:r>
              <a:rPr lang="pt-PT" dirty="0" err="1">
                <a:solidFill>
                  <a:schemeClr val="accent6"/>
                </a:solidFill>
              </a:rPr>
              <a:t>high</a:t>
            </a:r>
            <a:r>
              <a:rPr lang="pt-PT" dirty="0">
                <a:solidFill>
                  <a:schemeClr val="accent6"/>
                </a:solidFill>
              </a:rPr>
              <a:t> volume </a:t>
            </a:r>
            <a:r>
              <a:rPr lang="pt-PT" dirty="0" err="1">
                <a:solidFill>
                  <a:schemeClr val="accent6"/>
                </a:solidFill>
              </a:rPr>
              <a:t>vs</a:t>
            </a:r>
            <a:r>
              <a:rPr lang="pt-PT" dirty="0">
                <a:solidFill>
                  <a:schemeClr val="accent6"/>
                </a:solidFill>
              </a:rPr>
              <a:t> </a:t>
            </a:r>
            <a:r>
              <a:rPr lang="pt-PT" dirty="0" err="1">
                <a:solidFill>
                  <a:schemeClr val="accent6"/>
                </a:solidFill>
              </a:rPr>
              <a:t>high</a:t>
            </a:r>
            <a:r>
              <a:rPr lang="pt-PT" dirty="0">
                <a:solidFill>
                  <a:schemeClr val="accent6"/>
                </a:solidFill>
              </a:rPr>
              <a:t> </a:t>
            </a:r>
            <a:r>
              <a:rPr lang="pt-PT" dirty="0" err="1">
                <a:solidFill>
                  <a:schemeClr val="accent6"/>
                </a:solidFill>
              </a:rPr>
              <a:t>quality</a:t>
            </a:r>
            <a:endParaRPr lang="pt-PT" dirty="0">
              <a:solidFill>
                <a:schemeClr val="accent6"/>
              </a:solidFill>
            </a:endParaRPr>
          </a:p>
          <a:p>
            <a:pPr marL="987425" indent="-342900">
              <a:lnSpc>
                <a:spcPct val="150000"/>
              </a:lnSpc>
              <a:spcBef>
                <a:spcPct val="25000"/>
              </a:spcBef>
              <a:buFont typeface="Arial" pitchFamily="34" charset="0"/>
              <a:buChar char="•"/>
            </a:pPr>
            <a:r>
              <a:rPr lang="pt-PT" dirty="0">
                <a:solidFill>
                  <a:schemeClr val="accent6"/>
                </a:solidFill>
              </a:rPr>
              <a:t>NLP, </a:t>
            </a:r>
            <a:r>
              <a:rPr lang="pt-PT" dirty="0" err="1">
                <a:solidFill>
                  <a:schemeClr val="accent6"/>
                </a:solidFill>
              </a:rPr>
              <a:t>hand-made</a:t>
            </a:r>
            <a:r>
              <a:rPr lang="pt-PT" dirty="0">
                <a:solidFill>
                  <a:schemeClr val="accent6"/>
                </a:solidFill>
              </a:rPr>
              <a:t> rules, </a:t>
            </a:r>
            <a:r>
              <a:rPr lang="pt-PT" dirty="0" err="1">
                <a:solidFill>
                  <a:schemeClr val="accent6"/>
                </a:solidFill>
              </a:rPr>
              <a:t>scalability</a:t>
            </a:r>
            <a:endParaRPr lang="pt-PT" dirty="0">
              <a:solidFill>
                <a:schemeClr val="accent6"/>
              </a:solidFill>
            </a:endParaRPr>
          </a:p>
          <a:p>
            <a:pPr marL="546100" indent="-342900">
              <a:lnSpc>
                <a:spcPct val="150000"/>
              </a:lnSpc>
              <a:spcBef>
                <a:spcPct val="25000"/>
              </a:spcBef>
            </a:pPr>
            <a:endParaRPr lang="pt-PT" dirty="0">
              <a:solidFill>
                <a:schemeClr val="accent6"/>
              </a:solidFill>
            </a:endParaRPr>
          </a:p>
          <a:p>
            <a:pPr marL="546100" indent="-342900">
              <a:lnSpc>
                <a:spcPct val="150000"/>
              </a:lnSpc>
              <a:spcBef>
                <a:spcPct val="25000"/>
              </a:spcBef>
            </a:pPr>
            <a:r>
              <a:rPr lang="pt-PT" dirty="0">
                <a:solidFill>
                  <a:schemeClr val="accent6"/>
                </a:solidFill>
              </a:rPr>
              <a:t>Data </a:t>
            </a:r>
            <a:r>
              <a:rPr lang="pt-PT" dirty="0" err="1">
                <a:solidFill>
                  <a:schemeClr val="accent6"/>
                </a:solidFill>
              </a:rPr>
              <a:t>mining</a:t>
            </a:r>
            <a:r>
              <a:rPr lang="pt-PT" dirty="0">
                <a:solidFill>
                  <a:schemeClr val="accent6"/>
                </a:solidFill>
              </a:rPr>
              <a:t> </a:t>
            </a:r>
            <a:r>
              <a:rPr lang="pt-PT" dirty="0" err="1">
                <a:solidFill>
                  <a:schemeClr val="accent6"/>
                </a:solidFill>
              </a:rPr>
              <a:t>methods</a:t>
            </a:r>
            <a:r>
              <a:rPr lang="pt-PT" dirty="0">
                <a:solidFill>
                  <a:schemeClr val="accent6"/>
                </a:solidFill>
              </a:rPr>
              <a:t> </a:t>
            </a:r>
            <a:r>
              <a:rPr lang="pt-PT" dirty="0" err="1">
                <a:solidFill>
                  <a:schemeClr val="accent6"/>
                </a:solidFill>
              </a:rPr>
              <a:t>expect</a:t>
            </a:r>
            <a:r>
              <a:rPr lang="pt-PT" dirty="0">
                <a:solidFill>
                  <a:schemeClr val="accent6"/>
                </a:solidFill>
              </a:rPr>
              <a:t> </a:t>
            </a:r>
            <a:r>
              <a:rPr lang="pt-PT" dirty="0" err="1">
                <a:solidFill>
                  <a:schemeClr val="accent6"/>
                </a:solidFill>
              </a:rPr>
              <a:t>highly</a:t>
            </a:r>
            <a:r>
              <a:rPr lang="pt-PT" dirty="0">
                <a:solidFill>
                  <a:schemeClr val="accent6"/>
                </a:solidFill>
              </a:rPr>
              <a:t> </a:t>
            </a:r>
            <a:r>
              <a:rPr lang="pt-PT" dirty="0" err="1">
                <a:solidFill>
                  <a:schemeClr val="accent6"/>
                </a:solidFill>
              </a:rPr>
              <a:t>structured</a:t>
            </a:r>
            <a:r>
              <a:rPr lang="pt-PT" dirty="0">
                <a:solidFill>
                  <a:schemeClr val="accent6"/>
                </a:solidFill>
              </a:rPr>
              <a:t> </a:t>
            </a:r>
            <a:r>
              <a:rPr lang="pt-PT" dirty="0" err="1">
                <a:solidFill>
                  <a:schemeClr val="accent6"/>
                </a:solidFill>
              </a:rPr>
              <a:t>datasets</a:t>
            </a:r>
            <a:endParaRPr lang="pt-PT" dirty="0">
              <a:solidFill>
                <a:schemeClr val="accent6"/>
              </a:solidFill>
            </a:endParaRPr>
          </a:p>
          <a:p>
            <a:pPr marL="546100" indent="-342900">
              <a:lnSpc>
                <a:spcPct val="150000"/>
              </a:lnSpc>
              <a:spcBef>
                <a:spcPct val="25000"/>
              </a:spcBef>
            </a:pPr>
            <a:endParaRPr lang="pt-PT" dirty="0">
              <a:solidFill>
                <a:schemeClr val="accent6"/>
              </a:solidFill>
            </a:endParaRPr>
          </a:p>
        </p:txBody>
      </p:sp>
    </p:spTree>
    <p:extLst>
      <p:ext uri="{BB962C8B-B14F-4D97-AF65-F5344CB8AC3E}">
        <p14:creationId xmlns:p14="http://schemas.microsoft.com/office/powerpoint/2010/main" val="3939010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3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3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3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3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b="1" dirty="0" err="1">
                <a:solidFill>
                  <a:srgbClr val="C00000"/>
                </a:solidFill>
              </a:rPr>
              <a:t>Intro</a:t>
            </a:r>
            <a:r>
              <a:rPr lang="pt-PT" sz="2800" dirty="0" err="1">
                <a:solidFill>
                  <a:schemeClr val="bg1">
                    <a:lumMod val="50000"/>
                  </a:schemeClr>
                </a:solidFill>
              </a:rPr>
              <a:t>|Models|Processing|Tools|R|Case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14339" name="Text Box 3"/>
          <p:cNvSpPr txBox="1">
            <a:spLocks noChangeArrowheads="1"/>
          </p:cNvSpPr>
          <p:nvPr/>
        </p:nvSpPr>
        <p:spPr bwMode="auto">
          <a:xfrm>
            <a:off x="250825" y="692150"/>
            <a:ext cx="8642350" cy="4870564"/>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Motivations</a:t>
            </a:r>
            <a:endParaRPr lang="pt-PT" b="1" u="sng" cap="all" dirty="0">
              <a:solidFill>
                <a:schemeClr val="accent6"/>
              </a:solidFill>
            </a:endParaRPr>
          </a:p>
          <a:p>
            <a:pPr marL="546100" indent="-342900">
              <a:lnSpc>
                <a:spcPct val="150000"/>
              </a:lnSpc>
              <a:spcBef>
                <a:spcPct val="25000"/>
              </a:spcBef>
            </a:pPr>
            <a:r>
              <a:rPr lang="pt-PT" dirty="0">
                <a:solidFill>
                  <a:schemeClr val="accent6"/>
                </a:solidFill>
              </a:rPr>
              <a:t>Data </a:t>
            </a:r>
            <a:r>
              <a:rPr lang="pt-PT" dirty="0" err="1">
                <a:solidFill>
                  <a:schemeClr val="accent6"/>
                </a:solidFill>
              </a:rPr>
              <a:t>mining</a:t>
            </a:r>
            <a:r>
              <a:rPr lang="pt-PT" dirty="0">
                <a:solidFill>
                  <a:schemeClr val="accent6"/>
                </a:solidFill>
              </a:rPr>
              <a:t>: </a:t>
            </a:r>
            <a:r>
              <a:rPr lang="pt-PT" dirty="0" err="1">
                <a:solidFill>
                  <a:schemeClr val="accent6"/>
                </a:solidFill>
              </a:rPr>
              <a:t>finding</a:t>
            </a:r>
            <a:r>
              <a:rPr lang="pt-PT" dirty="0">
                <a:solidFill>
                  <a:schemeClr val="accent6"/>
                </a:solidFill>
              </a:rPr>
              <a:t> </a:t>
            </a:r>
            <a:r>
              <a:rPr lang="pt-PT" dirty="0" err="1">
                <a:solidFill>
                  <a:schemeClr val="accent6"/>
                </a:solidFill>
              </a:rPr>
              <a:t>valuable</a:t>
            </a:r>
            <a:r>
              <a:rPr lang="pt-PT" dirty="0">
                <a:solidFill>
                  <a:schemeClr val="accent6"/>
                </a:solidFill>
              </a:rPr>
              <a:t> </a:t>
            </a:r>
            <a:r>
              <a:rPr lang="pt-PT" dirty="0" err="1">
                <a:solidFill>
                  <a:schemeClr val="accent6"/>
                </a:solidFill>
              </a:rPr>
              <a:t>patterns</a:t>
            </a:r>
            <a:r>
              <a:rPr lang="pt-PT" dirty="0">
                <a:solidFill>
                  <a:schemeClr val="accent6"/>
                </a:solidFill>
              </a:rPr>
              <a:t> in data</a:t>
            </a:r>
          </a:p>
          <a:p>
            <a:pPr marL="987425" indent="-342900">
              <a:lnSpc>
                <a:spcPct val="150000"/>
              </a:lnSpc>
              <a:spcBef>
                <a:spcPct val="25000"/>
              </a:spcBef>
              <a:buFont typeface="Arial" pitchFamily="34" charset="0"/>
              <a:buChar char="•"/>
            </a:pPr>
            <a:r>
              <a:rPr lang="pt-PT" dirty="0" err="1">
                <a:solidFill>
                  <a:schemeClr val="accent6"/>
                </a:solidFill>
              </a:rPr>
              <a:t>big</a:t>
            </a:r>
            <a:r>
              <a:rPr lang="pt-PT" dirty="0">
                <a:solidFill>
                  <a:schemeClr val="accent6"/>
                </a:solidFill>
              </a:rPr>
              <a:t> data</a:t>
            </a:r>
          </a:p>
          <a:p>
            <a:pPr marL="987425" indent="-342900">
              <a:lnSpc>
                <a:spcPct val="150000"/>
              </a:lnSpc>
              <a:spcBef>
                <a:spcPct val="25000"/>
              </a:spcBef>
              <a:buFont typeface="Arial" pitchFamily="34" charset="0"/>
              <a:buChar char="•"/>
            </a:pPr>
            <a:r>
              <a:rPr lang="pt-PT" dirty="0" err="1">
                <a:solidFill>
                  <a:schemeClr val="accent6"/>
                </a:solidFill>
              </a:rPr>
              <a:t>availability</a:t>
            </a:r>
            <a:r>
              <a:rPr lang="pt-PT" dirty="0">
                <a:solidFill>
                  <a:schemeClr val="accent6"/>
                </a:solidFill>
              </a:rPr>
              <a:t> of </a:t>
            </a:r>
            <a:r>
              <a:rPr lang="pt-PT" dirty="0" err="1">
                <a:solidFill>
                  <a:schemeClr val="accent6"/>
                </a:solidFill>
              </a:rPr>
              <a:t>text</a:t>
            </a:r>
            <a:r>
              <a:rPr lang="pt-PT" dirty="0">
                <a:solidFill>
                  <a:schemeClr val="accent6"/>
                </a:solidFill>
              </a:rPr>
              <a:t> in digital </a:t>
            </a:r>
            <a:r>
              <a:rPr lang="pt-PT" dirty="0" err="1">
                <a:solidFill>
                  <a:schemeClr val="accent6"/>
                </a:solidFill>
              </a:rPr>
              <a:t>form</a:t>
            </a:r>
            <a:endParaRPr lang="pt-PT" dirty="0">
              <a:solidFill>
                <a:schemeClr val="accent6"/>
              </a:solidFill>
            </a:endParaRPr>
          </a:p>
          <a:p>
            <a:pPr marL="987425" indent="-342900">
              <a:lnSpc>
                <a:spcPct val="150000"/>
              </a:lnSpc>
              <a:spcBef>
                <a:spcPct val="25000"/>
              </a:spcBef>
              <a:buFont typeface="Arial" pitchFamily="34" charset="0"/>
              <a:buChar char="•"/>
            </a:pPr>
            <a:endParaRPr lang="pt-PT" dirty="0">
              <a:solidFill>
                <a:schemeClr val="accent6"/>
              </a:solidFill>
            </a:endParaRPr>
          </a:p>
          <a:p>
            <a:pPr marL="987425" indent="-342900">
              <a:lnSpc>
                <a:spcPct val="150000"/>
              </a:lnSpc>
              <a:spcBef>
                <a:spcPct val="25000"/>
              </a:spcBef>
              <a:buFont typeface="Arial" pitchFamily="34" charset="0"/>
              <a:buChar char="•"/>
            </a:pPr>
            <a:r>
              <a:rPr lang="pt-PT" dirty="0" err="1">
                <a:solidFill>
                  <a:schemeClr val="accent6"/>
                </a:solidFill>
              </a:rPr>
              <a:t>high</a:t>
            </a:r>
            <a:r>
              <a:rPr lang="pt-PT" dirty="0">
                <a:solidFill>
                  <a:schemeClr val="accent6"/>
                </a:solidFill>
              </a:rPr>
              <a:t> volume </a:t>
            </a:r>
            <a:r>
              <a:rPr lang="pt-PT" dirty="0" err="1">
                <a:solidFill>
                  <a:schemeClr val="accent6"/>
                </a:solidFill>
              </a:rPr>
              <a:t>vs</a:t>
            </a:r>
            <a:r>
              <a:rPr lang="pt-PT" dirty="0">
                <a:solidFill>
                  <a:schemeClr val="accent6"/>
                </a:solidFill>
              </a:rPr>
              <a:t> </a:t>
            </a:r>
            <a:r>
              <a:rPr lang="pt-PT" dirty="0" err="1">
                <a:solidFill>
                  <a:schemeClr val="accent6"/>
                </a:solidFill>
              </a:rPr>
              <a:t>high</a:t>
            </a:r>
            <a:r>
              <a:rPr lang="pt-PT" dirty="0">
                <a:solidFill>
                  <a:schemeClr val="accent6"/>
                </a:solidFill>
              </a:rPr>
              <a:t> </a:t>
            </a:r>
            <a:r>
              <a:rPr lang="pt-PT" dirty="0" err="1">
                <a:solidFill>
                  <a:schemeClr val="accent6"/>
                </a:solidFill>
              </a:rPr>
              <a:t>quality</a:t>
            </a:r>
            <a:endParaRPr lang="pt-PT" dirty="0">
              <a:solidFill>
                <a:schemeClr val="accent6"/>
              </a:solidFill>
            </a:endParaRPr>
          </a:p>
          <a:p>
            <a:pPr marL="987425" indent="-342900">
              <a:lnSpc>
                <a:spcPct val="150000"/>
              </a:lnSpc>
              <a:spcBef>
                <a:spcPct val="25000"/>
              </a:spcBef>
              <a:buFont typeface="Arial" pitchFamily="34" charset="0"/>
              <a:buChar char="•"/>
            </a:pPr>
            <a:r>
              <a:rPr lang="pt-PT" dirty="0">
                <a:solidFill>
                  <a:schemeClr val="accent6"/>
                </a:solidFill>
              </a:rPr>
              <a:t>NLP, </a:t>
            </a:r>
            <a:r>
              <a:rPr lang="pt-PT" dirty="0" err="1">
                <a:solidFill>
                  <a:schemeClr val="accent6"/>
                </a:solidFill>
              </a:rPr>
              <a:t>hand-made</a:t>
            </a:r>
            <a:r>
              <a:rPr lang="pt-PT" dirty="0">
                <a:solidFill>
                  <a:schemeClr val="accent6"/>
                </a:solidFill>
              </a:rPr>
              <a:t> rules, </a:t>
            </a:r>
            <a:r>
              <a:rPr lang="pt-PT" dirty="0" err="1">
                <a:solidFill>
                  <a:schemeClr val="accent6"/>
                </a:solidFill>
              </a:rPr>
              <a:t>scalability</a:t>
            </a:r>
            <a:endParaRPr lang="pt-PT" dirty="0">
              <a:solidFill>
                <a:schemeClr val="accent6"/>
              </a:solidFill>
            </a:endParaRPr>
          </a:p>
          <a:p>
            <a:pPr marL="546100" indent="-342900">
              <a:lnSpc>
                <a:spcPct val="150000"/>
              </a:lnSpc>
              <a:spcBef>
                <a:spcPct val="25000"/>
              </a:spcBef>
            </a:pPr>
            <a:endParaRPr lang="pt-PT" dirty="0">
              <a:solidFill>
                <a:schemeClr val="accent6"/>
              </a:solidFill>
            </a:endParaRPr>
          </a:p>
          <a:p>
            <a:pPr marL="546100" indent="-342900">
              <a:lnSpc>
                <a:spcPct val="150000"/>
              </a:lnSpc>
              <a:spcBef>
                <a:spcPct val="25000"/>
              </a:spcBef>
            </a:pPr>
            <a:r>
              <a:rPr lang="pt-PT" dirty="0">
                <a:solidFill>
                  <a:schemeClr val="accent6"/>
                </a:solidFill>
              </a:rPr>
              <a:t>Data </a:t>
            </a:r>
            <a:r>
              <a:rPr lang="pt-PT" dirty="0" err="1">
                <a:solidFill>
                  <a:schemeClr val="accent6"/>
                </a:solidFill>
              </a:rPr>
              <a:t>mining</a:t>
            </a:r>
            <a:r>
              <a:rPr lang="pt-PT" dirty="0">
                <a:solidFill>
                  <a:schemeClr val="accent6"/>
                </a:solidFill>
              </a:rPr>
              <a:t> </a:t>
            </a:r>
            <a:r>
              <a:rPr lang="pt-PT" dirty="0" err="1">
                <a:solidFill>
                  <a:schemeClr val="accent6"/>
                </a:solidFill>
              </a:rPr>
              <a:t>methods</a:t>
            </a:r>
            <a:r>
              <a:rPr lang="pt-PT" dirty="0">
                <a:solidFill>
                  <a:schemeClr val="accent6"/>
                </a:solidFill>
              </a:rPr>
              <a:t> </a:t>
            </a:r>
            <a:r>
              <a:rPr lang="pt-PT" dirty="0" err="1">
                <a:solidFill>
                  <a:schemeClr val="accent6"/>
                </a:solidFill>
              </a:rPr>
              <a:t>expect</a:t>
            </a:r>
            <a:r>
              <a:rPr lang="pt-PT" dirty="0">
                <a:solidFill>
                  <a:schemeClr val="accent6"/>
                </a:solidFill>
              </a:rPr>
              <a:t> </a:t>
            </a:r>
            <a:r>
              <a:rPr lang="pt-PT" dirty="0" err="1">
                <a:solidFill>
                  <a:schemeClr val="accent6"/>
                </a:solidFill>
              </a:rPr>
              <a:t>highly</a:t>
            </a:r>
            <a:r>
              <a:rPr lang="pt-PT" dirty="0">
                <a:solidFill>
                  <a:schemeClr val="accent6"/>
                </a:solidFill>
              </a:rPr>
              <a:t> </a:t>
            </a:r>
            <a:r>
              <a:rPr lang="pt-PT" dirty="0" err="1">
                <a:solidFill>
                  <a:schemeClr val="accent6"/>
                </a:solidFill>
              </a:rPr>
              <a:t>structured</a:t>
            </a:r>
            <a:r>
              <a:rPr lang="pt-PT" dirty="0">
                <a:solidFill>
                  <a:schemeClr val="accent6"/>
                </a:solidFill>
              </a:rPr>
              <a:t> </a:t>
            </a:r>
            <a:r>
              <a:rPr lang="pt-PT" dirty="0" err="1">
                <a:solidFill>
                  <a:schemeClr val="accent6"/>
                </a:solidFill>
              </a:rPr>
              <a:t>datasets</a:t>
            </a:r>
            <a:endParaRPr lang="pt-PT" dirty="0">
              <a:solidFill>
                <a:schemeClr val="accent6"/>
              </a:solidFill>
            </a:endParaRPr>
          </a:p>
          <a:p>
            <a:pPr marL="546100" indent="-342900">
              <a:lnSpc>
                <a:spcPct val="150000"/>
              </a:lnSpc>
              <a:spcBef>
                <a:spcPct val="25000"/>
              </a:spcBef>
            </a:pPr>
            <a:endParaRPr lang="pt-PT" dirty="0">
              <a:solidFill>
                <a:schemeClr val="accent6"/>
              </a:solidFill>
            </a:endParaRPr>
          </a:p>
        </p:txBody>
      </p:sp>
      <p:graphicFrame>
        <p:nvGraphicFramePr>
          <p:cNvPr id="5" name="Table 4"/>
          <p:cNvGraphicFramePr>
            <a:graphicFrameLocks noGrp="1"/>
          </p:cNvGraphicFramePr>
          <p:nvPr/>
        </p:nvGraphicFramePr>
        <p:xfrm>
          <a:off x="1115616" y="332656"/>
          <a:ext cx="3780420" cy="6229156"/>
        </p:xfrm>
        <a:graphic>
          <a:graphicData uri="http://schemas.openxmlformats.org/drawingml/2006/table">
            <a:tbl>
              <a:tblPr/>
              <a:tblGrid>
                <a:gridCol w="3780420">
                  <a:extLst>
                    <a:ext uri="{9D8B030D-6E8A-4147-A177-3AD203B41FA5}">
                      <a16:colId xmlns:a16="http://schemas.microsoft.com/office/drawing/2014/main" val="20000"/>
                    </a:ext>
                  </a:extLst>
                </a:gridCol>
              </a:tblGrid>
              <a:tr h="228669">
                <a:tc>
                  <a:txBody>
                    <a:bodyPr/>
                    <a:lstStyle/>
                    <a:p>
                      <a:pPr algn="ctr" fontAlgn="b"/>
                      <a:r>
                        <a:rPr lang="pt-PT" sz="2000" b="0" i="0" u="none" strike="noStrike" dirty="0" err="1">
                          <a:solidFill>
                            <a:srgbClr val="000000"/>
                          </a:solidFill>
                          <a:latin typeface="Calibri"/>
                        </a:rPr>
                        <a:t>Traditional</a:t>
                      </a:r>
                      <a:r>
                        <a:rPr lang="pt-PT" sz="2000" b="0" i="0" u="none" strike="noStrike" dirty="0">
                          <a:solidFill>
                            <a:srgbClr val="000000"/>
                          </a:solidFill>
                          <a:latin typeface="Calibri"/>
                        </a:rPr>
                        <a:t> data </a:t>
                      </a:r>
                      <a:r>
                        <a:rPr lang="pt-PT" sz="2000" b="0" i="0" u="none" strike="noStrike" dirty="0" err="1">
                          <a:solidFill>
                            <a:srgbClr val="000000"/>
                          </a:solidFill>
                          <a:latin typeface="Calibri"/>
                        </a:rPr>
                        <a:t>mining</a:t>
                      </a:r>
                      <a:endParaRPr lang="pt-PT" sz="2000" b="0" i="0" u="none" strike="noStrike" dirty="0">
                        <a:solidFill>
                          <a:srgbClr val="000000"/>
                        </a:solidFill>
                        <a:latin typeface="Calibri"/>
                      </a:endParaRPr>
                    </a:p>
                  </a:txBody>
                  <a:tcPr marL="3569" marR="3569" marT="35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03476">
                <a:tc>
                  <a:txBody>
                    <a:bodyPr/>
                    <a:lstStyle/>
                    <a:p>
                      <a:pPr algn="l" fontAlgn="b"/>
                      <a:r>
                        <a:rPr lang="pt-PT" sz="1600" b="0" i="0" u="none" strike="noStrike" dirty="0" err="1">
                          <a:solidFill>
                            <a:srgbClr val="000000"/>
                          </a:solidFill>
                          <a:latin typeface="Calibri"/>
                        </a:rPr>
                        <a:t>structured</a:t>
                      </a:r>
                      <a:r>
                        <a:rPr lang="pt-PT" sz="1600" b="0" i="0" u="none" strike="noStrike" dirty="0">
                          <a:solidFill>
                            <a:srgbClr val="000000"/>
                          </a:solidFill>
                          <a:latin typeface="Calibri"/>
                        </a:rPr>
                        <a:t> (tabular </a:t>
                      </a:r>
                      <a:r>
                        <a:rPr lang="pt-PT" sz="1600" b="0" i="0" u="none" strike="noStrike" dirty="0" err="1">
                          <a:solidFill>
                            <a:srgbClr val="000000"/>
                          </a:solidFill>
                          <a:latin typeface="Calibri"/>
                        </a:rPr>
                        <a:t>form</a:t>
                      </a:r>
                      <a:r>
                        <a:rPr lang="pt-PT" sz="1600" b="0" i="0" u="none" strike="noStrike" dirty="0">
                          <a:solidFill>
                            <a:srgbClr val="000000"/>
                          </a:solidFill>
                          <a:latin typeface="Calibri"/>
                        </a:rPr>
                        <a:t>)</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85007">
                <a:tc>
                  <a:txBody>
                    <a:bodyPr/>
                    <a:lstStyle/>
                    <a:p>
                      <a:pPr algn="l" fontAlgn="b"/>
                      <a:r>
                        <a:rPr lang="pt-PT" sz="1600" b="0" i="0" u="none" strike="noStrike" dirty="0" err="1">
                          <a:solidFill>
                            <a:srgbClr val="000000"/>
                          </a:solidFill>
                          <a:latin typeface="Calibri"/>
                        </a:rPr>
                        <a:t>numbers</a:t>
                      </a:r>
                      <a:endParaRPr lang="pt-PT"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78283">
                <a:tc>
                  <a:txBody>
                    <a:bodyPr/>
                    <a:lstStyle/>
                    <a:p>
                      <a:pPr algn="l" fontAlgn="b"/>
                      <a:r>
                        <a:rPr lang="en-US" sz="1600" b="0" i="0" u="none" strike="noStrike" dirty="0">
                          <a:solidFill>
                            <a:srgbClr val="000000"/>
                          </a:solidFill>
                          <a:latin typeface="Calibri"/>
                        </a:rPr>
                        <a:t>understandable by domain specialists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26346">
                <a:tc>
                  <a:txBody>
                    <a:bodyPr/>
                    <a:lstStyle/>
                    <a:p>
                      <a:pPr algn="l" fontAlgn="b"/>
                      <a:r>
                        <a:rPr lang="en-US" sz="1600" b="0" i="0" u="none" strike="noStrike" dirty="0">
                          <a:solidFill>
                            <a:srgbClr val="000000"/>
                          </a:solidFill>
                          <a:latin typeface="Calibri"/>
                        </a:rPr>
                        <a:t>descriptive attributes are permanent, known in advance and may be based on prior design</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03476">
                <a:tc>
                  <a:txBody>
                    <a:bodyPr/>
                    <a:lstStyle/>
                    <a:p>
                      <a:pPr algn="l" fontAlgn="b"/>
                      <a:r>
                        <a:rPr lang="en-US" sz="1600" b="0" i="0" u="none" strike="noStrike" dirty="0">
                          <a:solidFill>
                            <a:srgbClr val="000000"/>
                          </a:solidFill>
                          <a:latin typeface="Calibri"/>
                        </a:rPr>
                        <a:t>all examples are described by the same set of attributes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r h="378283">
                <a:tc>
                  <a:txBody>
                    <a:bodyPr/>
                    <a:lstStyle/>
                    <a:p>
                      <a:pPr algn="l" fontAlgn="b"/>
                      <a:r>
                        <a:rPr lang="en-US" sz="1600" b="0" i="0" u="none" strike="noStrike" dirty="0">
                          <a:solidFill>
                            <a:srgbClr val="000000"/>
                          </a:solidFill>
                          <a:latin typeface="Calibri"/>
                        </a:rPr>
                        <a:t>numerical (greater than, less than) / categorical (list of unordered codes) attributes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6"/>
                  </a:ext>
                </a:extLst>
              </a:tr>
              <a:tr h="453089">
                <a:tc>
                  <a:txBody>
                    <a:bodyPr/>
                    <a:lstStyle/>
                    <a:p>
                      <a:pPr algn="l" fontAlgn="b"/>
                      <a:r>
                        <a:rPr lang="en-US" sz="1600" b="0" i="0" u="none" strike="noStrike" dirty="0">
                          <a:solidFill>
                            <a:srgbClr val="000000"/>
                          </a:solidFill>
                          <a:latin typeface="Calibri"/>
                        </a:rPr>
                        <a:t>all the possible values of a given attribute are known in advance and recorded uniformly for every example</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r h="677508">
                <a:tc>
                  <a:txBody>
                    <a:bodyPr/>
                    <a:lstStyle/>
                    <a:p>
                      <a:pPr algn="l" fontAlgn="b"/>
                      <a:r>
                        <a:rPr lang="en-US" sz="1600" b="0" i="0" u="none" strike="noStrike" dirty="0">
                          <a:solidFill>
                            <a:srgbClr val="000000"/>
                          </a:solidFill>
                          <a:latin typeface="Calibri"/>
                        </a:rPr>
                        <a:t>semantic of attributes is invariant</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8"/>
                  </a:ext>
                </a:extLst>
              </a:tr>
              <a:tr h="453089">
                <a:tc>
                  <a:txBody>
                    <a:bodyPr/>
                    <a:lstStyle/>
                    <a:p>
                      <a:pPr algn="l" fontAlgn="b"/>
                      <a:r>
                        <a:rPr lang="en-US" sz="1600" b="0" i="0" u="none" strike="noStrike" dirty="0">
                          <a:solidFill>
                            <a:srgbClr val="000000"/>
                          </a:solidFill>
                          <a:latin typeface="Calibri"/>
                        </a:rPr>
                        <a:t>adding a new example is adding a new row with a vector of measures for each of the attributes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9"/>
                  </a:ext>
                </a:extLst>
              </a:tr>
              <a:tr h="453089">
                <a:tc>
                  <a:txBody>
                    <a:bodyPr/>
                    <a:lstStyle/>
                    <a:p>
                      <a:pPr algn="l" fontAlgn="b"/>
                      <a:r>
                        <a:rPr lang="en-US" sz="1600" b="0" i="0" u="none" strike="noStrike" dirty="0">
                          <a:solidFill>
                            <a:srgbClr val="000000"/>
                          </a:solidFill>
                          <a:latin typeface="Calibri"/>
                        </a:rPr>
                        <a:t>examples are rows, datasets are matrices, mathematical methods are </a:t>
                      </a:r>
                      <a:r>
                        <a:rPr lang="en-US" sz="1600" b="0" i="0" u="none" strike="noStrike" dirty="0" err="1">
                          <a:solidFill>
                            <a:srgbClr val="000000"/>
                          </a:solidFill>
                          <a:latin typeface="Calibri"/>
                        </a:rPr>
                        <a:t>aplicable</a:t>
                      </a:r>
                      <a:endParaRPr lang="en-US"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141822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b="1" dirty="0" err="1">
                <a:solidFill>
                  <a:srgbClr val="C00000"/>
                </a:solidFill>
              </a:rPr>
              <a:t>Intro</a:t>
            </a:r>
            <a:r>
              <a:rPr lang="pt-PT" sz="2800" dirty="0" err="1">
                <a:solidFill>
                  <a:schemeClr val="bg1">
                    <a:lumMod val="50000"/>
                  </a:schemeClr>
                </a:solidFill>
              </a:rPr>
              <a:t>|Models|Processing|Tools|R|Case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14339" name="Text Box 3"/>
          <p:cNvSpPr txBox="1">
            <a:spLocks noChangeArrowheads="1"/>
          </p:cNvSpPr>
          <p:nvPr/>
        </p:nvSpPr>
        <p:spPr bwMode="auto">
          <a:xfrm>
            <a:off x="250825" y="692150"/>
            <a:ext cx="8642350" cy="4870564"/>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Motivations</a:t>
            </a:r>
            <a:endParaRPr lang="pt-PT" b="1" u="sng" cap="all" dirty="0">
              <a:solidFill>
                <a:schemeClr val="accent6"/>
              </a:solidFill>
            </a:endParaRPr>
          </a:p>
          <a:p>
            <a:pPr marL="546100" indent="-342900">
              <a:lnSpc>
                <a:spcPct val="150000"/>
              </a:lnSpc>
              <a:spcBef>
                <a:spcPct val="25000"/>
              </a:spcBef>
            </a:pPr>
            <a:r>
              <a:rPr lang="pt-PT" dirty="0">
                <a:solidFill>
                  <a:schemeClr val="accent6"/>
                </a:solidFill>
              </a:rPr>
              <a:t>Data </a:t>
            </a:r>
            <a:r>
              <a:rPr lang="pt-PT" dirty="0" err="1">
                <a:solidFill>
                  <a:schemeClr val="accent6"/>
                </a:solidFill>
              </a:rPr>
              <a:t>mining</a:t>
            </a:r>
            <a:r>
              <a:rPr lang="pt-PT" dirty="0">
                <a:solidFill>
                  <a:schemeClr val="accent6"/>
                </a:solidFill>
              </a:rPr>
              <a:t>: </a:t>
            </a:r>
            <a:r>
              <a:rPr lang="pt-PT" dirty="0" err="1">
                <a:solidFill>
                  <a:schemeClr val="accent6"/>
                </a:solidFill>
              </a:rPr>
              <a:t>finding</a:t>
            </a:r>
            <a:r>
              <a:rPr lang="pt-PT" dirty="0">
                <a:solidFill>
                  <a:schemeClr val="accent6"/>
                </a:solidFill>
              </a:rPr>
              <a:t> </a:t>
            </a:r>
            <a:r>
              <a:rPr lang="pt-PT" dirty="0" err="1">
                <a:solidFill>
                  <a:schemeClr val="accent6"/>
                </a:solidFill>
              </a:rPr>
              <a:t>valuable</a:t>
            </a:r>
            <a:r>
              <a:rPr lang="pt-PT" dirty="0">
                <a:solidFill>
                  <a:schemeClr val="accent6"/>
                </a:solidFill>
              </a:rPr>
              <a:t> </a:t>
            </a:r>
            <a:r>
              <a:rPr lang="pt-PT" dirty="0" err="1">
                <a:solidFill>
                  <a:schemeClr val="accent6"/>
                </a:solidFill>
              </a:rPr>
              <a:t>patterns</a:t>
            </a:r>
            <a:r>
              <a:rPr lang="pt-PT" dirty="0">
                <a:solidFill>
                  <a:schemeClr val="accent6"/>
                </a:solidFill>
              </a:rPr>
              <a:t> in data</a:t>
            </a:r>
          </a:p>
          <a:p>
            <a:pPr marL="987425" indent="-342900">
              <a:lnSpc>
                <a:spcPct val="150000"/>
              </a:lnSpc>
              <a:spcBef>
                <a:spcPct val="25000"/>
              </a:spcBef>
              <a:buFont typeface="Arial" pitchFamily="34" charset="0"/>
              <a:buChar char="•"/>
            </a:pPr>
            <a:r>
              <a:rPr lang="pt-PT" dirty="0" err="1">
                <a:solidFill>
                  <a:schemeClr val="accent6"/>
                </a:solidFill>
              </a:rPr>
              <a:t>big</a:t>
            </a:r>
            <a:r>
              <a:rPr lang="pt-PT" dirty="0">
                <a:solidFill>
                  <a:schemeClr val="accent6"/>
                </a:solidFill>
              </a:rPr>
              <a:t> data</a:t>
            </a:r>
          </a:p>
          <a:p>
            <a:pPr marL="987425" indent="-342900">
              <a:lnSpc>
                <a:spcPct val="150000"/>
              </a:lnSpc>
              <a:spcBef>
                <a:spcPct val="25000"/>
              </a:spcBef>
              <a:buFont typeface="Arial" pitchFamily="34" charset="0"/>
              <a:buChar char="•"/>
            </a:pPr>
            <a:r>
              <a:rPr lang="pt-PT" dirty="0" err="1">
                <a:solidFill>
                  <a:schemeClr val="accent6"/>
                </a:solidFill>
              </a:rPr>
              <a:t>availability</a:t>
            </a:r>
            <a:r>
              <a:rPr lang="pt-PT" dirty="0">
                <a:solidFill>
                  <a:schemeClr val="accent6"/>
                </a:solidFill>
              </a:rPr>
              <a:t> of </a:t>
            </a:r>
            <a:r>
              <a:rPr lang="pt-PT" dirty="0" err="1">
                <a:solidFill>
                  <a:schemeClr val="accent6"/>
                </a:solidFill>
              </a:rPr>
              <a:t>text</a:t>
            </a:r>
            <a:r>
              <a:rPr lang="pt-PT" dirty="0">
                <a:solidFill>
                  <a:schemeClr val="accent6"/>
                </a:solidFill>
              </a:rPr>
              <a:t> in digital </a:t>
            </a:r>
            <a:r>
              <a:rPr lang="pt-PT" dirty="0" err="1">
                <a:solidFill>
                  <a:schemeClr val="accent6"/>
                </a:solidFill>
              </a:rPr>
              <a:t>form</a:t>
            </a:r>
            <a:endParaRPr lang="pt-PT" dirty="0">
              <a:solidFill>
                <a:schemeClr val="accent6"/>
              </a:solidFill>
            </a:endParaRPr>
          </a:p>
          <a:p>
            <a:pPr marL="987425" indent="-342900">
              <a:lnSpc>
                <a:spcPct val="150000"/>
              </a:lnSpc>
              <a:spcBef>
                <a:spcPct val="25000"/>
              </a:spcBef>
              <a:buFont typeface="Arial" pitchFamily="34" charset="0"/>
              <a:buChar char="•"/>
            </a:pPr>
            <a:endParaRPr lang="pt-PT" dirty="0">
              <a:solidFill>
                <a:schemeClr val="accent6"/>
              </a:solidFill>
            </a:endParaRPr>
          </a:p>
          <a:p>
            <a:pPr marL="987425" indent="-342900">
              <a:lnSpc>
                <a:spcPct val="150000"/>
              </a:lnSpc>
              <a:spcBef>
                <a:spcPct val="25000"/>
              </a:spcBef>
              <a:buFont typeface="Arial" pitchFamily="34" charset="0"/>
              <a:buChar char="•"/>
            </a:pPr>
            <a:r>
              <a:rPr lang="pt-PT" dirty="0" err="1">
                <a:solidFill>
                  <a:schemeClr val="accent6"/>
                </a:solidFill>
              </a:rPr>
              <a:t>high</a:t>
            </a:r>
            <a:r>
              <a:rPr lang="pt-PT" dirty="0">
                <a:solidFill>
                  <a:schemeClr val="accent6"/>
                </a:solidFill>
              </a:rPr>
              <a:t> volume </a:t>
            </a:r>
            <a:r>
              <a:rPr lang="pt-PT" dirty="0" err="1">
                <a:solidFill>
                  <a:schemeClr val="accent6"/>
                </a:solidFill>
              </a:rPr>
              <a:t>vs</a:t>
            </a:r>
            <a:r>
              <a:rPr lang="pt-PT" dirty="0">
                <a:solidFill>
                  <a:schemeClr val="accent6"/>
                </a:solidFill>
              </a:rPr>
              <a:t> </a:t>
            </a:r>
            <a:r>
              <a:rPr lang="pt-PT" dirty="0" err="1">
                <a:solidFill>
                  <a:schemeClr val="accent6"/>
                </a:solidFill>
              </a:rPr>
              <a:t>high</a:t>
            </a:r>
            <a:r>
              <a:rPr lang="pt-PT" dirty="0">
                <a:solidFill>
                  <a:schemeClr val="accent6"/>
                </a:solidFill>
              </a:rPr>
              <a:t> </a:t>
            </a:r>
            <a:r>
              <a:rPr lang="pt-PT" dirty="0" err="1">
                <a:solidFill>
                  <a:schemeClr val="accent6"/>
                </a:solidFill>
              </a:rPr>
              <a:t>quality</a:t>
            </a:r>
            <a:endParaRPr lang="pt-PT" dirty="0">
              <a:solidFill>
                <a:schemeClr val="accent6"/>
              </a:solidFill>
            </a:endParaRPr>
          </a:p>
          <a:p>
            <a:pPr marL="987425" indent="-342900">
              <a:lnSpc>
                <a:spcPct val="150000"/>
              </a:lnSpc>
              <a:spcBef>
                <a:spcPct val="25000"/>
              </a:spcBef>
              <a:buFont typeface="Arial" pitchFamily="34" charset="0"/>
              <a:buChar char="•"/>
            </a:pPr>
            <a:r>
              <a:rPr lang="pt-PT" dirty="0">
                <a:solidFill>
                  <a:schemeClr val="accent6"/>
                </a:solidFill>
              </a:rPr>
              <a:t>NLP, </a:t>
            </a:r>
            <a:r>
              <a:rPr lang="pt-PT" dirty="0" err="1">
                <a:solidFill>
                  <a:schemeClr val="accent6"/>
                </a:solidFill>
              </a:rPr>
              <a:t>hand-made</a:t>
            </a:r>
            <a:r>
              <a:rPr lang="pt-PT" dirty="0">
                <a:solidFill>
                  <a:schemeClr val="accent6"/>
                </a:solidFill>
              </a:rPr>
              <a:t> rules, </a:t>
            </a:r>
            <a:r>
              <a:rPr lang="pt-PT" dirty="0" err="1">
                <a:solidFill>
                  <a:schemeClr val="accent6"/>
                </a:solidFill>
              </a:rPr>
              <a:t>scalability</a:t>
            </a:r>
            <a:endParaRPr lang="pt-PT" dirty="0">
              <a:solidFill>
                <a:schemeClr val="accent6"/>
              </a:solidFill>
            </a:endParaRPr>
          </a:p>
          <a:p>
            <a:pPr marL="546100" indent="-342900">
              <a:lnSpc>
                <a:spcPct val="150000"/>
              </a:lnSpc>
              <a:spcBef>
                <a:spcPct val="25000"/>
              </a:spcBef>
            </a:pPr>
            <a:endParaRPr lang="pt-PT" dirty="0">
              <a:solidFill>
                <a:schemeClr val="accent6"/>
              </a:solidFill>
            </a:endParaRPr>
          </a:p>
          <a:p>
            <a:pPr marL="546100" indent="-342900">
              <a:lnSpc>
                <a:spcPct val="150000"/>
              </a:lnSpc>
              <a:spcBef>
                <a:spcPct val="25000"/>
              </a:spcBef>
            </a:pPr>
            <a:r>
              <a:rPr lang="pt-PT" dirty="0">
                <a:solidFill>
                  <a:schemeClr val="accent6"/>
                </a:solidFill>
              </a:rPr>
              <a:t>Data </a:t>
            </a:r>
            <a:r>
              <a:rPr lang="pt-PT" dirty="0" err="1">
                <a:solidFill>
                  <a:schemeClr val="accent6"/>
                </a:solidFill>
              </a:rPr>
              <a:t>mining</a:t>
            </a:r>
            <a:r>
              <a:rPr lang="pt-PT" dirty="0">
                <a:solidFill>
                  <a:schemeClr val="accent6"/>
                </a:solidFill>
              </a:rPr>
              <a:t> </a:t>
            </a:r>
            <a:r>
              <a:rPr lang="pt-PT" dirty="0" err="1">
                <a:solidFill>
                  <a:schemeClr val="accent6"/>
                </a:solidFill>
              </a:rPr>
              <a:t>methods</a:t>
            </a:r>
            <a:r>
              <a:rPr lang="pt-PT" dirty="0">
                <a:solidFill>
                  <a:schemeClr val="accent6"/>
                </a:solidFill>
              </a:rPr>
              <a:t> </a:t>
            </a:r>
            <a:r>
              <a:rPr lang="pt-PT" dirty="0" err="1">
                <a:solidFill>
                  <a:schemeClr val="accent6"/>
                </a:solidFill>
              </a:rPr>
              <a:t>expect</a:t>
            </a:r>
            <a:r>
              <a:rPr lang="pt-PT" dirty="0">
                <a:solidFill>
                  <a:schemeClr val="accent6"/>
                </a:solidFill>
              </a:rPr>
              <a:t> </a:t>
            </a:r>
            <a:r>
              <a:rPr lang="pt-PT" dirty="0" err="1">
                <a:solidFill>
                  <a:schemeClr val="accent6"/>
                </a:solidFill>
              </a:rPr>
              <a:t>highly</a:t>
            </a:r>
            <a:r>
              <a:rPr lang="pt-PT" dirty="0">
                <a:solidFill>
                  <a:schemeClr val="accent6"/>
                </a:solidFill>
              </a:rPr>
              <a:t> </a:t>
            </a:r>
            <a:r>
              <a:rPr lang="pt-PT" dirty="0" err="1">
                <a:solidFill>
                  <a:schemeClr val="accent6"/>
                </a:solidFill>
              </a:rPr>
              <a:t>structured</a:t>
            </a:r>
            <a:r>
              <a:rPr lang="pt-PT" dirty="0">
                <a:solidFill>
                  <a:schemeClr val="accent6"/>
                </a:solidFill>
              </a:rPr>
              <a:t> </a:t>
            </a:r>
            <a:r>
              <a:rPr lang="pt-PT" dirty="0" err="1">
                <a:solidFill>
                  <a:schemeClr val="accent6"/>
                </a:solidFill>
              </a:rPr>
              <a:t>datasets</a:t>
            </a:r>
            <a:endParaRPr lang="pt-PT" dirty="0">
              <a:solidFill>
                <a:schemeClr val="accent6"/>
              </a:solidFill>
            </a:endParaRPr>
          </a:p>
          <a:p>
            <a:pPr marL="546100" indent="-342900">
              <a:lnSpc>
                <a:spcPct val="150000"/>
              </a:lnSpc>
              <a:spcBef>
                <a:spcPct val="25000"/>
              </a:spcBef>
            </a:pPr>
            <a:endParaRPr lang="pt-PT" dirty="0">
              <a:solidFill>
                <a:schemeClr val="accent6"/>
              </a:solidFill>
            </a:endParaRPr>
          </a:p>
        </p:txBody>
      </p:sp>
      <p:graphicFrame>
        <p:nvGraphicFramePr>
          <p:cNvPr id="5" name="Table 4"/>
          <p:cNvGraphicFramePr>
            <a:graphicFrameLocks noGrp="1"/>
          </p:cNvGraphicFramePr>
          <p:nvPr/>
        </p:nvGraphicFramePr>
        <p:xfrm>
          <a:off x="1115616" y="332656"/>
          <a:ext cx="3780420" cy="6229156"/>
        </p:xfrm>
        <a:graphic>
          <a:graphicData uri="http://schemas.openxmlformats.org/drawingml/2006/table">
            <a:tbl>
              <a:tblPr/>
              <a:tblGrid>
                <a:gridCol w="3780420">
                  <a:extLst>
                    <a:ext uri="{9D8B030D-6E8A-4147-A177-3AD203B41FA5}">
                      <a16:colId xmlns:a16="http://schemas.microsoft.com/office/drawing/2014/main" val="20000"/>
                    </a:ext>
                  </a:extLst>
                </a:gridCol>
              </a:tblGrid>
              <a:tr h="228669">
                <a:tc>
                  <a:txBody>
                    <a:bodyPr/>
                    <a:lstStyle/>
                    <a:p>
                      <a:pPr algn="ctr" fontAlgn="b"/>
                      <a:r>
                        <a:rPr lang="pt-PT" sz="2000" b="0" i="0" u="none" strike="noStrike" dirty="0" err="1">
                          <a:solidFill>
                            <a:srgbClr val="000000"/>
                          </a:solidFill>
                          <a:latin typeface="Calibri"/>
                        </a:rPr>
                        <a:t>Traditional</a:t>
                      </a:r>
                      <a:r>
                        <a:rPr lang="pt-PT" sz="2000" b="0" i="0" u="none" strike="noStrike" dirty="0">
                          <a:solidFill>
                            <a:srgbClr val="000000"/>
                          </a:solidFill>
                          <a:latin typeface="Calibri"/>
                        </a:rPr>
                        <a:t> data </a:t>
                      </a:r>
                      <a:r>
                        <a:rPr lang="pt-PT" sz="2000" b="0" i="0" u="none" strike="noStrike" dirty="0" err="1">
                          <a:solidFill>
                            <a:srgbClr val="000000"/>
                          </a:solidFill>
                          <a:latin typeface="Calibri"/>
                        </a:rPr>
                        <a:t>mining</a:t>
                      </a:r>
                      <a:endParaRPr lang="pt-PT" sz="2000" b="0" i="0" u="none" strike="noStrike" dirty="0">
                        <a:solidFill>
                          <a:srgbClr val="000000"/>
                        </a:solidFill>
                        <a:latin typeface="Calibri"/>
                      </a:endParaRPr>
                    </a:p>
                  </a:txBody>
                  <a:tcPr marL="3569" marR="3569" marT="35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03476">
                <a:tc>
                  <a:txBody>
                    <a:bodyPr/>
                    <a:lstStyle/>
                    <a:p>
                      <a:pPr algn="l" fontAlgn="b"/>
                      <a:r>
                        <a:rPr lang="pt-PT" sz="1600" b="0" i="0" u="none" strike="noStrike" dirty="0" err="1">
                          <a:solidFill>
                            <a:srgbClr val="000000"/>
                          </a:solidFill>
                          <a:latin typeface="Calibri"/>
                        </a:rPr>
                        <a:t>structured</a:t>
                      </a:r>
                      <a:r>
                        <a:rPr lang="pt-PT" sz="1600" b="0" i="0" u="none" strike="noStrike" dirty="0">
                          <a:solidFill>
                            <a:srgbClr val="000000"/>
                          </a:solidFill>
                          <a:latin typeface="Calibri"/>
                        </a:rPr>
                        <a:t> (tabular </a:t>
                      </a:r>
                      <a:r>
                        <a:rPr lang="pt-PT" sz="1600" b="0" i="0" u="none" strike="noStrike" dirty="0" err="1">
                          <a:solidFill>
                            <a:srgbClr val="000000"/>
                          </a:solidFill>
                          <a:latin typeface="Calibri"/>
                        </a:rPr>
                        <a:t>form</a:t>
                      </a:r>
                      <a:r>
                        <a:rPr lang="pt-PT" sz="1600" b="0" i="0" u="none" strike="noStrike" dirty="0">
                          <a:solidFill>
                            <a:srgbClr val="000000"/>
                          </a:solidFill>
                          <a:latin typeface="Calibri"/>
                        </a:rPr>
                        <a:t>)</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85007">
                <a:tc>
                  <a:txBody>
                    <a:bodyPr/>
                    <a:lstStyle/>
                    <a:p>
                      <a:pPr algn="l" fontAlgn="b"/>
                      <a:r>
                        <a:rPr lang="pt-PT" sz="1600" b="0" i="0" u="none" strike="noStrike" dirty="0" err="1">
                          <a:solidFill>
                            <a:srgbClr val="000000"/>
                          </a:solidFill>
                          <a:latin typeface="Calibri"/>
                        </a:rPr>
                        <a:t>numbers</a:t>
                      </a:r>
                      <a:endParaRPr lang="pt-PT"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78283">
                <a:tc>
                  <a:txBody>
                    <a:bodyPr/>
                    <a:lstStyle/>
                    <a:p>
                      <a:pPr algn="l" fontAlgn="b"/>
                      <a:r>
                        <a:rPr lang="en-US" sz="1600" b="0" i="0" u="none" strike="noStrike" dirty="0">
                          <a:solidFill>
                            <a:srgbClr val="000000"/>
                          </a:solidFill>
                          <a:latin typeface="Calibri"/>
                        </a:rPr>
                        <a:t>understandable by domain specialists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26346">
                <a:tc>
                  <a:txBody>
                    <a:bodyPr/>
                    <a:lstStyle/>
                    <a:p>
                      <a:pPr algn="l" fontAlgn="b"/>
                      <a:r>
                        <a:rPr lang="en-US" sz="1600" b="0" i="0" u="none" strike="noStrike" dirty="0">
                          <a:solidFill>
                            <a:srgbClr val="000000"/>
                          </a:solidFill>
                          <a:latin typeface="Calibri"/>
                        </a:rPr>
                        <a:t>descriptive attributes are permanent, known in advance and may be based on prior design</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03476">
                <a:tc>
                  <a:txBody>
                    <a:bodyPr/>
                    <a:lstStyle/>
                    <a:p>
                      <a:pPr algn="l" fontAlgn="b"/>
                      <a:r>
                        <a:rPr lang="en-US" sz="1600" b="0" i="0" u="none" strike="noStrike" dirty="0">
                          <a:solidFill>
                            <a:srgbClr val="000000"/>
                          </a:solidFill>
                          <a:latin typeface="Calibri"/>
                        </a:rPr>
                        <a:t>all examples are described by the same set of attributes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r h="378283">
                <a:tc>
                  <a:txBody>
                    <a:bodyPr/>
                    <a:lstStyle/>
                    <a:p>
                      <a:pPr algn="l" fontAlgn="b"/>
                      <a:r>
                        <a:rPr lang="en-US" sz="1600" b="0" i="0" u="none" strike="noStrike" dirty="0">
                          <a:solidFill>
                            <a:srgbClr val="000000"/>
                          </a:solidFill>
                          <a:latin typeface="Calibri"/>
                        </a:rPr>
                        <a:t>numerical (greater than, less than) / categorical (list of unordered codes) attributes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6"/>
                  </a:ext>
                </a:extLst>
              </a:tr>
              <a:tr h="453089">
                <a:tc>
                  <a:txBody>
                    <a:bodyPr/>
                    <a:lstStyle/>
                    <a:p>
                      <a:pPr algn="l" fontAlgn="b"/>
                      <a:r>
                        <a:rPr lang="en-US" sz="1600" b="0" i="0" u="none" strike="noStrike" dirty="0">
                          <a:solidFill>
                            <a:srgbClr val="000000"/>
                          </a:solidFill>
                          <a:latin typeface="Calibri"/>
                        </a:rPr>
                        <a:t>all the possible values of a given attribute are known in advance and recorded uniformly for every example</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r h="677508">
                <a:tc>
                  <a:txBody>
                    <a:bodyPr/>
                    <a:lstStyle/>
                    <a:p>
                      <a:pPr algn="l" fontAlgn="b"/>
                      <a:r>
                        <a:rPr lang="en-US" sz="1600" b="0" i="0" u="none" strike="noStrike" dirty="0">
                          <a:solidFill>
                            <a:srgbClr val="000000"/>
                          </a:solidFill>
                          <a:latin typeface="Calibri"/>
                        </a:rPr>
                        <a:t>semantic of attributes is invariant</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8"/>
                  </a:ext>
                </a:extLst>
              </a:tr>
              <a:tr h="453089">
                <a:tc>
                  <a:txBody>
                    <a:bodyPr/>
                    <a:lstStyle/>
                    <a:p>
                      <a:pPr algn="l" fontAlgn="b"/>
                      <a:r>
                        <a:rPr lang="en-US" sz="1600" b="0" i="0" u="none" strike="noStrike" dirty="0">
                          <a:solidFill>
                            <a:srgbClr val="000000"/>
                          </a:solidFill>
                          <a:latin typeface="Calibri"/>
                        </a:rPr>
                        <a:t>adding a new example is adding a new row with a vector of measures for each of the attributes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9"/>
                  </a:ext>
                </a:extLst>
              </a:tr>
              <a:tr h="453089">
                <a:tc>
                  <a:txBody>
                    <a:bodyPr/>
                    <a:lstStyle/>
                    <a:p>
                      <a:pPr algn="l" fontAlgn="b"/>
                      <a:r>
                        <a:rPr lang="en-US" sz="1600" b="0" i="0" u="none" strike="noStrike" dirty="0">
                          <a:solidFill>
                            <a:srgbClr val="000000"/>
                          </a:solidFill>
                          <a:latin typeface="Calibri"/>
                        </a:rPr>
                        <a:t>examples are rows, datasets are matrices, mathematical methods are </a:t>
                      </a:r>
                      <a:r>
                        <a:rPr lang="en-US" sz="1600" b="0" i="0" u="none" strike="noStrike" dirty="0" err="1">
                          <a:solidFill>
                            <a:srgbClr val="000000"/>
                          </a:solidFill>
                          <a:latin typeface="Calibri"/>
                        </a:rPr>
                        <a:t>aplicable</a:t>
                      </a:r>
                      <a:endParaRPr lang="en-US"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10"/>
                  </a:ext>
                </a:extLst>
              </a:tr>
            </a:tbl>
          </a:graphicData>
        </a:graphic>
      </p:graphicFrame>
      <p:pic>
        <p:nvPicPr>
          <p:cNvPr id="8" name="Picture 7" descr="iris.png"/>
          <p:cNvPicPr>
            <a:picLocks noChangeAspect="1"/>
          </p:cNvPicPr>
          <p:nvPr/>
        </p:nvPicPr>
        <p:blipFill>
          <a:blip r:embed="rId2" cstate="print"/>
          <a:stretch>
            <a:fillRect/>
          </a:stretch>
        </p:blipFill>
        <p:spPr>
          <a:xfrm>
            <a:off x="745232" y="1875259"/>
            <a:ext cx="4114800" cy="3209925"/>
          </a:xfrm>
          <a:prstGeom prst="rect">
            <a:avLst/>
          </a:prstGeom>
          <a:ln>
            <a:solidFill>
              <a:schemeClr val="accent6">
                <a:lumMod val="75000"/>
              </a:schemeClr>
            </a:solidFill>
          </a:ln>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928" y="1875259"/>
            <a:ext cx="5138394" cy="3209925"/>
          </a:xfrm>
          <a:prstGeom prst="rect">
            <a:avLst/>
          </a:prstGeom>
          <a:ln w="25400">
            <a:solidFill>
              <a:schemeClr val="accent4"/>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b="1" dirty="0" err="1">
                <a:solidFill>
                  <a:srgbClr val="C00000"/>
                </a:solidFill>
              </a:rPr>
              <a:t>Intro</a:t>
            </a:r>
            <a:r>
              <a:rPr lang="pt-PT" sz="2800" dirty="0" err="1">
                <a:solidFill>
                  <a:schemeClr val="bg1">
                    <a:lumMod val="50000"/>
                  </a:schemeClr>
                </a:solidFill>
              </a:rPr>
              <a:t>|Models|Processing|Tools|R|Case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14339" name="Text Box 3"/>
          <p:cNvSpPr txBox="1">
            <a:spLocks noChangeArrowheads="1"/>
          </p:cNvSpPr>
          <p:nvPr/>
        </p:nvSpPr>
        <p:spPr bwMode="auto">
          <a:xfrm>
            <a:off x="250825" y="692150"/>
            <a:ext cx="8642350" cy="4870564"/>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Motivations</a:t>
            </a:r>
            <a:endParaRPr lang="pt-PT" b="1" u="sng" cap="all" dirty="0">
              <a:solidFill>
                <a:schemeClr val="accent6"/>
              </a:solidFill>
            </a:endParaRPr>
          </a:p>
          <a:p>
            <a:pPr marL="546100" indent="-342900">
              <a:lnSpc>
                <a:spcPct val="150000"/>
              </a:lnSpc>
              <a:spcBef>
                <a:spcPct val="25000"/>
              </a:spcBef>
            </a:pPr>
            <a:r>
              <a:rPr lang="pt-PT" dirty="0">
                <a:solidFill>
                  <a:schemeClr val="accent6"/>
                </a:solidFill>
              </a:rPr>
              <a:t>Data </a:t>
            </a:r>
            <a:r>
              <a:rPr lang="pt-PT" dirty="0" err="1">
                <a:solidFill>
                  <a:schemeClr val="accent6"/>
                </a:solidFill>
              </a:rPr>
              <a:t>mining</a:t>
            </a:r>
            <a:r>
              <a:rPr lang="pt-PT" dirty="0">
                <a:solidFill>
                  <a:schemeClr val="accent6"/>
                </a:solidFill>
              </a:rPr>
              <a:t>: </a:t>
            </a:r>
            <a:r>
              <a:rPr lang="pt-PT" dirty="0" err="1">
                <a:solidFill>
                  <a:schemeClr val="accent6"/>
                </a:solidFill>
              </a:rPr>
              <a:t>finding</a:t>
            </a:r>
            <a:r>
              <a:rPr lang="pt-PT" dirty="0">
                <a:solidFill>
                  <a:schemeClr val="accent6"/>
                </a:solidFill>
              </a:rPr>
              <a:t> </a:t>
            </a:r>
            <a:r>
              <a:rPr lang="pt-PT" dirty="0" err="1">
                <a:solidFill>
                  <a:schemeClr val="accent6"/>
                </a:solidFill>
              </a:rPr>
              <a:t>valuable</a:t>
            </a:r>
            <a:r>
              <a:rPr lang="pt-PT" dirty="0">
                <a:solidFill>
                  <a:schemeClr val="accent6"/>
                </a:solidFill>
              </a:rPr>
              <a:t> </a:t>
            </a:r>
            <a:r>
              <a:rPr lang="pt-PT" dirty="0" err="1">
                <a:solidFill>
                  <a:schemeClr val="accent6"/>
                </a:solidFill>
              </a:rPr>
              <a:t>patterns</a:t>
            </a:r>
            <a:r>
              <a:rPr lang="pt-PT" dirty="0">
                <a:solidFill>
                  <a:schemeClr val="accent6"/>
                </a:solidFill>
              </a:rPr>
              <a:t> in data</a:t>
            </a:r>
          </a:p>
          <a:p>
            <a:pPr marL="987425" indent="-342900">
              <a:lnSpc>
                <a:spcPct val="150000"/>
              </a:lnSpc>
              <a:spcBef>
                <a:spcPct val="25000"/>
              </a:spcBef>
              <a:buFont typeface="Arial" pitchFamily="34" charset="0"/>
              <a:buChar char="•"/>
            </a:pPr>
            <a:r>
              <a:rPr lang="pt-PT" dirty="0" err="1">
                <a:solidFill>
                  <a:schemeClr val="accent6"/>
                </a:solidFill>
              </a:rPr>
              <a:t>big</a:t>
            </a:r>
            <a:r>
              <a:rPr lang="pt-PT" dirty="0">
                <a:solidFill>
                  <a:schemeClr val="accent6"/>
                </a:solidFill>
              </a:rPr>
              <a:t> data</a:t>
            </a:r>
          </a:p>
          <a:p>
            <a:pPr marL="987425" indent="-342900">
              <a:lnSpc>
                <a:spcPct val="150000"/>
              </a:lnSpc>
              <a:spcBef>
                <a:spcPct val="25000"/>
              </a:spcBef>
              <a:buFont typeface="Arial" pitchFamily="34" charset="0"/>
              <a:buChar char="•"/>
            </a:pPr>
            <a:r>
              <a:rPr lang="pt-PT" dirty="0" err="1">
                <a:solidFill>
                  <a:schemeClr val="accent6"/>
                </a:solidFill>
              </a:rPr>
              <a:t>availability</a:t>
            </a:r>
            <a:r>
              <a:rPr lang="pt-PT" dirty="0">
                <a:solidFill>
                  <a:schemeClr val="accent6"/>
                </a:solidFill>
              </a:rPr>
              <a:t> of </a:t>
            </a:r>
            <a:r>
              <a:rPr lang="pt-PT" dirty="0" err="1">
                <a:solidFill>
                  <a:schemeClr val="accent6"/>
                </a:solidFill>
              </a:rPr>
              <a:t>text</a:t>
            </a:r>
            <a:r>
              <a:rPr lang="pt-PT" dirty="0">
                <a:solidFill>
                  <a:schemeClr val="accent6"/>
                </a:solidFill>
              </a:rPr>
              <a:t> in digital </a:t>
            </a:r>
            <a:r>
              <a:rPr lang="pt-PT" dirty="0" err="1">
                <a:solidFill>
                  <a:schemeClr val="accent6"/>
                </a:solidFill>
              </a:rPr>
              <a:t>form</a:t>
            </a:r>
            <a:endParaRPr lang="pt-PT" dirty="0">
              <a:solidFill>
                <a:schemeClr val="accent6"/>
              </a:solidFill>
            </a:endParaRPr>
          </a:p>
          <a:p>
            <a:pPr marL="987425" indent="-342900">
              <a:lnSpc>
                <a:spcPct val="150000"/>
              </a:lnSpc>
              <a:spcBef>
                <a:spcPct val="25000"/>
              </a:spcBef>
              <a:buFont typeface="Arial" pitchFamily="34" charset="0"/>
              <a:buChar char="•"/>
            </a:pPr>
            <a:endParaRPr lang="pt-PT" dirty="0">
              <a:solidFill>
                <a:schemeClr val="accent6"/>
              </a:solidFill>
            </a:endParaRPr>
          </a:p>
          <a:p>
            <a:pPr marL="987425" indent="-342900">
              <a:lnSpc>
                <a:spcPct val="150000"/>
              </a:lnSpc>
              <a:spcBef>
                <a:spcPct val="25000"/>
              </a:spcBef>
              <a:buFont typeface="Arial" pitchFamily="34" charset="0"/>
              <a:buChar char="•"/>
            </a:pPr>
            <a:r>
              <a:rPr lang="pt-PT" dirty="0" err="1">
                <a:solidFill>
                  <a:schemeClr val="accent6"/>
                </a:solidFill>
              </a:rPr>
              <a:t>high</a:t>
            </a:r>
            <a:r>
              <a:rPr lang="pt-PT" dirty="0">
                <a:solidFill>
                  <a:schemeClr val="accent6"/>
                </a:solidFill>
              </a:rPr>
              <a:t> volume </a:t>
            </a:r>
            <a:r>
              <a:rPr lang="pt-PT" dirty="0" err="1">
                <a:solidFill>
                  <a:schemeClr val="accent6"/>
                </a:solidFill>
              </a:rPr>
              <a:t>vs</a:t>
            </a:r>
            <a:r>
              <a:rPr lang="pt-PT" dirty="0">
                <a:solidFill>
                  <a:schemeClr val="accent6"/>
                </a:solidFill>
              </a:rPr>
              <a:t> </a:t>
            </a:r>
            <a:r>
              <a:rPr lang="pt-PT" dirty="0" err="1">
                <a:solidFill>
                  <a:schemeClr val="accent6"/>
                </a:solidFill>
              </a:rPr>
              <a:t>high</a:t>
            </a:r>
            <a:r>
              <a:rPr lang="pt-PT" dirty="0">
                <a:solidFill>
                  <a:schemeClr val="accent6"/>
                </a:solidFill>
              </a:rPr>
              <a:t> </a:t>
            </a:r>
            <a:r>
              <a:rPr lang="pt-PT" dirty="0" err="1">
                <a:solidFill>
                  <a:schemeClr val="accent6"/>
                </a:solidFill>
              </a:rPr>
              <a:t>quality</a:t>
            </a:r>
            <a:endParaRPr lang="pt-PT" dirty="0">
              <a:solidFill>
                <a:schemeClr val="accent6"/>
              </a:solidFill>
            </a:endParaRPr>
          </a:p>
          <a:p>
            <a:pPr marL="987425" indent="-342900">
              <a:lnSpc>
                <a:spcPct val="150000"/>
              </a:lnSpc>
              <a:spcBef>
                <a:spcPct val="25000"/>
              </a:spcBef>
              <a:buFont typeface="Arial" pitchFamily="34" charset="0"/>
              <a:buChar char="•"/>
            </a:pPr>
            <a:r>
              <a:rPr lang="pt-PT" dirty="0">
                <a:solidFill>
                  <a:schemeClr val="accent6"/>
                </a:solidFill>
              </a:rPr>
              <a:t>NLP, </a:t>
            </a:r>
            <a:r>
              <a:rPr lang="pt-PT" dirty="0" err="1">
                <a:solidFill>
                  <a:schemeClr val="accent6"/>
                </a:solidFill>
              </a:rPr>
              <a:t>hand-made</a:t>
            </a:r>
            <a:r>
              <a:rPr lang="pt-PT" dirty="0">
                <a:solidFill>
                  <a:schemeClr val="accent6"/>
                </a:solidFill>
              </a:rPr>
              <a:t> rules, </a:t>
            </a:r>
            <a:r>
              <a:rPr lang="pt-PT" dirty="0" err="1">
                <a:solidFill>
                  <a:schemeClr val="accent6"/>
                </a:solidFill>
              </a:rPr>
              <a:t>scalability</a:t>
            </a:r>
            <a:endParaRPr lang="pt-PT" dirty="0">
              <a:solidFill>
                <a:schemeClr val="accent6"/>
              </a:solidFill>
            </a:endParaRPr>
          </a:p>
          <a:p>
            <a:pPr marL="546100" indent="-342900">
              <a:lnSpc>
                <a:spcPct val="150000"/>
              </a:lnSpc>
              <a:spcBef>
                <a:spcPct val="25000"/>
              </a:spcBef>
            </a:pPr>
            <a:endParaRPr lang="pt-PT" dirty="0">
              <a:solidFill>
                <a:schemeClr val="accent6"/>
              </a:solidFill>
            </a:endParaRPr>
          </a:p>
          <a:p>
            <a:pPr marL="546100" indent="-342900">
              <a:lnSpc>
                <a:spcPct val="150000"/>
              </a:lnSpc>
              <a:spcBef>
                <a:spcPct val="25000"/>
              </a:spcBef>
            </a:pPr>
            <a:r>
              <a:rPr lang="pt-PT" dirty="0">
                <a:solidFill>
                  <a:schemeClr val="accent6"/>
                </a:solidFill>
              </a:rPr>
              <a:t>Data </a:t>
            </a:r>
            <a:r>
              <a:rPr lang="pt-PT" dirty="0" err="1">
                <a:solidFill>
                  <a:schemeClr val="accent6"/>
                </a:solidFill>
              </a:rPr>
              <a:t>mining</a:t>
            </a:r>
            <a:r>
              <a:rPr lang="pt-PT" dirty="0">
                <a:solidFill>
                  <a:schemeClr val="accent6"/>
                </a:solidFill>
              </a:rPr>
              <a:t> </a:t>
            </a:r>
            <a:r>
              <a:rPr lang="pt-PT" dirty="0" err="1">
                <a:solidFill>
                  <a:schemeClr val="accent6"/>
                </a:solidFill>
              </a:rPr>
              <a:t>methods</a:t>
            </a:r>
            <a:r>
              <a:rPr lang="pt-PT" dirty="0">
                <a:solidFill>
                  <a:schemeClr val="accent6"/>
                </a:solidFill>
              </a:rPr>
              <a:t> </a:t>
            </a:r>
            <a:r>
              <a:rPr lang="pt-PT" dirty="0" err="1">
                <a:solidFill>
                  <a:schemeClr val="accent6"/>
                </a:solidFill>
              </a:rPr>
              <a:t>expect</a:t>
            </a:r>
            <a:r>
              <a:rPr lang="pt-PT" dirty="0">
                <a:solidFill>
                  <a:schemeClr val="accent6"/>
                </a:solidFill>
              </a:rPr>
              <a:t> </a:t>
            </a:r>
            <a:r>
              <a:rPr lang="pt-PT" dirty="0" err="1">
                <a:solidFill>
                  <a:schemeClr val="accent6"/>
                </a:solidFill>
              </a:rPr>
              <a:t>highly</a:t>
            </a:r>
            <a:r>
              <a:rPr lang="pt-PT" dirty="0">
                <a:solidFill>
                  <a:schemeClr val="accent6"/>
                </a:solidFill>
              </a:rPr>
              <a:t> </a:t>
            </a:r>
            <a:r>
              <a:rPr lang="pt-PT" dirty="0" err="1">
                <a:solidFill>
                  <a:schemeClr val="accent6"/>
                </a:solidFill>
              </a:rPr>
              <a:t>structured</a:t>
            </a:r>
            <a:r>
              <a:rPr lang="pt-PT" dirty="0">
                <a:solidFill>
                  <a:schemeClr val="accent6"/>
                </a:solidFill>
              </a:rPr>
              <a:t> </a:t>
            </a:r>
            <a:r>
              <a:rPr lang="pt-PT" dirty="0" err="1">
                <a:solidFill>
                  <a:schemeClr val="accent6"/>
                </a:solidFill>
              </a:rPr>
              <a:t>datasets</a:t>
            </a:r>
            <a:endParaRPr lang="pt-PT" dirty="0">
              <a:solidFill>
                <a:schemeClr val="accent6"/>
              </a:solidFill>
            </a:endParaRPr>
          </a:p>
          <a:p>
            <a:pPr marL="546100" indent="-342900">
              <a:lnSpc>
                <a:spcPct val="150000"/>
              </a:lnSpc>
              <a:spcBef>
                <a:spcPct val="25000"/>
              </a:spcBef>
            </a:pPr>
            <a:endParaRPr lang="pt-PT" dirty="0">
              <a:solidFill>
                <a:schemeClr val="accent6"/>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707143009"/>
              </p:ext>
            </p:extLst>
          </p:nvPr>
        </p:nvGraphicFramePr>
        <p:xfrm>
          <a:off x="1115616" y="332656"/>
          <a:ext cx="7560840" cy="6229156"/>
        </p:xfrm>
        <a:graphic>
          <a:graphicData uri="http://schemas.openxmlformats.org/drawingml/2006/table">
            <a:tbl>
              <a:tblPr/>
              <a:tblGrid>
                <a:gridCol w="3780420">
                  <a:extLst>
                    <a:ext uri="{9D8B030D-6E8A-4147-A177-3AD203B41FA5}">
                      <a16:colId xmlns:a16="http://schemas.microsoft.com/office/drawing/2014/main" val="20000"/>
                    </a:ext>
                  </a:extLst>
                </a:gridCol>
                <a:gridCol w="3780420">
                  <a:extLst>
                    <a:ext uri="{9D8B030D-6E8A-4147-A177-3AD203B41FA5}">
                      <a16:colId xmlns:a16="http://schemas.microsoft.com/office/drawing/2014/main" val="20001"/>
                    </a:ext>
                  </a:extLst>
                </a:gridCol>
              </a:tblGrid>
              <a:tr h="228669">
                <a:tc>
                  <a:txBody>
                    <a:bodyPr/>
                    <a:lstStyle/>
                    <a:p>
                      <a:pPr algn="ctr" fontAlgn="b"/>
                      <a:r>
                        <a:rPr lang="pt-PT" sz="2000" b="0" i="0" u="none" strike="noStrike" dirty="0" err="1">
                          <a:solidFill>
                            <a:srgbClr val="000000"/>
                          </a:solidFill>
                          <a:latin typeface="Calibri"/>
                        </a:rPr>
                        <a:t>Traditional</a:t>
                      </a:r>
                      <a:r>
                        <a:rPr lang="pt-PT" sz="2000" b="0" i="0" u="none" strike="noStrike" dirty="0">
                          <a:solidFill>
                            <a:srgbClr val="000000"/>
                          </a:solidFill>
                          <a:latin typeface="Calibri"/>
                        </a:rPr>
                        <a:t> data </a:t>
                      </a:r>
                      <a:r>
                        <a:rPr lang="pt-PT" sz="2000" b="0" i="0" u="none" strike="noStrike" dirty="0" err="1">
                          <a:solidFill>
                            <a:srgbClr val="000000"/>
                          </a:solidFill>
                          <a:latin typeface="Calibri"/>
                        </a:rPr>
                        <a:t>mining</a:t>
                      </a:r>
                      <a:endParaRPr lang="pt-PT" sz="2000" b="0" i="0" u="none" strike="noStrike" dirty="0">
                        <a:solidFill>
                          <a:srgbClr val="000000"/>
                        </a:solidFill>
                        <a:latin typeface="Calibri"/>
                      </a:endParaRPr>
                    </a:p>
                  </a:txBody>
                  <a:tcPr marL="3569" marR="3569" marT="35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b"/>
                      <a:r>
                        <a:rPr lang="pt-PT" sz="2000" b="0" i="0" u="none" strike="noStrike" dirty="0" err="1">
                          <a:solidFill>
                            <a:srgbClr val="000000"/>
                          </a:solidFill>
                          <a:latin typeface="Calibri"/>
                        </a:rPr>
                        <a:t>Text</a:t>
                      </a:r>
                      <a:r>
                        <a:rPr lang="pt-PT" sz="2000" b="0" i="0" u="none" strike="noStrike" dirty="0">
                          <a:solidFill>
                            <a:srgbClr val="000000"/>
                          </a:solidFill>
                          <a:latin typeface="Calibri"/>
                        </a:rPr>
                        <a:t> </a:t>
                      </a:r>
                      <a:r>
                        <a:rPr lang="pt-PT" sz="2000" b="0" i="0" u="none" strike="noStrike" dirty="0" err="1">
                          <a:solidFill>
                            <a:srgbClr val="000000"/>
                          </a:solidFill>
                          <a:latin typeface="Calibri"/>
                        </a:rPr>
                        <a:t>mining</a:t>
                      </a:r>
                      <a:endParaRPr lang="pt-PT" sz="2000" b="0" i="0" u="none" strike="noStrike" dirty="0">
                        <a:solidFill>
                          <a:srgbClr val="000000"/>
                        </a:solidFill>
                        <a:latin typeface="Calibri"/>
                      </a:endParaRPr>
                    </a:p>
                  </a:txBody>
                  <a:tcPr marL="3569" marR="3569" marT="356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03476">
                <a:tc>
                  <a:txBody>
                    <a:bodyPr/>
                    <a:lstStyle/>
                    <a:p>
                      <a:pPr algn="l" fontAlgn="b"/>
                      <a:r>
                        <a:rPr lang="pt-PT" sz="1600" b="0" i="0" u="none" strike="noStrike" dirty="0" err="1">
                          <a:solidFill>
                            <a:srgbClr val="000000"/>
                          </a:solidFill>
                          <a:latin typeface="Calibri"/>
                        </a:rPr>
                        <a:t>structured</a:t>
                      </a:r>
                      <a:r>
                        <a:rPr lang="pt-PT" sz="1600" b="0" i="0" u="none" strike="noStrike" dirty="0">
                          <a:solidFill>
                            <a:srgbClr val="000000"/>
                          </a:solidFill>
                          <a:latin typeface="Calibri"/>
                        </a:rPr>
                        <a:t> (tabular </a:t>
                      </a:r>
                      <a:r>
                        <a:rPr lang="pt-PT" sz="1600" b="0" i="0" u="none" strike="noStrike" dirty="0" err="1">
                          <a:solidFill>
                            <a:srgbClr val="000000"/>
                          </a:solidFill>
                          <a:latin typeface="Calibri"/>
                        </a:rPr>
                        <a:t>form</a:t>
                      </a:r>
                      <a:r>
                        <a:rPr lang="pt-PT" sz="1600" b="0" i="0" u="none" strike="noStrike" dirty="0">
                          <a:solidFill>
                            <a:srgbClr val="000000"/>
                          </a:solidFill>
                          <a:latin typeface="Calibri"/>
                        </a:rPr>
                        <a:t>)</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r>
                        <a:rPr lang="pt-PT" sz="1600" b="0" i="0" u="none" strike="noStrike" dirty="0">
                          <a:solidFill>
                            <a:srgbClr val="000000"/>
                          </a:solidFill>
                          <a:latin typeface="Calibri"/>
                        </a:rPr>
                        <a:t>non-</a:t>
                      </a:r>
                      <a:r>
                        <a:rPr lang="pt-PT" sz="1600" b="0" i="0" u="none" strike="noStrike" dirty="0" err="1">
                          <a:solidFill>
                            <a:srgbClr val="000000"/>
                          </a:solidFill>
                          <a:latin typeface="Calibri"/>
                        </a:rPr>
                        <a:t>structured</a:t>
                      </a:r>
                      <a:r>
                        <a:rPr lang="pt-PT" sz="1600" b="0" i="0" u="none" strike="noStrike" dirty="0">
                          <a:solidFill>
                            <a:srgbClr val="000000"/>
                          </a:solidFill>
                          <a:latin typeface="Calibri"/>
                        </a:rPr>
                        <a:t> (free </a:t>
                      </a:r>
                      <a:r>
                        <a:rPr lang="pt-PT" sz="1600" b="0" i="0" u="none" strike="noStrike" dirty="0" err="1">
                          <a:solidFill>
                            <a:srgbClr val="000000"/>
                          </a:solidFill>
                          <a:latin typeface="Calibri"/>
                        </a:rPr>
                        <a:t>form</a:t>
                      </a:r>
                      <a:r>
                        <a:rPr lang="pt-PT" sz="1600" b="0" i="0" u="none" strike="noStrike" dirty="0">
                          <a:solidFill>
                            <a:srgbClr val="000000"/>
                          </a:solidFill>
                          <a:latin typeface="Calibri"/>
                        </a:rPr>
                        <a:t>)</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85007">
                <a:tc>
                  <a:txBody>
                    <a:bodyPr/>
                    <a:lstStyle/>
                    <a:p>
                      <a:pPr algn="l" fontAlgn="b"/>
                      <a:r>
                        <a:rPr lang="pt-PT" sz="1600" b="0" i="0" u="none" strike="noStrike" dirty="0" err="1">
                          <a:solidFill>
                            <a:srgbClr val="000000"/>
                          </a:solidFill>
                          <a:latin typeface="Calibri"/>
                        </a:rPr>
                        <a:t>numbers</a:t>
                      </a:r>
                      <a:endParaRPr lang="pt-PT"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r>
                        <a:rPr lang="pt-PT" sz="1600" b="0" i="0" u="none" strike="noStrike" dirty="0" err="1">
                          <a:solidFill>
                            <a:srgbClr val="000000"/>
                          </a:solidFill>
                          <a:latin typeface="Calibri"/>
                        </a:rPr>
                        <a:t>text</a:t>
                      </a:r>
                      <a:endParaRPr lang="pt-PT"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78283">
                <a:tc>
                  <a:txBody>
                    <a:bodyPr/>
                    <a:lstStyle/>
                    <a:p>
                      <a:pPr algn="l" fontAlgn="b"/>
                      <a:r>
                        <a:rPr lang="en-US" sz="1600" b="0" i="0" u="none" strike="noStrike" dirty="0">
                          <a:solidFill>
                            <a:srgbClr val="000000"/>
                          </a:solidFill>
                          <a:latin typeface="Calibri"/>
                        </a:rPr>
                        <a:t>understandable by domain specialists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r>
                        <a:rPr lang="pt-PT" sz="1600" b="0" i="0" u="none" strike="noStrike" dirty="0" err="1">
                          <a:solidFill>
                            <a:srgbClr val="000000"/>
                          </a:solidFill>
                          <a:latin typeface="Calibri"/>
                        </a:rPr>
                        <a:t>readable</a:t>
                      </a:r>
                      <a:r>
                        <a:rPr lang="pt-PT" sz="1600" b="0" i="0" u="none" strike="noStrike" dirty="0">
                          <a:solidFill>
                            <a:srgbClr val="000000"/>
                          </a:solidFill>
                          <a:latin typeface="Calibri"/>
                        </a:rPr>
                        <a:t>, </a:t>
                      </a:r>
                      <a:r>
                        <a:rPr lang="pt-PT" sz="1600" b="0" i="0" u="none" strike="noStrike" dirty="0" err="1">
                          <a:solidFill>
                            <a:srgbClr val="000000"/>
                          </a:solidFill>
                          <a:latin typeface="Calibri"/>
                        </a:rPr>
                        <a:t>meaningful</a:t>
                      </a:r>
                      <a:r>
                        <a:rPr lang="pt-PT" sz="1600" b="0" i="0" u="none" strike="noStrike" dirty="0">
                          <a:solidFill>
                            <a:srgbClr val="000000"/>
                          </a:solidFill>
                          <a:latin typeface="Calibri"/>
                        </a:rPr>
                        <a:t> to non-</a:t>
                      </a:r>
                      <a:r>
                        <a:rPr lang="pt-PT" sz="1600" b="0" i="0" u="none" strike="noStrike" dirty="0" err="1">
                          <a:solidFill>
                            <a:srgbClr val="000000"/>
                          </a:solidFill>
                          <a:latin typeface="Calibri"/>
                        </a:rPr>
                        <a:t>specialists</a:t>
                      </a:r>
                      <a:endParaRPr lang="pt-PT"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26346">
                <a:tc>
                  <a:txBody>
                    <a:bodyPr/>
                    <a:lstStyle/>
                    <a:p>
                      <a:pPr algn="l" fontAlgn="b"/>
                      <a:r>
                        <a:rPr lang="en-US" sz="1600" b="0" i="0" u="none" strike="noStrike" dirty="0">
                          <a:solidFill>
                            <a:srgbClr val="000000"/>
                          </a:solidFill>
                          <a:latin typeface="Calibri"/>
                        </a:rPr>
                        <a:t>descriptive attributes are permanent, known in advance and may be based on prior design</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r>
                        <a:rPr lang="en-US" sz="1600" b="0" i="0" u="none" strike="noStrike" dirty="0">
                          <a:solidFill>
                            <a:srgbClr val="000000"/>
                          </a:solidFill>
                          <a:latin typeface="Calibri"/>
                        </a:rPr>
                        <a:t>descriptive attributes of a text are the words in it (alone?, in pairs?), document</a:t>
                      </a:r>
                      <a:r>
                        <a:rPr lang="en-US" sz="1600" b="0" i="0" u="none" strike="noStrike" baseline="0" dirty="0">
                          <a:solidFill>
                            <a:srgbClr val="000000"/>
                          </a:solidFill>
                          <a:latin typeface="Calibri"/>
                        </a:rPr>
                        <a:t> structure, letter case, letter format,</a:t>
                      </a:r>
                      <a:r>
                        <a:rPr lang="en-US" sz="1600" b="0" i="0" u="none" strike="noStrike" dirty="0">
                          <a:solidFill>
                            <a:srgbClr val="000000"/>
                          </a:solidFill>
                          <a:latin typeface="Calibri"/>
                        </a:rPr>
                        <a:t> metadata (in which case we turn to  the classical paradigm)</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03476">
                <a:tc>
                  <a:txBody>
                    <a:bodyPr/>
                    <a:lstStyle/>
                    <a:p>
                      <a:pPr algn="l" fontAlgn="b"/>
                      <a:r>
                        <a:rPr lang="en-US" sz="1600" b="0" i="0" u="none" strike="noStrike" dirty="0">
                          <a:solidFill>
                            <a:srgbClr val="000000"/>
                          </a:solidFill>
                          <a:latin typeface="Calibri"/>
                        </a:rPr>
                        <a:t>all examples are described by the same set of attributes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endParaRPr lang="en-US"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r h="378283">
                <a:tc>
                  <a:txBody>
                    <a:bodyPr/>
                    <a:lstStyle/>
                    <a:p>
                      <a:pPr algn="l" fontAlgn="b"/>
                      <a:r>
                        <a:rPr lang="en-US" sz="1600" b="0" i="0" u="none" strike="noStrike" dirty="0">
                          <a:solidFill>
                            <a:srgbClr val="000000"/>
                          </a:solidFill>
                          <a:latin typeface="Calibri"/>
                        </a:rPr>
                        <a:t>numerical (greater than, less than) / categorical (list of unordered codes) attributes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endParaRPr lang="en-US"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6"/>
                  </a:ext>
                </a:extLst>
              </a:tr>
              <a:tr h="453089">
                <a:tc>
                  <a:txBody>
                    <a:bodyPr/>
                    <a:lstStyle/>
                    <a:p>
                      <a:pPr algn="l" fontAlgn="b"/>
                      <a:r>
                        <a:rPr lang="en-US" sz="1600" b="0" i="0" u="none" strike="noStrike" dirty="0">
                          <a:solidFill>
                            <a:srgbClr val="000000"/>
                          </a:solidFill>
                          <a:latin typeface="Calibri"/>
                        </a:rPr>
                        <a:t>all the possible values of a given attribute are known in advance and recorded uniformly for every example</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endParaRPr lang="en-US"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r h="677508">
                <a:tc>
                  <a:txBody>
                    <a:bodyPr/>
                    <a:lstStyle/>
                    <a:p>
                      <a:pPr algn="l" fontAlgn="b"/>
                      <a:r>
                        <a:rPr lang="en-US" sz="1600" b="0" i="0" u="none" strike="noStrike" dirty="0">
                          <a:solidFill>
                            <a:srgbClr val="000000"/>
                          </a:solidFill>
                          <a:latin typeface="Calibri"/>
                        </a:rPr>
                        <a:t>semantic of attributes is invariant</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r>
                        <a:rPr lang="en-US" sz="1600" b="0" i="0" u="none" strike="noStrike" dirty="0">
                          <a:solidFill>
                            <a:srgbClr val="000000"/>
                          </a:solidFill>
                          <a:latin typeface="Calibri"/>
                        </a:rPr>
                        <a:t>semantics depends on linguistic matters such as context and grammar.</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8"/>
                  </a:ext>
                </a:extLst>
              </a:tr>
              <a:tr h="453089">
                <a:tc>
                  <a:txBody>
                    <a:bodyPr/>
                    <a:lstStyle/>
                    <a:p>
                      <a:pPr algn="l" fontAlgn="b"/>
                      <a:r>
                        <a:rPr lang="en-US" sz="1600" b="0" i="0" u="none" strike="noStrike" dirty="0">
                          <a:solidFill>
                            <a:srgbClr val="000000"/>
                          </a:solidFill>
                          <a:latin typeface="Calibri"/>
                        </a:rPr>
                        <a:t>adding a new example is adding a new row with a vector of measures for each of the attributes</a:t>
                      </a: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endParaRPr lang="en-US"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9"/>
                  </a:ext>
                </a:extLst>
              </a:tr>
              <a:tr h="453089">
                <a:tc>
                  <a:txBody>
                    <a:bodyPr/>
                    <a:lstStyle/>
                    <a:p>
                      <a:pPr algn="l" fontAlgn="b"/>
                      <a:r>
                        <a:rPr lang="en-US" sz="1600" b="0" i="0" u="none" strike="noStrike" dirty="0">
                          <a:solidFill>
                            <a:srgbClr val="000000"/>
                          </a:solidFill>
                          <a:latin typeface="Calibri"/>
                        </a:rPr>
                        <a:t>examples are rows, datasets are matrices, mathematical methods are </a:t>
                      </a:r>
                      <a:r>
                        <a:rPr lang="en-US" sz="1600" b="0" i="0" u="none" strike="noStrike" dirty="0" err="1">
                          <a:solidFill>
                            <a:srgbClr val="000000"/>
                          </a:solidFill>
                          <a:latin typeface="Calibri"/>
                        </a:rPr>
                        <a:t>aplicable</a:t>
                      </a:r>
                      <a:endParaRPr lang="en-US"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endParaRPr lang="en-US" sz="1600" b="0" i="0" u="none" strike="noStrike" dirty="0">
                        <a:solidFill>
                          <a:srgbClr val="000000"/>
                        </a:solidFill>
                        <a:latin typeface="Calibri"/>
                      </a:endParaRPr>
                    </a:p>
                  </a:txBody>
                  <a:tcPr marL="3569" marR="3569" marT="356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59081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b="1" dirty="0" err="1">
                <a:solidFill>
                  <a:srgbClr val="C00000"/>
                </a:solidFill>
              </a:rPr>
              <a:t>Intro</a:t>
            </a:r>
            <a:r>
              <a:rPr lang="pt-PT" sz="2800" dirty="0" err="1">
                <a:solidFill>
                  <a:schemeClr val="bg1">
                    <a:lumMod val="50000"/>
                  </a:schemeClr>
                </a:solidFill>
              </a:rPr>
              <a:t>|Models|Processing|Tools|R|Case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14339" name="Text Box 3"/>
          <p:cNvSpPr txBox="1">
            <a:spLocks noChangeArrowheads="1"/>
          </p:cNvSpPr>
          <p:nvPr/>
        </p:nvSpPr>
        <p:spPr bwMode="auto">
          <a:xfrm>
            <a:off x="250825" y="692150"/>
            <a:ext cx="8642350" cy="5139869"/>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Motivations</a:t>
            </a:r>
            <a:endParaRPr lang="pt-PT" b="1" u="sng" cap="all" dirty="0">
              <a:solidFill>
                <a:schemeClr val="accent6"/>
              </a:solidFill>
            </a:endParaRPr>
          </a:p>
          <a:p>
            <a:pPr marL="546100" indent="-342900">
              <a:lnSpc>
                <a:spcPct val="150000"/>
              </a:lnSpc>
              <a:spcBef>
                <a:spcPct val="25000"/>
              </a:spcBef>
            </a:pPr>
            <a:r>
              <a:rPr lang="pt-PT" dirty="0">
                <a:solidFill>
                  <a:schemeClr val="accent6"/>
                </a:solidFill>
              </a:rPr>
              <a:t>Natural </a:t>
            </a:r>
            <a:r>
              <a:rPr lang="pt-PT" dirty="0" err="1">
                <a:solidFill>
                  <a:schemeClr val="accent6"/>
                </a:solidFill>
              </a:rPr>
              <a:t>Language</a:t>
            </a:r>
            <a:r>
              <a:rPr lang="pt-PT" dirty="0">
                <a:solidFill>
                  <a:schemeClr val="accent6"/>
                </a:solidFill>
              </a:rPr>
              <a:t> </a:t>
            </a:r>
            <a:r>
              <a:rPr lang="pt-PT" dirty="0" err="1">
                <a:solidFill>
                  <a:schemeClr val="accent6"/>
                </a:solidFill>
              </a:rPr>
              <a:t>Processing</a:t>
            </a:r>
            <a:r>
              <a:rPr lang="pt-PT" dirty="0">
                <a:solidFill>
                  <a:schemeClr val="accent6"/>
                </a:solidFill>
              </a:rPr>
              <a:t> (NLP)</a:t>
            </a:r>
          </a:p>
          <a:p>
            <a:pPr marL="342900" indent="-342900">
              <a:lnSpc>
                <a:spcPct val="150000"/>
              </a:lnSpc>
              <a:spcBef>
                <a:spcPct val="25000"/>
              </a:spcBef>
            </a:pPr>
            <a:r>
              <a:rPr lang="pt-PT" dirty="0">
                <a:solidFill>
                  <a:schemeClr val="accent6"/>
                </a:solidFill>
              </a:rPr>
              <a:t>	- </a:t>
            </a:r>
            <a:r>
              <a:rPr lang="pt-PT" dirty="0" err="1">
                <a:solidFill>
                  <a:schemeClr val="accent6"/>
                </a:solidFill>
              </a:rPr>
              <a:t>linguistic</a:t>
            </a:r>
            <a:r>
              <a:rPr lang="pt-PT" dirty="0">
                <a:solidFill>
                  <a:schemeClr val="accent6"/>
                </a:solidFill>
              </a:rPr>
              <a:t> </a:t>
            </a:r>
            <a:r>
              <a:rPr lang="pt-PT" dirty="0" err="1">
                <a:solidFill>
                  <a:schemeClr val="accent6"/>
                </a:solidFill>
              </a:rPr>
              <a:t>approach</a:t>
            </a:r>
            <a:endParaRPr lang="pt-PT" dirty="0">
              <a:solidFill>
                <a:schemeClr val="accent6"/>
              </a:solidFill>
            </a:endParaRPr>
          </a:p>
          <a:p>
            <a:pPr marL="342900" indent="-342900">
              <a:lnSpc>
                <a:spcPct val="150000"/>
              </a:lnSpc>
              <a:spcBef>
                <a:spcPct val="25000"/>
              </a:spcBef>
            </a:pPr>
            <a:r>
              <a:rPr lang="pt-PT" dirty="0">
                <a:solidFill>
                  <a:schemeClr val="accent6"/>
                </a:solidFill>
              </a:rPr>
              <a:t>	- </a:t>
            </a:r>
            <a:r>
              <a:rPr lang="pt-PT" dirty="0" err="1">
                <a:solidFill>
                  <a:schemeClr val="accent6"/>
                </a:solidFill>
              </a:rPr>
              <a:t>hand-written</a:t>
            </a:r>
            <a:r>
              <a:rPr lang="pt-PT" dirty="0">
                <a:solidFill>
                  <a:schemeClr val="accent6"/>
                </a:solidFill>
              </a:rPr>
              <a:t> rules</a:t>
            </a:r>
          </a:p>
          <a:p>
            <a:pPr marL="342900" indent="-342900">
              <a:lnSpc>
                <a:spcPct val="150000"/>
              </a:lnSpc>
              <a:spcBef>
                <a:spcPct val="25000"/>
              </a:spcBef>
            </a:pPr>
            <a:r>
              <a:rPr lang="pt-PT" dirty="0">
                <a:solidFill>
                  <a:schemeClr val="accent6"/>
                </a:solidFill>
              </a:rPr>
              <a:t>	- </a:t>
            </a:r>
            <a:r>
              <a:rPr lang="pt-PT" dirty="0" err="1">
                <a:solidFill>
                  <a:schemeClr val="accent6"/>
                </a:solidFill>
              </a:rPr>
              <a:t>theasaurus</a:t>
            </a:r>
            <a:r>
              <a:rPr lang="pt-PT" dirty="0">
                <a:solidFill>
                  <a:schemeClr val="accent6"/>
                </a:solidFill>
              </a:rPr>
              <a:t>, lexical </a:t>
            </a:r>
            <a:r>
              <a:rPr lang="pt-PT" dirty="0" err="1">
                <a:solidFill>
                  <a:schemeClr val="accent6"/>
                </a:solidFill>
              </a:rPr>
              <a:t>databases</a:t>
            </a:r>
            <a:r>
              <a:rPr lang="pt-PT" dirty="0">
                <a:solidFill>
                  <a:schemeClr val="accent6"/>
                </a:solidFill>
              </a:rPr>
              <a:t> (e.g. </a:t>
            </a:r>
            <a:r>
              <a:rPr lang="pt-PT" dirty="0" err="1">
                <a:solidFill>
                  <a:schemeClr val="accent6"/>
                </a:solidFill>
              </a:rPr>
              <a:t>WordNet</a:t>
            </a:r>
            <a:r>
              <a:rPr lang="pt-PT" dirty="0">
                <a:solidFill>
                  <a:schemeClr val="accent6"/>
                </a:solidFill>
              </a:rPr>
              <a:t> - </a:t>
            </a:r>
            <a:r>
              <a:rPr lang="pt-PT" dirty="0">
                <a:solidFill>
                  <a:schemeClr val="accent6"/>
                </a:solidFill>
                <a:hlinkClick r:id="rId2"/>
              </a:rPr>
              <a:t>http://wordnet.princeton.edu/</a:t>
            </a:r>
            <a:r>
              <a:rPr lang="pt-PT" dirty="0">
                <a:solidFill>
                  <a:schemeClr val="accent6"/>
                </a:solidFill>
              </a:rPr>
              <a:t> )</a:t>
            </a:r>
          </a:p>
          <a:p>
            <a:pPr marL="342900" indent="-342900">
              <a:lnSpc>
                <a:spcPct val="150000"/>
              </a:lnSpc>
              <a:spcBef>
                <a:spcPct val="25000"/>
              </a:spcBef>
            </a:pPr>
            <a:r>
              <a:rPr lang="pt-PT" dirty="0">
                <a:solidFill>
                  <a:schemeClr val="accent6"/>
                </a:solidFill>
              </a:rPr>
              <a:t>	- </a:t>
            </a:r>
            <a:r>
              <a:rPr lang="pt-PT" dirty="0" err="1">
                <a:solidFill>
                  <a:schemeClr val="accent6"/>
                </a:solidFill>
              </a:rPr>
              <a:t>demands</a:t>
            </a:r>
            <a:r>
              <a:rPr lang="pt-PT" dirty="0">
                <a:solidFill>
                  <a:schemeClr val="accent6"/>
                </a:solidFill>
              </a:rPr>
              <a:t> for </a:t>
            </a:r>
            <a:r>
              <a:rPr lang="pt-PT" dirty="0" err="1">
                <a:solidFill>
                  <a:schemeClr val="accent6"/>
                </a:solidFill>
              </a:rPr>
              <a:t>specialists</a:t>
            </a:r>
            <a:r>
              <a:rPr lang="pt-PT" dirty="0">
                <a:solidFill>
                  <a:schemeClr val="accent6"/>
                </a:solidFill>
              </a:rPr>
              <a:t> in </a:t>
            </a:r>
            <a:r>
              <a:rPr lang="pt-PT" dirty="0" err="1">
                <a:solidFill>
                  <a:schemeClr val="accent6"/>
                </a:solidFill>
              </a:rPr>
              <a:t>linguistics</a:t>
            </a:r>
            <a:endParaRPr lang="pt-PT" dirty="0">
              <a:solidFill>
                <a:schemeClr val="accent6"/>
              </a:solidFill>
            </a:endParaRPr>
          </a:p>
          <a:p>
            <a:pPr marL="342900" indent="-342900">
              <a:lnSpc>
                <a:spcPct val="150000"/>
              </a:lnSpc>
              <a:spcBef>
                <a:spcPct val="25000"/>
              </a:spcBef>
            </a:pPr>
            <a:r>
              <a:rPr lang="pt-PT" dirty="0">
                <a:solidFill>
                  <a:schemeClr val="accent6"/>
                </a:solidFill>
              </a:rPr>
              <a:t>	- some </a:t>
            </a:r>
            <a:r>
              <a:rPr lang="pt-PT" dirty="0" err="1">
                <a:solidFill>
                  <a:schemeClr val="accent6"/>
                </a:solidFill>
              </a:rPr>
              <a:t>applications</a:t>
            </a:r>
            <a:r>
              <a:rPr lang="pt-PT" dirty="0">
                <a:solidFill>
                  <a:schemeClr val="accent6"/>
                </a:solidFill>
              </a:rPr>
              <a:t> of NLP</a:t>
            </a:r>
          </a:p>
          <a:p>
            <a:pPr marL="342900" indent="-342900">
              <a:lnSpc>
                <a:spcPct val="150000"/>
              </a:lnSpc>
              <a:spcBef>
                <a:spcPct val="25000"/>
              </a:spcBef>
            </a:pPr>
            <a:r>
              <a:rPr lang="pt-PT" sz="1600" dirty="0">
                <a:solidFill>
                  <a:schemeClr val="accent6"/>
                </a:solidFill>
              </a:rPr>
              <a:t>		i) </a:t>
            </a:r>
            <a:r>
              <a:rPr lang="pt-PT" sz="1600" dirty="0" err="1">
                <a:solidFill>
                  <a:schemeClr val="accent6"/>
                </a:solidFill>
              </a:rPr>
              <a:t>question</a:t>
            </a:r>
            <a:r>
              <a:rPr lang="pt-PT" sz="1600" dirty="0">
                <a:solidFill>
                  <a:schemeClr val="accent6"/>
                </a:solidFill>
              </a:rPr>
              <a:t> </a:t>
            </a:r>
            <a:r>
              <a:rPr lang="pt-PT" sz="1600" dirty="0" err="1">
                <a:solidFill>
                  <a:schemeClr val="accent6"/>
                </a:solidFill>
              </a:rPr>
              <a:t>answering</a:t>
            </a:r>
            <a:endParaRPr lang="pt-PT" sz="1600" dirty="0">
              <a:solidFill>
                <a:schemeClr val="accent6"/>
              </a:solidFill>
            </a:endParaRPr>
          </a:p>
          <a:p>
            <a:pPr marL="342900" indent="-342900">
              <a:lnSpc>
                <a:spcPct val="150000"/>
              </a:lnSpc>
              <a:spcBef>
                <a:spcPct val="25000"/>
              </a:spcBef>
            </a:pPr>
            <a:r>
              <a:rPr lang="pt-PT" sz="1600" dirty="0">
                <a:solidFill>
                  <a:schemeClr val="accent6"/>
                </a:solidFill>
              </a:rPr>
              <a:t>		</a:t>
            </a:r>
            <a:r>
              <a:rPr lang="pt-PT" sz="1600" dirty="0" err="1">
                <a:solidFill>
                  <a:schemeClr val="accent6"/>
                </a:solidFill>
              </a:rPr>
              <a:t>ii</a:t>
            </a:r>
            <a:r>
              <a:rPr lang="pt-PT" sz="1600" dirty="0">
                <a:solidFill>
                  <a:schemeClr val="accent6"/>
                </a:solidFill>
              </a:rPr>
              <a:t>) </a:t>
            </a:r>
            <a:r>
              <a:rPr lang="pt-PT" sz="1600" dirty="0" err="1">
                <a:solidFill>
                  <a:schemeClr val="accent6"/>
                </a:solidFill>
              </a:rPr>
              <a:t>automatic</a:t>
            </a:r>
            <a:r>
              <a:rPr lang="pt-PT" sz="1600" dirty="0">
                <a:solidFill>
                  <a:schemeClr val="accent6"/>
                </a:solidFill>
              </a:rPr>
              <a:t> </a:t>
            </a:r>
            <a:r>
              <a:rPr lang="pt-PT" sz="1600" dirty="0" err="1">
                <a:solidFill>
                  <a:schemeClr val="accent6"/>
                </a:solidFill>
              </a:rPr>
              <a:t>translation</a:t>
            </a:r>
            <a:endParaRPr lang="pt-PT" sz="1600" dirty="0">
              <a:solidFill>
                <a:schemeClr val="accent6"/>
              </a:solidFill>
            </a:endParaRPr>
          </a:p>
          <a:p>
            <a:pPr marL="342900" indent="-342900">
              <a:lnSpc>
                <a:spcPct val="150000"/>
              </a:lnSpc>
              <a:spcBef>
                <a:spcPct val="25000"/>
              </a:spcBef>
            </a:pPr>
            <a:r>
              <a:rPr lang="pt-PT" sz="1600" dirty="0">
                <a:solidFill>
                  <a:schemeClr val="accent6"/>
                </a:solidFill>
              </a:rPr>
              <a:t>		</a:t>
            </a:r>
            <a:r>
              <a:rPr lang="pt-PT" sz="1600" dirty="0" err="1">
                <a:solidFill>
                  <a:schemeClr val="accent6"/>
                </a:solidFill>
              </a:rPr>
              <a:t>iii</a:t>
            </a:r>
            <a:r>
              <a:rPr lang="pt-PT" sz="1600" dirty="0">
                <a:solidFill>
                  <a:schemeClr val="accent6"/>
                </a:solidFill>
              </a:rPr>
              <a:t>) </a:t>
            </a:r>
            <a:r>
              <a:rPr lang="pt-PT" sz="1600" dirty="0" err="1">
                <a:solidFill>
                  <a:schemeClr val="accent6"/>
                </a:solidFill>
              </a:rPr>
              <a:t>text</a:t>
            </a:r>
            <a:r>
              <a:rPr lang="pt-PT" sz="1600" dirty="0">
                <a:solidFill>
                  <a:schemeClr val="accent6"/>
                </a:solidFill>
              </a:rPr>
              <a:t> </a:t>
            </a:r>
            <a:r>
              <a:rPr lang="pt-PT" sz="1600" dirty="0" err="1">
                <a:solidFill>
                  <a:schemeClr val="accent6"/>
                </a:solidFill>
              </a:rPr>
              <a:t>summarization</a:t>
            </a:r>
            <a:endParaRPr lang="pt-PT" sz="1600" dirty="0">
              <a:solidFill>
                <a:schemeClr val="accent6"/>
              </a:solidFill>
            </a:endParaRPr>
          </a:p>
          <a:p>
            <a:pPr marL="342900" indent="-342900">
              <a:lnSpc>
                <a:spcPct val="150000"/>
              </a:lnSpc>
              <a:spcBef>
                <a:spcPct val="25000"/>
              </a:spcBef>
            </a:pPr>
            <a:r>
              <a:rPr lang="pt-PT" sz="1600" dirty="0">
                <a:solidFill>
                  <a:schemeClr val="accent6"/>
                </a:solidFill>
              </a:rPr>
              <a:t>		</a:t>
            </a:r>
            <a:r>
              <a:rPr lang="pt-PT" sz="1600" dirty="0" err="1">
                <a:solidFill>
                  <a:schemeClr val="accent6"/>
                </a:solidFill>
              </a:rPr>
              <a:t>iv</a:t>
            </a:r>
            <a:r>
              <a:rPr lang="pt-PT" sz="1600" dirty="0">
                <a:solidFill>
                  <a:schemeClr val="accent6"/>
                </a:solidFill>
              </a:rPr>
              <a:t>) </a:t>
            </a:r>
            <a:r>
              <a:rPr lang="pt-PT" sz="1600" dirty="0" err="1">
                <a:solidFill>
                  <a:schemeClr val="accent6"/>
                </a:solidFill>
              </a:rPr>
              <a:t>sentence</a:t>
            </a:r>
            <a:r>
              <a:rPr lang="pt-PT" sz="1600" dirty="0">
                <a:solidFill>
                  <a:schemeClr val="accent6"/>
                </a:solidFill>
              </a:rPr>
              <a:t> </a:t>
            </a:r>
            <a:r>
              <a:rPr lang="pt-PT" sz="1600" dirty="0" err="1">
                <a:solidFill>
                  <a:schemeClr val="accent6"/>
                </a:solidFill>
              </a:rPr>
              <a:t>parsing</a:t>
            </a:r>
            <a:endParaRPr lang="pt-PT" sz="1600" dirty="0">
              <a:solidFill>
                <a:schemeClr val="accent6"/>
              </a:solidFill>
            </a:endParaRPr>
          </a:p>
        </p:txBody>
      </p:sp>
      <p:sp>
        <p:nvSpPr>
          <p:cNvPr id="4" name="Oval 3"/>
          <p:cNvSpPr/>
          <p:nvPr/>
        </p:nvSpPr>
        <p:spPr>
          <a:xfrm>
            <a:off x="4283968" y="3356992"/>
            <a:ext cx="4392488" cy="25922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spcBef>
                <a:spcPts val="0"/>
              </a:spcBef>
              <a:spcAft>
                <a:spcPts val="0"/>
              </a:spcAft>
            </a:pPr>
            <a:r>
              <a:rPr lang="pt-PT" sz="2400" b="1" dirty="0" err="1">
                <a:solidFill>
                  <a:schemeClr val="accent6">
                    <a:lumMod val="50000"/>
                  </a:schemeClr>
                </a:solidFill>
              </a:rPr>
              <a:t>Statistical</a:t>
            </a:r>
            <a:r>
              <a:rPr lang="pt-PT" sz="2400" b="1" dirty="0">
                <a:solidFill>
                  <a:schemeClr val="accent6">
                    <a:lumMod val="50000"/>
                  </a:schemeClr>
                </a:solidFill>
              </a:rPr>
              <a:t> </a:t>
            </a:r>
            <a:r>
              <a:rPr lang="pt-PT" sz="2400" b="1" dirty="0" err="1">
                <a:solidFill>
                  <a:schemeClr val="accent6">
                    <a:lumMod val="50000"/>
                  </a:schemeClr>
                </a:solidFill>
              </a:rPr>
              <a:t>methods</a:t>
            </a:r>
            <a:r>
              <a:rPr lang="pt-PT" sz="2400" b="1" dirty="0">
                <a:solidFill>
                  <a:schemeClr val="accent6">
                    <a:lumMod val="50000"/>
                  </a:schemeClr>
                </a:solidFill>
              </a:rPr>
              <a:t> </a:t>
            </a:r>
            <a:r>
              <a:rPr lang="pt-PT" sz="2400" b="1" dirty="0" err="1">
                <a:solidFill>
                  <a:schemeClr val="accent6">
                    <a:lumMod val="50000"/>
                  </a:schemeClr>
                </a:solidFill>
              </a:rPr>
              <a:t>perform</a:t>
            </a:r>
            <a:r>
              <a:rPr lang="pt-PT" sz="2400" b="1" dirty="0">
                <a:solidFill>
                  <a:schemeClr val="accent6">
                    <a:lumMod val="50000"/>
                  </a:schemeClr>
                </a:solidFill>
              </a:rPr>
              <a:t> </a:t>
            </a:r>
            <a:r>
              <a:rPr lang="pt-PT" sz="2400" b="1" dirty="0" err="1">
                <a:solidFill>
                  <a:schemeClr val="accent6">
                    <a:lumMod val="50000"/>
                  </a:schemeClr>
                </a:solidFill>
              </a:rPr>
              <a:t>well</a:t>
            </a:r>
            <a:r>
              <a:rPr lang="pt-PT" sz="2400" b="1" dirty="0">
                <a:solidFill>
                  <a:schemeClr val="accent6">
                    <a:lumMod val="50000"/>
                  </a:schemeClr>
                </a:solidFill>
              </a:rPr>
              <a:t> </a:t>
            </a:r>
            <a:r>
              <a:rPr lang="pt-PT" sz="2400" b="1" dirty="0" err="1">
                <a:solidFill>
                  <a:schemeClr val="accent6">
                    <a:lumMod val="50000"/>
                  </a:schemeClr>
                </a:solidFill>
              </a:rPr>
              <a:t>on</a:t>
            </a:r>
            <a:r>
              <a:rPr lang="pt-PT" sz="2400" b="1" dirty="0">
                <a:solidFill>
                  <a:schemeClr val="accent6">
                    <a:lumMod val="50000"/>
                  </a:schemeClr>
                </a:solidFill>
              </a:rPr>
              <a:t> </a:t>
            </a:r>
            <a:r>
              <a:rPr lang="pt-PT" sz="2400" b="1" dirty="0" err="1">
                <a:solidFill>
                  <a:schemeClr val="accent6">
                    <a:lumMod val="50000"/>
                  </a:schemeClr>
                </a:solidFill>
              </a:rPr>
              <a:t>these</a:t>
            </a:r>
            <a:r>
              <a:rPr lang="pt-PT" sz="2400" b="1" dirty="0">
                <a:solidFill>
                  <a:schemeClr val="accent6">
                    <a:lumMod val="50000"/>
                  </a:schemeClr>
                </a:solidFill>
              </a:rPr>
              <a:t> </a:t>
            </a:r>
            <a:r>
              <a:rPr lang="pt-PT" sz="2400" b="1" dirty="0" err="1">
                <a:solidFill>
                  <a:schemeClr val="accent6">
                    <a:lumMod val="50000"/>
                  </a:schemeClr>
                </a:solidFill>
              </a:rPr>
              <a:t>problems</a:t>
            </a:r>
            <a:r>
              <a:rPr lang="pt-PT" sz="2400" b="1" dirty="0">
                <a:solidFill>
                  <a:schemeClr val="accent6">
                    <a:lumMod val="50000"/>
                  </a:schemeClr>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9">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39">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39">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39">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b="1" dirty="0" err="1">
                <a:solidFill>
                  <a:srgbClr val="C00000"/>
                </a:solidFill>
              </a:rPr>
              <a:t>Intro</a:t>
            </a:r>
            <a:r>
              <a:rPr lang="pt-PT" sz="2800" dirty="0" err="1">
                <a:solidFill>
                  <a:schemeClr val="bg1">
                    <a:lumMod val="50000"/>
                  </a:schemeClr>
                </a:solidFill>
              </a:rPr>
              <a:t>|Models|Processing|Tools|R|Case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14339" name="Text Box 3"/>
          <p:cNvSpPr txBox="1">
            <a:spLocks noChangeArrowheads="1"/>
          </p:cNvSpPr>
          <p:nvPr/>
        </p:nvSpPr>
        <p:spPr bwMode="auto">
          <a:xfrm>
            <a:off x="250825" y="692150"/>
            <a:ext cx="8642350" cy="2931572"/>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From</a:t>
            </a:r>
            <a:r>
              <a:rPr lang="pt-PT" b="1" u="sng" cap="all" dirty="0">
                <a:solidFill>
                  <a:schemeClr val="accent6"/>
                </a:solidFill>
              </a:rPr>
              <a:t> </a:t>
            </a:r>
            <a:r>
              <a:rPr lang="pt-PT" b="1" u="sng" cap="all" dirty="0" err="1">
                <a:solidFill>
                  <a:schemeClr val="accent6"/>
                </a:solidFill>
              </a:rPr>
              <a:t>text</a:t>
            </a:r>
            <a:r>
              <a:rPr lang="pt-PT" b="1" u="sng" cap="all" dirty="0">
                <a:solidFill>
                  <a:schemeClr val="accent6"/>
                </a:solidFill>
              </a:rPr>
              <a:t> to </a:t>
            </a:r>
            <a:r>
              <a:rPr lang="pt-PT" b="1" u="sng" cap="all" dirty="0" err="1">
                <a:solidFill>
                  <a:schemeClr val="accent6"/>
                </a:solidFill>
              </a:rPr>
              <a:t>numbers</a:t>
            </a:r>
            <a:endParaRPr lang="pt-PT" u="sng" cap="all" dirty="0">
              <a:solidFill>
                <a:schemeClr val="accent6"/>
              </a:solidFill>
            </a:endParaRPr>
          </a:p>
          <a:p>
            <a:pPr marL="546100" indent="-342900">
              <a:lnSpc>
                <a:spcPct val="150000"/>
              </a:lnSpc>
              <a:spcBef>
                <a:spcPct val="25000"/>
              </a:spcBef>
            </a:pPr>
            <a:r>
              <a:rPr lang="pt-PT" dirty="0" err="1">
                <a:solidFill>
                  <a:schemeClr val="accent6"/>
                </a:solidFill>
              </a:rPr>
              <a:t>Each</a:t>
            </a:r>
            <a:r>
              <a:rPr lang="pt-PT" dirty="0">
                <a:solidFill>
                  <a:schemeClr val="accent6"/>
                </a:solidFill>
              </a:rPr>
              <a:t> </a:t>
            </a:r>
            <a:r>
              <a:rPr lang="pt-PT" dirty="0" err="1">
                <a:solidFill>
                  <a:schemeClr val="accent6"/>
                </a:solidFill>
              </a:rPr>
              <a:t>word</a:t>
            </a:r>
            <a:r>
              <a:rPr lang="pt-PT" dirty="0">
                <a:solidFill>
                  <a:schemeClr val="accent6"/>
                </a:solidFill>
              </a:rPr>
              <a:t> </a:t>
            </a:r>
            <a:r>
              <a:rPr lang="pt-PT" dirty="0" err="1">
                <a:solidFill>
                  <a:schemeClr val="accent6"/>
                </a:solidFill>
              </a:rPr>
              <a:t>is</a:t>
            </a:r>
            <a:r>
              <a:rPr lang="pt-PT" dirty="0">
                <a:solidFill>
                  <a:schemeClr val="accent6"/>
                </a:solidFill>
              </a:rPr>
              <a:t> a </a:t>
            </a:r>
            <a:r>
              <a:rPr lang="pt-PT" dirty="0" err="1">
                <a:solidFill>
                  <a:schemeClr val="accent6"/>
                </a:solidFill>
              </a:rPr>
              <a:t>descriptive</a:t>
            </a:r>
            <a:r>
              <a:rPr lang="pt-PT" dirty="0">
                <a:solidFill>
                  <a:schemeClr val="accent6"/>
                </a:solidFill>
              </a:rPr>
              <a:t> </a:t>
            </a:r>
            <a:r>
              <a:rPr lang="pt-PT" dirty="0" err="1">
                <a:solidFill>
                  <a:schemeClr val="accent6"/>
                </a:solidFill>
              </a:rPr>
              <a:t>attribute</a:t>
            </a:r>
            <a:endParaRPr lang="pt-PT" dirty="0">
              <a:solidFill>
                <a:schemeClr val="accent6"/>
              </a:solidFill>
            </a:endParaRPr>
          </a:p>
          <a:p>
            <a:pPr marL="546100" indent="-342900">
              <a:lnSpc>
                <a:spcPct val="150000"/>
              </a:lnSpc>
              <a:spcBef>
                <a:spcPct val="25000"/>
              </a:spcBef>
            </a:pPr>
            <a:r>
              <a:rPr lang="pt-PT" dirty="0">
                <a:solidFill>
                  <a:schemeClr val="accent6"/>
                </a:solidFill>
              </a:rPr>
              <a:t>Word </a:t>
            </a:r>
            <a:r>
              <a:rPr lang="pt-PT" dirty="0" err="1">
                <a:solidFill>
                  <a:schemeClr val="accent6"/>
                </a:solidFill>
              </a:rPr>
              <a:t>frequency</a:t>
            </a:r>
            <a:endParaRPr lang="pt-PT" dirty="0">
              <a:solidFill>
                <a:schemeClr val="accent6"/>
              </a:solidFill>
            </a:endParaRPr>
          </a:p>
          <a:p>
            <a:pPr marL="546100" indent="-342900">
              <a:lnSpc>
                <a:spcPct val="150000"/>
              </a:lnSpc>
              <a:spcBef>
                <a:spcPct val="25000"/>
              </a:spcBef>
            </a:pPr>
            <a:endParaRPr lang="pt-PT" dirty="0">
              <a:solidFill>
                <a:schemeClr val="accent6"/>
              </a:solidFill>
            </a:endParaRPr>
          </a:p>
          <a:p>
            <a:pPr marL="546100" indent="-342900">
              <a:lnSpc>
                <a:spcPct val="150000"/>
              </a:lnSpc>
              <a:spcBef>
                <a:spcPct val="25000"/>
              </a:spcBef>
            </a:pPr>
            <a:r>
              <a:rPr lang="pt-PT" dirty="0" err="1">
                <a:solidFill>
                  <a:schemeClr val="accent6"/>
                </a:solidFill>
              </a:rPr>
              <a:t>Sparse</a:t>
            </a:r>
            <a:r>
              <a:rPr lang="pt-PT" dirty="0">
                <a:solidFill>
                  <a:schemeClr val="accent6"/>
                </a:solidFill>
              </a:rPr>
              <a:t> </a:t>
            </a:r>
            <a:r>
              <a:rPr lang="pt-PT" dirty="0" err="1">
                <a:solidFill>
                  <a:schemeClr val="accent6"/>
                </a:solidFill>
              </a:rPr>
              <a:t>matrices</a:t>
            </a:r>
            <a:endParaRPr lang="pt-PT" dirty="0">
              <a:solidFill>
                <a:schemeClr val="accent6"/>
              </a:solidFill>
            </a:endParaRPr>
          </a:p>
          <a:p>
            <a:pPr marL="546100" indent="-342900">
              <a:lnSpc>
                <a:spcPct val="150000"/>
              </a:lnSpc>
              <a:spcBef>
                <a:spcPct val="25000"/>
              </a:spcBef>
            </a:pPr>
            <a:r>
              <a:rPr lang="pt-PT" dirty="0">
                <a:solidFill>
                  <a:schemeClr val="accent6"/>
                </a:solidFill>
              </a:rPr>
              <a:t>High number of attributes </a:t>
            </a:r>
            <a:r>
              <a:rPr lang="pt-PT" sz="1400" dirty="0">
                <a:solidFill>
                  <a:schemeClr val="accent6"/>
                </a:solidFill>
              </a:rPr>
              <a:t>(easily reach 10</a:t>
            </a:r>
            <a:r>
              <a:rPr lang="pt-PT" sz="1400" baseline="30000" dirty="0">
                <a:solidFill>
                  <a:schemeClr val="accent6"/>
                </a:solidFill>
              </a:rPr>
              <a:t>3</a:t>
            </a:r>
            <a:r>
              <a:rPr lang="pt-PT" sz="1400" dirty="0">
                <a:solidFill>
                  <a:schemeClr val="accent6"/>
                </a:solidFill>
              </a:rPr>
              <a:t> - 10</a:t>
            </a:r>
            <a:r>
              <a:rPr lang="pt-PT" sz="1400" baseline="30000" dirty="0">
                <a:solidFill>
                  <a:schemeClr val="accent6"/>
                </a:solidFill>
              </a:rPr>
              <a:t>5</a:t>
            </a:r>
            <a:r>
              <a:rPr lang="pt-PT" sz="1400" dirty="0">
                <a:solidFill>
                  <a:schemeClr val="accent6"/>
                </a:solidFill>
              </a:rPr>
              <a:t>)</a:t>
            </a:r>
          </a:p>
        </p:txBody>
      </p:sp>
      <p:sp>
        <p:nvSpPr>
          <p:cNvPr id="7" name="Rectangle 6"/>
          <p:cNvSpPr/>
          <p:nvPr/>
        </p:nvSpPr>
        <p:spPr>
          <a:xfrm>
            <a:off x="2565648" y="1638511"/>
            <a:ext cx="2592288"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solidFill>
                  <a:schemeClr val="accent6">
                    <a:lumMod val="50000"/>
                  </a:schemeClr>
                </a:solidFill>
              </a:rPr>
              <a:t>To </a:t>
            </a:r>
            <a:r>
              <a:rPr lang="pt-PT" dirty="0" err="1">
                <a:solidFill>
                  <a:schemeClr val="accent6">
                    <a:lumMod val="50000"/>
                  </a:schemeClr>
                </a:solidFill>
              </a:rPr>
              <a:t>be</a:t>
            </a:r>
            <a:r>
              <a:rPr lang="pt-PT" dirty="0">
                <a:solidFill>
                  <a:schemeClr val="accent6">
                    <a:lumMod val="50000"/>
                  </a:schemeClr>
                </a:solidFill>
              </a:rPr>
              <a:t> </a:t>
            </a:r>
            <a:r>
              <a:rPr lang="pt-PT" dirty="0" err="1">
                <a:solidFill>
                  <a:schemeClr val="accent6">
                    <a:lumMod val="50000"/>
                  </a:schemeClr>
                </a:solidFill>
              </a:rPr>
              <a:t>or</a:t>
            </a:r>
            <a:r>
              <a:rPr lang="pt-PT" dirty="0">
                <a:solidFill>
                  <a:schemeClr val="accent6">
                    <a:lumMod val="50000"/>
                  </a:schemeClr>
                </a:solidFill>
              </a:rPr>
              <a:t> </a:t>
            </a:r>
            <a:r>
              <a:rPr lang="pt-PT" dirty="0" err="1">
                <a:solidFill>
                  <a:schemeClr val="accent6">
                    <a:lumMod val="50000"/>
                  </a:schemeClr>
                </a:solidFill>
              </a:rPr>
              <a:t>not</a:t>
            </a:r>
            <a:r>
              <a:rPr lang="pt-PT" dirty="0">
                <a:solidFill>
                  <a:schemeClr val="accent6">
                    <a:lumMod val="50000"/>
                  </a:schemeClr>
                </a:solidFill>
              </a:rPr>
              <a:t> to </a:t>
            </a:r>
            <a:r>
              <a:rPr lang="pt-PT" dirty="0" err="1">
                <a:solidFill>
                  <a:schemeClr val="accent6">
                    <a:lumMod val="50000"/>
                  </a:schemeClr>
                </a:solidFill>
              </a:rPr>
              <a:t>be</a:t>
            </a:r>
            <a:endParaRPr lang="pt-PT" dirty="0">
              <a:solidFill>
                <a:schemeClr val="accent6">
                  <a:lumMod val="50000"/>
                </a:schemeClr>
              </a:solidFill>
            </a:endParaRPr>
          </a:p>
        </p:txBody>
      </p:sp>
      <p:graphicFrame>
        <p:nvGraphicFramePr>
          <p:cNvPr id="8" name="Table 7"/>
          <p:cNvGraphicFramePr>
            <a:graphicFrameLocks noGrp="1"/>
          </p:cNvGraphicFramePr>
          <p:nvPr/>
        </p:nvGraphicFramePr>
        <p:xfrm>
          <a:off x="6238056" y="1576214"/>
          <a:ext cx="2438400" cy="62865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190500">
                <a:tc>
                  <a:txBody>
                    <a:bodyPr/>
                    <a:lstStyle/>
                    <a:p>
                      <a:pPr algn="ctr" fontAlgn="b"/>
                      <a:r>
                        <a:rPr lang="pt-PT" sz="2000" b="0" i="0" u="none" strike="noStrike" dirty="0" err="1">
                          <a:solidFill>
                            <a:schemeClr val="accent6">
                              <a:lumMod val="50000"/>
                            </a:schemeClr>
                          </a:solidFill>
                          <a:latin typeface="Calibri"/>
                        </a:rPr>
                        <a:t>be</a:t>
                      </a:r>
                      <a:endParaRPr lang="pt-PT" sz="2000" b="0" i="0" u="none" strike="noStrike" dirty="0">
                        <a:solidFill>
                          <a:schemeClr val="accent6">
                            <a:lumMod val="50000"/>
                          </a:schemeClr>
                        </a:solidFill>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2000" b="0" i="0" u="none" strike="noStrike" dirty="0" err="1">
                          <a:solidFill>
                            <a:schemeClr val="accent6">
                              <a:lumMod val="50000"/>
                            </a:schemeClr>
                          </a:solidFill>
                          <a:latin typeface="Calibri"/>
                        </a:rPr>
                        <a:t>or</a:t>
                      </a:r>
                      <a:endParaRPr lang="pt-PT" sz="2000" b="0" i="0" u="none" strike="noStrike" dirty="0">
                        <a:solidFill>
                          <a:schemeClr val="accent6">
                            <a:lumMod val="50000"/>
                          </a:schemeClr>
                        </a:solidFill>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2000" b="0" i="0" u="none" strike="noStrike" dirty="0" err="1">
                          <a:solidFill>
                            <a:schemeClr val="accent6">
                              <a:lumMod val="50000"/>
                            </a:schemeClr>
                          </a:solidFill>
                          <a:latin typeface="Calibri"/>
                        </a:rPr>
                        <a:t>not</a:t>
                      </a:r>
                      <a:endParaRPr lang="pt-PT" sz="2000" b="0" i="0" u="none" strike="noStrike" dirty="0">
                        <a:solidFill>
                          <a:schemeClr val="accent6">
                            <a:lumMod val="50000"/>
                          </a:schemeClr>
                        </a:solidFill>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2000" b="0" i="0" u="none" strike="noStrike" dirty="0">
                          <a:solidFill>
                            <a:schemeClr val="accent6">
                              <a:lumMod val="50000"/>
                            </a:schemeClr>
                          </a:solidFill>
                          <a:latin typeface="Calibri"/>
                        </a:rPr>
                        <a:t>to</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0"/>
                  </a:ext>
                </a:extLst>
              </a:tr>
              <a:tr h="190500">
                <a:tc>
                  <a:txBody>
                    <a:bodyPr/>
                    <a:lstStyle/>
                    <a:p>
                      <a:pPr algn="ctr" fontAlgn="b"/>
                      <a:r>
                        <a:rPr lang="pt-PT" sz="2000" b="0" i="0" u="none" strike="noStrike">
                          <a:solidFill>
                            <a:schemeClr val="accent6">
                              <a:lumMod val="50000"/>
                            </a:schemeClr>
                          </a:solidFill>
                          <a:latin typeface="Calibri"/>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2000" b="0" i="0" u="none" strike="noStrike">
                          <a:solidFill>
                            <a:schemeClr val="accent6">
                              <a:lumMod val="50000"/>
                            </a:schemeClr>
                          </a:solidFill>
                          <a:latin typeface="Calibri"/>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2000" b="0" i="0" u="none" strike="noStrike">
                          <a:solidFill>
                            <a:schemeClr val="accent6">
                              <a:lumMod val="50000"/>
                            </a:schemeClr>
                          </a:solidFill>
                          <a:latin typeface="Calibri"/>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2000" b="0" i="0" u="none" strike="noStrike" dirty="0">
                          <a:solidFill>
                            <a:schemeClr val="accent6">
                              <a:lumMod val="50000"/>
                            </a:schemeClr>
                          </a:solidFill>
                          <a:latin typeface="Calibri"/>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1"/>
                  </a:ext>
                </a:extLst>
              </a:tr>
            </a:tbl>
          </a:graphicData>
        </a:graphic>
      </p:graphicFrame>
      <p:sp>
        <p:nvSpPr>
          <p:cNvPr id="9" name="Right Arrow 8"/>
          <p:cNvSpPr/>
          <p:nvPr/>
        </p:nvSpPr>
        <p:spPr>
          <a:xfrm>
            <a:off x="5373960" y="1782527"/>
            <a:ext cx="720080" cy="216024"/>
          </a:xfrm>
          <a:prstGeom prst="right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10" name="Picture 9" descr="tfidf.png"/>
          <p:cNvPicPr>
            <a:picLocks noChangeAspect="1"/>
          </p:cNvPicPr>
          <p:nvPr/>
        </p:nvPicPr>
        <p:blipFill>
          <a:blip r:embed="rId2" cstate="print"/>
          <a:stretch>
            <a:fillRect/>
          </a:stretch>
        </p:blipFill>
        <p:spPr>
          <a:xfrm>
            <a:off x="0" y="3789040"/>
            <a:ext cx="9144000" cy="3100129"/>
          </a:xfrm>
          <a:prstGeom prst="rect">
            <a:avLst/>
          </a:prstGeom>
          <a:ln>
            <a:solidFill>
              <a:schemeClr val="accent6">
                <a:lumMod val="75000"/>
              </a:schemeClr>
            </a:solidFill>
          </a:ln>
        </p:spPr>
      </p:pic>
      <p:pic>
        <p:nvPicPr>
          <p:cNvPr id="11" name="Picture 10" descr="iris.png"/>
          <p:cNvPicPr>
            <a:picLocks noChangeAspect="1"/>
          </p:cNvPicPr>
          <p:nvPr/>
        </p:nvPicPr>
        <p:blipFill>
          <a:blip r:embed="rId3" cstate="print"/>
          <a:stretch>
            <a:fillRect/>
          </a:stretch>
        </p:blipFill>
        <p:spPr>
          <a:xfrm>
            <a:off x="5004048" y="476672"/>
            <a:ext cx="4114800" cy="3209925"/>
          </a:xfrm>
          <a:prstGeom prst="rect">
            <a:avLst/>
          </a:prstGeom>
          <a:ln>
            <a:solidFill>
              <a:schemeClr val="accent6">
                <a:lumMod val="75000"/>
              </a:schemeClr>
            </a:solidFill>
          </a:ln>
        </p:spPr>
      </p:pic>
      <p:sp>
        <p:nvSpPr>
          <p:cNvPr id="13" name="Oval 12"/>
          <p:cNvSpPr/>
          <p:nvPr/>
        </p:nvSpPr>
        <p:spPr>
          <a:xfrm>
            <a:off x="611560" y="5013176"/>
            <a:ext cx="288032" cy="360040"/>
          </a:xfrm>
          <a:prstGeom prst="ellipse">
            <a:avLst/>
          </a:prstGeom>
          <a:solidFill>
            <a:srgbClr val="FFFF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Oval 14"/>
          <p:cNvSpPr/>
          <p:nvPr/>
        </p:nvSpPr>
        <p:spPr>
          <a:xfrm>
            <a:off x="4644008" y="5013176"/>
            <a:ext cx="288032" cy="360040"/>
          </a:xfrm>
          <a:prstGeom prst="ellipse">
            <a:avLst/>
          </a:prstGeom>
          <a:solidFill>
            <a:srgbClr val="FFFF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7"/>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dissolv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3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P spid="13"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b="1" dirty="0" err="1">
                <a:solidFill>
                  <a:srgbClr val="C00000"/>
                </a:solidFill>
              </a:rPr>
              <a:t>Intro</a:t>
            </a:r>
            <a:r>
              <a:rPr lang="pt-PT" sz="2800" dirty="0" err="1">
                <a:solidFill>
                  <a:schemeClr val="bg1">
                    <a:lumMod val="50000"/>
                  </a:schemeClr>
                </a:solidFill>
              </a:rPr>
              <a:t>|Models|Processing|Tools|R|Case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14339" name="Text Box 3"/>
          <p:cNvSpPr txBox="1">
            <a:spLocks noChangeArrowheads="1"/>
          </p:cNvSpPr>
          <p:nvPr/>
        </p:nvSpPr>
        <p:spPr bwMode="auto">
          <a:xfrm>
            <a:off x="250825" y="692150"/>
            <a:ext cx="8642350" cy="2446824"/>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Applications</a:t>
            </a:r>
            <a:endParaRPr lang="pt-PT" b="1" u="sng" cap="all" dirty="0">
              <a:solidFill>
                <a:schemeClr val="accent6"/>
              </a:solidFill>
            </a:endParaRPr>
          </a:p>
          <a:p>
            <a:pPr marL="546100" indent="-342900">
              <a:lnSpc>
                <a:spcPct val="150000"/>
              </a:lnSpc>
              <a:spcBef>
                <a:spcPct val="25000"/>
              </a:spcBef>
            </a:pPr>
            <a:r>
              <a:rPr lang="pt-PT" dirty="0">
                <a:solidFill>
                  <a:schemeClr val="accent6"/>
                </a:solidFill>
              </a:rPr>
              <a:t>- </a:t>
            </a:r>
            <a:r>
              <a:rPr lang="pt-PT" dirty="0" err="1">
                <a:solidFill>
                  <a:schemeClr val="accent6"/>
                </a:solidFill>
              </a:rPr>
              <a:t>Document</a:t>
            </a:r>
            <a:r>
              <a:rPr lang="pt-PT" dirty="0">
                <a:solidFill>
                  <a:schemeClr val="accent6"/>
                </a:solidFill>
              </a:rPr>
              <a:t> </a:t>
            </a:r>
            <a:r>
              <a:rPr lang="pt-PT" dirty="0" err="1">
                <a:solidFill>
                  <a:schemeClr val="accent6"/>
                </a:solidFill>
              </a:rPr>
              <a:t>classification</a:t>
            </a:r>
            <a:r>
              <a:rPr lang="pt-PT" dirty="0">
                <a:solidFill>
                  <a:schemeClr val="accent6"/>
                </a:solidFill>
              </a:rPr>
              <a:t> (</a:t>
            </a:r>
            <a:r>
              <a:rPr lang="pt-PT" dirty="0" err="1">
                <a:solidFill>
                  <a:schemeClr val="accent6"/>
                </a:solidFill>
              </a:rPr>
              <a:t>text</a:t>
            </a:r>
            <a:r>
              <a:rPr lang="pt-PT" dirty="0">
                <a:solidFill>
                  <a:schemeClr val="accent6"/>
                </a:solidFill>
              </a:rPr>
              <a:t> </a:t>
            </a:r>
            <a:r>
              <a:rPr lang="pt-PT" dirty="0" err="1">
                <a:solidFill>
                  <a:schemeClr val="accent6"/>
                </a:solidFill>
              </a:rPr>
              <a:t>categorization</a:t>
            </a:r>
            <a:r>
              <a:rPr lang="pt-PT" dirty="0">
                <a:solidFill>
                  <a:schemeClr val="accent6"/>
                </a:solidFill>
              </a:rPr>
              <a:t>)</a:t>
            </a:r>
          </a:p>
          <a:p>
            <a:pPr marL="546100" indent="-342900">
              <a:lnSpc>
                <a:spcPct val="150000"/>
              </a:lnSpc>
              <a:spcBef>
                <a:spcPct val="25000"/>
              </a:spcBef>
            </a:pPr>
            <a:r>
              <a:rPr lang="pt-PT" dirty="0">
                <a:solidFill>
                  <a:schemeClr val="accent6"/>
                </a:solidFill>
              </a:rPr>
              <a:t>- </a:t>
            </a:r>
            <a:r>
              <a:rPr lang="pt-PT" dirty="0" err="1">
                <a:solidFill>
                  <a:schemeClr val="accent6"/>
                </a:solidFill>
              </a:rPr>
              <a:t>Clustering</a:t>
            </a:r>
            <a:r>
              <a:rPr lang="pt-PT" dirty="0">
                <a:solidFill>
                  <a:schemeClr val="accent6"/>
                </a:solidFill>
              </a:rPr>
              <a:t> and </a:t>
            </a:r>
            <a:r>
              <a:rPr lang="pt-PT" dirty="0" err="1">
                <a:solidFill>
                  <a:schemeClr val="accent6"/>
                </a:solidFill>
              </a:rPr>
              <a:t>organizing</a:t>
            </a:r>
            <a:r>
              <a:rPr lang="pt-PT" dirty="0">
                <a:solidFill>
                  <a:schemeClr val="accent6"/>
                </a:solidFill>
              </a:rPr>
              <a:t> a </a:t>
            </a:r>
            <a:r>
              <a:rPr lang="pt-PT" dirty="0" err="1">
                <a:solidFill>
                  <a:schemeClr val="accent6"/>
                </a:solidFill>
              </a:rPr>
              <a:t>collection</a:t>
            </a:r>
            <a:r>
              <a:rPr lang="pt-PT" dirty="0">
                <a:solidFill>
                  <a:schemeClr val="accent6"/>
                </a:solidFill>
              </a:rPr>
              <a:t> of </a:t>
            </a:r>
            <a:r>
              <a:rPr lang="pt-PT" dirty="0" err="1">
                <a:solidFill>
                  <a:schemeClr val="accent6"/>
                </a:solidFill>
              </a:rPr>
              <a:t>documents</a:t>
            </a:r>
            <a:r>
              <a:rPr lang="pt-PT" dirty="0">
                <a:solidFill>
                  <a:schemeClr val="accent6"/>
                </a:solidFill>
              </a:rPr>
              <a:t> (corpus)</a:t>
            </a:r>
          </a:p>
          <a:p>
            <a:pPr marL="546100" indent="-342900">
              <a:lnSpc>
                <a:spcPct val="150000"/>
              </a:lnSpc>
              <a:spcBef>
                <a:spcPct val="25000"/>
              </a:spcBef>
            </a:pPr>
            <a:r>
              <a:rPr lang="pt-PT" dirty="0">
                <a:solidFill>
                  <a:schemeClr val="accent6"/>
                </a:solidFill>
              </a:rPr>
              <a:t>- </a:t>
            </a:r>
            <a:r>
              <a:rPr lang="pt-PT" dirty="0" err="1">
                <a:solidFill>
                  <a:schemeClr val="accent6"/>
                </a:solidFill>
              </a:rPr>
              <a:t>Information</a:t>
            </a:r>
            <a:r>
              <a:rPr lang="pt-PT" dirty="0">
                <a:solidFill>
                  <a:schemeClr val="accent6"/>
                </a:solidFill>
              </a:rPr>
              <a:t> </a:t>
            </a:r>
            <a:r>
              <a:rPr lang="pt-PT" dirty="0" err="1">
                <a:solidFill>
                  <a:schemeClr val="accent6"/>
                </a:solidFill>
              </a:rPr>
              <a:t>retrieval</a:t>
            </a:r>
            <a:r>
              <a:rPr lang="pt-PT" dirty="0">
                <a:solidFill>
                  <a:schemeClr val="accent6"/>
                </a:solidFill>
              </a:rPr>
              <a:t> (</a:t>
            </a:r>
            <a:r>
              <a:rPr lang="pt-PT" dirty="0" err="1">
                <a:solidFill>
                  <a:schemeClr val="accent6"/>
                </a:solidFill>
              </a:rPr>
              <a:t>document</a:t>
            </a:r>
            <a:r>
              <a:rPr lang="pt-PT" dirty="0">
                <a:solidFill>
                  <a:schemeClr val="accent6"/>
                </a:solidFill>
              </a:rPr>
              <a:t> </a:t>
            </a:r>
            <a:r>
              <a:rPr lang="pt-PT" dirty="0" err="1">
                <a:solidFill>
                  <a:schemeClr val="accent6"/>
                </a:solidFill>
              </a:rPr>
              <a:t>matching</a:t>
            </a:r>
            <a:r>
              <a:rPr lang="pt-PT" dirty="0">
                <a:solidFill>
                  <a:schemeClr val="accent6"/>
                </a:solidFill>
              </a:rPr>
              <a:t>, </a:t>
            </a:r>
            <a:r>
              <a:rPr lang="pt-PT" dirty="0" err="1">
                <a:solidFill>
                  <a:schemeClr val="accent6"/>
                </a:solidFill>
              </a:rPr>
              <a:t>search</a:t>
            </a:r>
            <a:r>
              <a:rPr lang="pt-PT" dirty="0">
                <a:solidFill>
                  <a:schemeClr val="accent6"/>
                </a:solidFill>
              </a:rPr>
              <a:t> </a:t>
            </a:r>
            <a:r>
              <a:rPr lang="pt-PT" dirty="0" err="1">
                <a:solidFill>
                  <a:schemeClr val="accent6"/>
                </a:solidFill>
              </a:rPr>
              <a:t>engines</a:t>
            </a:r>
            <a:r>
              <a:rPr lang="pt-PT" dirty="0">
                <a:solidFill>
                  <a:schemeClr val="accent6"/>
                </a:solidFill>
              </a:rPr>
              <a:t>, </a:t>
            </a:r>
            <a:r>
              <a:rPr lang="pt-PT" dirty="0" err="1">
                <a:solidFill>
                  <a:schemeClr val="accent6"/>
                </a:solidFill>
              </a:rPr>
              <a:t>document</a:t>
            </a:r>
            <a:r>
              <a:rPr lang="pt-PT" dirty="0">
                <a:solidFill>
                  <a:schemeClr val="accent6"/>
                </a:solidFill>
              </a:rPr>
              <a:t> </a:t>
            </a:r>
            <a:r>
              <a:rPr lang="pt-PT" dirty="0" err="1">
                <a:solidFill>
                  <a:schemeClr val="accent6"/>
                </a:solidFill>
              </a:rPr>
              <a:t>similarity</a:t>
            </a:r>
            <a:r>
              <a:rPr lang="pt-PT" dirty="0">
                <a:solidFill>
                  <a:schemeClr val="accent6"/>
                </a:solidFill>
              </a:rPr>
              <a:t>)</a:t>
            </a:r>
          </a:p>
          <a:p>
            <a:pPr marL="546100" indent="-342900">
              <a:lnSpc>
                <a:spcPct val="150000"/>
              </a:lnSpc>
              <a:spcBef>
                <a:spcPct val="25000"/>
              </a:spcBef>
            </a:pPr>
            <a:r>
              <a:rPr lang="pt-PT" dirty="0">
                <a:solidFill>
                  <a:schemeClr val="accent6"/>
                </a:solidFill>
              </a:rPr>
              <a:t>- Information extraction (NER, </a:t>
            </a:r>
            <a:r>
              <a:rPr lang="pt-PT" dirty="0" err="1">
                <a:solidFill>
                  <a:schemeClr val="accent6"/>
                </a:solidFill>
              </a:rPr>
              <a:t>summarization</a:t>
            </a:r>
            <a:r>
              <a:rPr lang="pt-PT" dirty="0">
                <a:solidFill>
                  <a:schemeClr val="accent6"/>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p:cNvSpPr>
            <a:spLocks noChangeArrowheads="1"/>
          </p:cNvSpPr>
          <p:nvPr/>
        </p:nvSpPr>
        <p:spPr bwMode="auto">
          <a:xfrm>
            <a:off x="1403648" y="1412776"/>
            <a:ext cx="7560394" cy="4216539"/>
          </a:xfrm>
          <a:prstGeom prst="rect">
            <a:avLst/>
          </a:prstGeom>
          <a:noFill/>
          <a:ln w="9525">
            <a:noFill/>
            <a:miter lim="800000"/>
            <a:headEnd/>
            <a:tailEnd/>
          </a:ln>
        </p:spPr>
        <p:txBody>
          <a:bodyPr wrap="square">
            <a:spAutoFit/>
          </a:bodyPr>
          <a:lstStyle/>
          <a:p>
            <a:endParaRPr lang="pt-PT" sz="3200" b="1" dirty="0">
              <a:solidFill>
                <a:srgbClr val="002060"/>
              </a:solidFill>
            </a:endParaRPr>
          </a:p>
          <a:p>
            <a:endParaRPr lang="pt-PT" sz="3200" b="1" dirty="0">
              <a:solidFill>
                <a:srgbClr val="002060"/>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r>
              <a:rPr lang="pt-PT" sz="3200" b="1" dirty="0">
                <a:solidFill>
                  <a:schemeClr val="tx1">
                    <a:lumMod val="65000"/>
                    <a:lumOff val="35000"/>
                  </a:schemeClr>
                </a:solidFill>
              </a:rPr>
              <a:t>TEXT MODELING</a:t>
            </a:r>
          </a:p>
          <a:p>
            <a:endParaRPr lang="pt-PT" sz="2600" b="1" i="1" dirty="0">
              <a:solidFill>
                <a:schemeClr val="tx1">
                  <a:lumMod val="65000"/>
                  <a:lumOff val="35000"/>
                </a:schemeClr>
              </a:solidFill>
            </a:endParaRPr>
          </a:p>
          <a:p>
            <a:r>
              <a:rPr lang="pt-PT" dirty="0">
                <a:solidFill>
                  <a:schemeClr val="tx1">
                    <a:lumMod val="65000"/>
                    <a:lumOff val="35000"/>
                  </a:schemeClr>
                </a:solidFill>
              </a:rPr>
              <a:t>				</a:t>
            </a:r>
          </a:p>
        </p:txBody>
      </p:sp>
      <p:pic>
        <p:nvPicPr>
          <p:cNvPr id="17410" name="Picture 2" descr="http://mediatemetrics.files.wordpress.com/2012/01/text-mining.jpg?w=216&amp;h=100&amp;crop=1"/>
          <p:cNvPicPr>
            <a:picLocks noChangeAspect="1" noChangeArrowheads="1"/>
          </p:cNvPicPr>
          <p:nvPr/>
        </p:nvPicPr>
        <p:blipFill>
          <a:blip r:embed="rId2" cstate="print"/>
          <a:srcRect/>
          <a:stretch>
            <a:fillRect/>
          </a:stretch>
        </p:blipFill>
        <p:spPr bwMode="auto">
          <a:xfrm>
            <a:off x="1475656" y="1268760"/>
            <a:ext cx="3816424" cy="176686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a:t>
            </a:r>
            <a:r>
              <a:rPr lang="pt-PT" sz="2800" b="1" dirty="0" err="1">
                <a:solidFill>
                  <a:srgbClr val="C00000"/>
                </a:solidFill>
              </a:rPr>
              <a:t>Models</a:t>
            </a:r>
            <a:r>
              <a:rPr lang="pt-PT" sz="2800" dirty="0" err="1">
                <a:solidFill>
                  <a:schemeClr val="bg1">
                    <a:lumMod val="50000"/>
                  </a:schemeClr>
                </a:solidFill>
              </a:rPr>
              <a:t>|Processing|Tools|R|Case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4154984"/>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Bag</a:t>
            </a:r>
            <a:r>
              <a:rPr lang="pt-PT" b="1" u="sng" cap="all" dirty="0">
                <a:solidFill>
                  <a:schemeClr val="accent6"/>
                </a:solidFill>
              </a:rPr>
              <a:t>-of-</a:t>
            </a:r>
            <a:r>
              <a:rPr lang="pt-PT" b="1" u="sng" cap="all" dirty="0" err="1">
                <a:solidFill>
                  <a:schemeClr val="accent6"/>
                </a:solidFill>
              </a:rPr>
              <a:t>word</a:t>
            </a:r>
            <a:r>
              <a:rPr lang="pt-PT" b="1" u="sng" cap="all" dirty="0">
                <a:solidFill>
                  <a:schemeClr val="accent6"/>
                </a:solidFill>
              </a:rPr>
              <a:t> </a:t>
            </a:r>
            <a:r>
              <a:rPr lang="pt-PT" b="1" u="sng" cap="all" dirty="0" err="1">
                <a:solidFill>
                  <a:schemeClr val="accent6"/>
                </a:solidFill>
              </a:rPr>
              <a:t>models</a:t>
            </a:r>
            <a:endParaRPr lang="pt-PT" b="1" u="sng" cap="all" dirty="0">
              <a:solidFill>
                <a:schemeClr val="accent6"/>
              </a:solidFill>
            </a:endParaRPr>
          </a:p>
          <a:p>
            <a:pPr marL="539750" lvl="1" indent="-342900">
              <a:lnSpc>
                <a:spcPct val="150000"/>
              </a:lnSpc>
              <a:spcBef>
                <a:spcPct val="25000"/>
              </a:spcBef>
            </a:pPr>
            <a:r>
              <a:rPr lang="pt-PT" dirty="0">
                <a:solidFill>
                  <a:schemeClr val="accent6"/>
                </a:solidFill>
              </a:rPr>
              <a:t>- </a:t>
            </a:r>
            <a:r>
              <a:rPr lang="pt-PT" b="1" dirty="0" err="1">
                <a:solidFill>
                  <a:schemeClr val="accent6"/>
                </a:solidFill>
              </a:rPr>
              <a:t>Boolean</a:t>
            </a:r>
            <a:endParaRPr lang="pt-PT" b="1" dirty="0">
              <a:solidFill>
                <a:schemeClr val="accent6"/>
              </a:solidFill>
            </a:endParaRPr>
          </a:p>
          <a:p>
            <a:pPr marL="539750" lvl="1" indent="-342900">
              <a:lnSpc>
                <a:spcPct val="150000"/>
              </a:lnSpc>
              <a:spcBef>
                <a:spcPct val="25000"/>
              </a:spcBef>
            </a:pPr>
            <a:r>
              <a:rPr lang="pt-PT" dirty="0">
                <a:solidFill>
                  <a:schemeClr val="accent6"/>
                </a:solidFill>
              </a:rPr>
              <a:t>- </a:t>
            </a:r>
            <a:r>
              <a:rPr lang="pt-PT" b="1" dirty="0" err="1">
                <a:solidFill>
                  <a:schemeClr val="accent6"/>
                </a:solidFill>
              </a:rPr>
              <a:t>Vector</a:t>
            </a:r>
            <a:r>
              <a:rPr lang="pt-PT" b="1" dirty="0">
                <a:solidFill>
                  <a:schemeClr val="accent6"/>
                </a:solidFill>
              </a:rPr>
              <a:t> </a:t>
            </a:r>
            <a:r>
              <a:rPr lang="pt-PT" b="1" dirty="0" err="1">
                <a:solidFill>
                  <a:schemeClr val="accent6"/>
                </a:solidFill>
              </a:rPr>
              <a:t>space</a:t>
            </a:r>
            <a:r>
              <a:rPr lang="pt-PT" dirty="0">
                <a:solidFill>
                  <a:schemeClr val="accent6"/>
                </a:solidFill>
              </a:rPr>
              <a:t> (assumes </a:t>
            </a:r>
            <a:r>
              <a:rPr lang="pt-PT" dirty="0" err="1">
                <a:solidFill>
                  <a:schemeClr val="accent6"/>
                </a:solidFill>
              </a:rPr>
              <a:t>independence</a:t>
            </a:r>
            <a:r>
              <a:rPr lang="pt-PT" dirty="0">
                <a:solidFill>
                  <a:schemeClr val="accent6"/>
                </a:solidFill>
              </a:rPr>
              <a:t> of </a:t>
            </a:r>
            <a:r>
              <a:rPr lang="pt-PT" dirty="0" err="1">
                <a:solidFill>
                  <a:schemeClr val="accent6"/>
                </a:solidFill>
              </a:rPr>
              <a:t>index</a:t>
            </a:r>
            <a:r>
              <a:rPr lang="pt-PT" dirty="0">
                <a:solidFill>
                  <a:schemeClr val="accent6"/>
                </a:solidFill>
              </a:rPr>
              <a:t> </a:t>
            </a:r>
            <a:r>
              <a:rPr lang="pt-PT" dirty="0" err="1">
                <a:solidFill>
                  <a:schemeClr val="accent6"/>
                </a:solidFill>
              </a:rPr>
              <a:t>terms</a:t>
            </a:r>
            <a:r>
              <a:rPr lang="pt-PT" dirty="0">
                <a:solidFill>
                  <a:schemeClr val="accent6"/>
                </a:solidFill>
              </a:rPr>
              <a:t>)</a:t>
            </a:r>
          </a:p>
          <a:p>
            <a:pPr marL="539750" lvl="1" indent="-342900">
              <a:lnSpc>
                <a:spcPct val="150000"/>
              </a:lnSpc>
              <a:spcBef>
                <a:spcPct val="25000"/>
              </a:spcBef>
            </a:pPr>
            <a:r>
              <a:rPr lang="pt-PT" sz="1600" dirty="0">
                <a:solidFill>
                  <a:schemeClr val="accent6"/>
                </a:solidFill>
              </a:rPr>
              <a:t>	i) TF (</a:t>
            </a:r>
            <a:r>
              <a:rPr lang="pt-PT" sz="1600" dirty="0" err="1">
                <a:solidFill>
                  <a:schemeClr val="accent6"/>
                </a:solidFill>
              </a:rPr>
              <a:t>Term</a:t>
            </a:r>
            <a:r>
              <a:rPr lang="pt-PT" sz="1600" dirty="0">
                <a:solidFill>
                  <a:schemeClr val="accent6"/>
                </a:solidFill>
              </a:rPr>
              <a:t> </a:t>
            </a:r>
            <a:r>
              <a:rPr lang="pt-PT" sz="1600" dirty="0" err="1">
                <a:solidFill>
                  <a:schemeClr val="accent6"/>
                </a:solidFill>
              </a:rPr>
              <a:t>Frequency</a:t>
            </a:r>
            <a:r>
              <a:rPr lang="pt-PT" sz="1600" dirty="0">
                <a:solidFill>
                  <a:schemeClr val="accent6"/>
                </a:solidFill>
              </a:rPr>
              <a:t>)</a:t>
            </a:r>
          </a:p>
          <a:p>
            <a:pPr marL="539750" lvl="1" indent="-342900">
              <a:lnSpc>
                <a:spcPct val="150000"/>
              </a:lnSpc>
              <a:spcBef>
                <a:spcPct val="25000"/>
              </a:spcBef>
            </a:pPr>
            <a:r>
              <a:rPr lang="pt-PT" sz="1600" dirty="0">
                <a:solidFill>
                  <a:schemeClr val="accent6"/>
                </a:solidFill>
              </a:rPr>
              <a:t>	</a:t>
            </a:r>
            <a:r>
              <a:rPr lang="pt-PT" sz="1600" dirty="0" err="1">
                <a:solidFill>
                  <a:schemeClr val="accent6"/>
                </a:solidFill>
              </a:rPr>
              <a:t>ii</a:t>
            </a:r>
            <a:r>
              <a:rPr lang="pt-PT" sz="1600" dirty="0">
                <a:solidFill>
                  <a:schemeClr val="accent6"/>
                </a:solidFill>
              </a:rPr>
              <a:t>) </a:t>
            </a:r>
            <a:r>
              <a:rPr lang="pt-PT" sz="1600" dirty="0" err="1">
                <a:solidFill>
                  <a:schemeClr val="accent6"/>
                </a:solidFill>
              </a:rPr>
              <a:t>TFxIDF</a:t>
            </a:r>
            <a:r>
              <a:rPr lang="pt-PT" sz="1600" dirty="0">
                <a:solidFill>
                  <a:schemeClr val="accent6"/>
                </a:solidFill>
              </a:rPr>
              <a:t> (</a:t>
            </a:r>
            <a:r>
              <a:rPr lang="pt-PT" sz="1600" dirty="0" err="1">
                <a:solidFill>
                  <a:schemeClr val="accent6"/>
                </a:solidFill>
              </a:rPr>
              <a:t>Term</a:t>
            </a:r>
            <a:r>
              <a:rPr lang="pt-PT" sz="1600" dirty="0">
                <a:solidFill>
                  <a:schemeClr val="accent6"/>
                </a:solidFill>
              </a:rPr>
              <a:t> </a:t>
            </a:r>
            <a:r>
              <a:rPr lang="pt-PT" sz="1600" dirty="0" err="1">
                <a:solidFill>
                  <a:schemeClr val="accent6"/>
                </a:solidFill>
              </a:rPr>
              <a:t>Frequency</a:t>
            </a:r>
            <a:r>
              <a:rPr lang="pt-PT" sz="1600" dirty="0">
                <a:solidFill>
                  <a:schemeClr val="accent6"/>
                </a:solidFill>
              </a:rPr>
              <a:t> x </a:t>
            </a:r>
            <a:r>
              <a:rPr lang="pt-PT" sz="1600" dirty="0" err="1">
                <a:solidFill>
                  <a:schemeClr val="accent6"/>
                </a:solidFill>
              </a:rPr>
              <a:t>Inverse</a:t>
            </a:r>
            <a:r>
              <a:rPr lang="pt-PT" sz="1600" dirty="0">
                <a:solidFill>
                  <a:schemeClr val="accent6"/>
                </a:solidFill>
              </a:rPr>
              <a:t> </a:t>
            </a:r>
            <a:r>
              <a:rPr lang="pt-PT" sz="1600" dirty="0" err="1">
                <a:solidFill>
                  <a:schemeClr val="accent6"/>
                </a:solidFill>
              </a:rPr>
              <a:t>Document</a:t>
            </a:r>
            <a:r>
              <a:rPr lang="pt-PT" sz="1600" dirty="0">
                <a:solidFill>
                  <a:schemeClr val="accent6"/>
                </a:solidFill>
              </a:rPr>
              <a:t> </a:t>
            </a:r>
            <a:r>
              <a:rPr lang="pt-PT" sz="1600" dirty="0" err="1">
                <a:solidFill>
                  <a:schemeClr val="accent6"/>
                </a:solidFill>
              </a:rPr>
              <a:t>Frequency</a:t>
            </a:r>
            <a:r>
              <a:rPr lang="pt-PT" sz="1600" dirty="0">
                <a:solidFill>
                  <a:schemeClr val="accent6"/>
                </a:solidFill>
              </a:rPr>
              <a:t>)</a:t>
            </a:r>
          </a:p>
          <a:p>
            <a:pPr marL="539750" lvl="1" indent="-342900">
              <a:lnSpc>
                <a:spcPct val="150000"/>
              </a:lnSpc>
              <a:spcBef>
                <a:spcPct val="25000"/>
              </a:spcBef>
            </a:pPr>
            <a:r>
              <a:rPr lang="pt-PT" sz="1600" dirty="0">
                <a:solidFill>
                  <a:schemeClr val="accent6"/>
                </a:solidFill>
              </a:rPr>
              <a:t>	</a:t>
            </a:r>
            <a:r>
              <a:rPr lang="pt-PT" sz="1600" dirty="0" err="1">
                <a:solidFill>
                  <a:schemeClr val="accent6"/>
                </a:solidFill>
              </a:rPr>
              <a:t>iii</a:t>
            </a:r>
            <a:r>
              <a:rPr lang="pt-PT" sz="1600" dirty="0">
                <a:solidFill>
                  <a:schemeClr val="accent6"/>
                </a:solidFill>
              </a:rPr>
              <a:t>) </a:t>
            </a:r>
            <a:r>
              <a:rPr lang="pt-PT" sz="1600" dirty="0" err="1">
                <a:solidFill>
                  <a:schemeClr val="accent6"/>
                </a:solidFill>
              </a:rPr>
              <a:t>Entropy</a:t>
            </a:r>
            <a:r>
              <a:rPr lang="pt-PT" sz="1600" dirty="0">
                <a:solidFill>
                  <a:schemeClr val="accent6"/>
                </a:solidFill>
              </a:rPr>
              <a:t> </a:t>
            </a:r>
            <a:r>
              <a:rPr lang="pt-PT" sz="1600" dirty="0" err="1">
                <a:solidFill>
                  <a:schemeClr val="accent6"/>
                </a:solidFill>
              </a:rPr>
              <a:t>weighting</a:t>
            </a:r>
            <a:endParaRPr lang="pt-PT" sz="1600" dirty="0">
              <a:solidFill>
                <a:schemeClr val="accent6"/>
              </a:solidFill>
            </a:endParaRPr>
          </a:p>
          <a:p>
            <a:pPr marL="539750" lvl="1" indent="-342900">
              <a:lnSpc>
                <a:spcPct val="150000"/>
              </a:lnSpc>
              <a:spcBef>
                <a:spcPct val="25000"/>
              </a:spcBef>
            </a:pPr>
            <a:r>
              <a:rPr lang="pt-PT" dirty="0">
                <a:solidFill>
                  <a:schemeClr val="accent6"/>
                </a:solidFill>
              </a:rPr>
              <a:t>- </a:t>
            </a:r>
            <a:r>
              <a:rPr lang="pt-PT" b="1" dirty="0" err="1">
                <a:solidFill>
                  <a:schemeClr val="accent6"/>
                </a:solidFill>
              </a:rPr>
              <a:t>Generalized</a:t>
            </a:r>
            <a:r>
              <a:rPr lang="pt-PT" b="1" dirty="0">
                <a:solidFill>
                  <a:schemeClr val="accent6"/>
                </a:solidFill>
              </a:rPr>
              <a:t> </a:t>
            </a:r>
            <a:r>
              <a:rPr lang="pt-PT" b="1" dirty="0" err="1">
                <a:solidFill>
                  <a:schemeClr val="accent6"/>
                </a:solidFill>
              </a:rPr>
              <a:t>vector</a:t>
            </a:r>
            <a:r>
              <a:rPr lang="pt-PT" b="1" dirty="0">
                <a:solidFill>
                  <a:schemeClr val="accent6"/>
                </a:solidFill>
              </a:rPr>
              <a:t> </a:t>
            </a:r>
            <a:r>
              <a:rPr lang="pt-PT" b="1" dirty="0" err="1">
                <a:solidFill>
                  <a:schemeClr val="accent6"/>
                </a:solidFill>
              </a:rPr>
              <a:t>space</a:t>
            </a:r>
            <a:r>
              <a:rPr lang="pt-PT" dirty="0">
                <a:solidFill>
                  <a:schemeClr val="accent6"/>
                </a:solidFill>
              </a:rPr>
              <a:t> (</a:t>
            </a:r>
            <a:r>
              <a:rPr lang="pt-PT" dirty="0" err="1">
                <a:solidFill>
                  <a:schemeClr val="accent6"/>
                </a:solidFill>
              </a:rPr>
              <a:t>co-occurence</a:t>
            </a:r>
            <a:r>
              <a:rPr lang="pt-PT" dirty="0">
                <a:solidFill>
                  <a:schemeClr val="accent6"/>
                </a:solidFill>
              </a:rPr>
              <a:t> </a:t>
            </a:r>
            <a:r>
              <a:rPr lang="pt-PT" dirty="0" err="1">
                <a:solidFill>
                  <a:schemeClr val="accent6"/>
                </a:solidFill>
              </a:rPr>
              <a:t>induces</a:t>
            </a:r>
            <a:r>
              <a:rPr lang="pt-PT" dirty="0">
                <a:solidFill>
                  <a:schemeClr val="accent6"/>
                </a:solidFill>
              </a:rPr>
              <a:t> </a:t>
            </a:r>
            <a:r>
              <a:rPr lang="pt-PT" dirty="0" err="1">
                <a:solidFill>
                  <a:schemeClr val="accent6"/>
                </a:solidFill>
              </a:rPr>
              <a:t>dependency</a:t>
            </a:r>
            <a:r>
              <a:rPr lang="pt-PT" dirty="0">
                <a:solidFill>
                  <a:schemeClr val="accent6"/>
                </a:solidFill>
              </a:rPr>
              <a:t>)</a:t>
            </a:r>
          </a:p>
          <a:p>
            <a:pPr marL="539750" lvl="1" indent="-342900">
              <a:lnSpc>
                <a:spcPct val="150000"/>
              </a:lnSpc>
              <a:spcBef>
                <a:spcPct val="25000"/>
              </a:spcBef>
            </a:pPr>
            <a:r>
              <a:rPr lang="pt-PT" dirty="0">
                <a:solidFill>
                  <a:schemeClr val="accent6"/>
                </a:solidFill>
              </a:rPr>
              <a:t>- </a:t>
            </a:r>
            <a:r>
              <a:rPr lang="pt-PT" b="1" dirty="0">
                <a:solidFill>
                  <a:schemeClr val="accent6"/>
                </a:solidFill>
              </a:rPr>
              <a:t>N-</a:t>
            </a:r>
            <a:r>
              <a:rPr lang="pt-PT" b="1" dirty="0" err="1">
                <a:solidFill>
                  <a:schemeClr val="accent6"/>
                </a:solidFill>
              </a:rPr>
              <a:t>grams</a:t>
            </a:r>
            <a:r>
              <a:rPr lang="pt-PT" dirty="0">
                <a:solidFill>
                  <a:schemeClr val="accent6"/>
                </a:solidFill>
              </a:rPr>
              <a:t> (</a:t>
            </a:r>
            <a:r>
              <a:rPr lang="pt-PT" dirty="0" err="1">
                <a:solidFill>
                  <a:schemeClr val="accent6"/>
                </a:solidFill>
              </a:rPr>
              <a:t>index</a:t>
            </a:r>
            <a:r>
              <a:rPr lang="pt-PT" dirty="0">
                <a:solidFill>
                  <a:schemeClr val="accent6"/>
                </a:solidFill>
              </a:rPr>
              <a:t> </a:t>
            </a:r>
            <a:r>
              <a:rPr lang="pt-PT" dirty="0" err="1">
                <a:solidFill>
                  <a:schemeClr val="accent6"/>
                </a:solidFill>
              </a:rPr>
              <a:t>terms</a:t>
            </a:r>
            <a:r>
              <a:rPr lang="pt-PT" dirty="0">
                <a:solidFill>
                  <a:schemeClr val="accent6"/>
                </a:solidFill>
              </a:rPr>
              <a:t> are </a:t>
            </a:r>
            <a:r>
              <a:rPr lang="pt-PT" dirty="0" err="1">
                <a:solidFill>
                  <a:schemeClr val="accent6"/>
                </a:solidFill>
              </a:rPr>
              <a:t>groups</a:t>
            </a:r>
            <a:r>
              <a:rPr lang="pt-PT" dirty="0">
                <a:solidFill>
                  <a:schemeClr val="accent6"/>
                </a:solidFill>
              </a:rPr>
              <a:t> of n-</a:t>
            </a:r>
            <a:r>
              <a:rPr lang="pt-PT" dirty="0" err="1">
                <a:solidFill>
                  <a:schemeClr val="accent6"/>
                </a:solidFill>
              </a:rPr>
              <a:t>words</a:t>
            </a:r>
            <a:r>
              <a:rPr lang="pt-PT" dirty="0">
                <a:solidFill>
                  <a:schemeClr val="accent6"/>
                </a:solidFill>
              </a:rPr>
              <a:t> </a:t>
            </a:r>
            <a:r>
              <a:rPr lang="pt-PT" dirty="0" err="1">
                <a:solidFill>
                  <a:schemeClr val="accent6"/>
                </a:solidFill>
              </a:rPr>
              <a:t>or</a:t>
            </a:r>
            <a:r>
              <a:rPr lang="pt-PT" dirty="0">
                <a:solidFill>
                  <a:schemeClr val="accent6"/>
                </a:solidFill>
              </a:rPr>
              <a:t> n-</a:t>
            </a:r>
            <a:r>
              <a:rPr lang="pt-PT" dirty="0" err="1">
                <a:solidFill>
                  <a:schemeClr val="accent6"/>
                </a:solidFill>
              </a:rPr>
              <a:t>chars</a:t>
            </a:r>
            <a:r>
              <a:rPr lang="pt-PT" dirty="0">
                <a:solidFill>
                  <a:schemeClr val="accent6"/>
                </a:solidFill>
              </a:rPr>
              <a:t> </a:t>
            </a:r>
            <a:r>
              <a:rPr lang="pt-PT" dirty="0" err="1">
                <a:solidFill>
                  <a:schemeClr val="accent6"/>
                </a:solidFill>
              </a:rPr>
              <a:t>rather</a:t>
            </a:r>
            <a:r>
              <a:rPr lang="pt-PT" dirty="0">
                <a:solidFill>
                  <a:schemeClr val="accent6"/>
                </a:solidFill>
              </a:rPr>
              <a:t> </a:t>
            </a:r>
            <a:r>
              <a:rPr lang="pt-PT" dirty="0" err="1">
                <a:solidFill>
                  <a:schemeClr val="accent6"/>
                </a:solidFill>
              </a:rPr>
              <a:t>than</a:t>
            </a:r>
            <a:r>
              <a:rPr lang="pt-PT" dirty="0">
                <a:solidFill>
                  <a:schemeClr val="accent6"/>
                </a:solidFill>
              </a:rPr>
              <a:t> single </a:t>
            </a:r>
            <a:r>
              <a:rPr lang="pt-PT" dirty="0" err="1">
                <a:solidFill>
                  <a:schemeClr val="accent6"/>
                </a:solidFill>
              </a:rPr>
              <a:t>words</a:t>
            </a:r>
            <a:r>
              <a:rPr lang="pt-PT" dirty="0">
                <a:solidFill>
                  <a:schemeClr val="accent6"/>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a:t>
            </a:r>
            <a:r>
              <a:rPr lang="pt-PT" sz="2800" b="1" dirty="0" err="1">
                <a:solidFill>
                  <a:srgbClr val="C00000"/>
                </a:solidFill>
              </a:rPr>
              <a:t>Models</a:t>
            </a:r>
            <a:r>
              <a:rPr lang="pt-PT" sz="2800" dirty="0" err="1">
                <a:solidFill>
                  <a:schemeClr val="bg1">
                    <a:lumMod val="50000"/>
                  </a:schemeClr>
                </a:solidFill>
              </a:rPr>
              <a:t>|Processing|Tools|R|Case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1520" y="692696"/>
            <a:ext cx="8642350" cy="3831818"/>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Structured</a:t>
            </a:r>
            <a:r>
              <a:rPr lang="pt-PT" b="1" u="sng" cap="all" dirty="0">
                <a:solidFill>
                  <a:schemeClr val="accent6"/>
                </a:solidFill>
              </a:rPr>
              <a:t> </a:t>
            </a:r>
            <a:r>
              <a:rPr lang="pt-PT" b="1" u="sng" cap="all" dirty="0" err="1">
                <a:solidFill>
                  <a:schemeClr val="accent6"/>
                </a:solidFill>
              </a:rPr>
              <a:t>models</a:t>
            </a:r>
            <a:r>
              <a:rPr lang="pt-PT" b="1" dirty="0">
                <a:solidFill>
                  <a:schemeClr val="accent6"/>
                </a:solidFill>
              </a:rPr>
              <a:t> </a:t>
            </a:r>
            <a:r>
              <a:rPr lang="pt-PT" dirty="0">
                <a:solidFill>
                  <a:schemeClr val="accent6"/>
                </a:solidFill>
              </a:rPr>
              <a:t>(</a:t>
            </a:r>
            <a:r>
              <a:rPr lang="pt-PT" dirty="0" err="1">
                <a:solidFill>
                  <a:schemeClr val="accent6"/>
                </a:solidFill>
              </a:rPr>
              <a:t>mainly</a:t>
            </a:r>
            <a:r>
              <a:rPr lang="pt-PT" dirty="0">
                <a:solidFill>
                  <a:schemeClr val="accent6"/>
                </a:solidFill>
              </a:rPr>
              <a:t> </a:t>
            </a:r>
            <a:r>
              <a:rPr lang="pt-PT" dirty="0" err="1">
                <a:solidFill>
                  <a:schemeClr val="accent6"/>
                </a:solidFill>
              </a:rPr>
              <a:t>used</a:t>
            </a:r>
            <a:r>
              <a:rPr lang="pt-PT" dirty="0">
                <a:solidFill>
                  <a:schemeClr val="accent6"/>
                </a:solidFill>
              </a:rPr>
              <a:t> for IR)</a:t>
            </a:r>
          </a:p>
          <a:p>
            <a:pPr marL="539750" lvl="1" indent="-342900">
              <a:lnSpc>
                <a:spcPct val="150000"/>
              </a:lnSpc>
              <a:spcBef>
                <a:spcPct val="25000"/>
              </a:spcBef>
              <a:buFontTx/>
              <a:buChar char="-"/>
            </a:pPr>
            <a:r>
              <a:rPr lang="pt-PT" b="1" dirty="0">
                <a:solidFill>
                  <a:schemeClr val="accent6"/>
                </a:solidFill>
              </a:rPr>
              <a:t>Non-</a:t>
            </a:r>
            <a:r>
              <a:rPr lang="pt-PT" b="1" dirty="0" err="1">
                <a:solidFill>
                  <a:schemeClr val="accent6"/>
                </a:solidFill>
              </a:rPr>
              <a:t>overlapping</a:t>
            </a:r>
            <a:r>
              <a:rPr lang="pt-PT" b="1" dirty="0">
                <a:solidFill>
                  <a:schemeClr val="accent6"/>
                </a:solidFill>
              </a:rPr>
              <a:t> </a:t>
            </a:r>
            <a:r>
              <a:rPr lang="pt-PT" b="1" dirty="0" err="1">
                <a:solidFill>
                  <a:schemeClr val="accent6"/>
                </a:solidFill>
              </a:rPr>
              <a:t>list</a:t>
            </a:r>
            <a:r>
              <a:rPr lang="pt-PT" b="1" dirty="0">
                <a:solidFill>
                  <a:schemeClr val="accent6"/>
                </a:solidFill>
              </a:rPr>
              <a:t> </a:t>
            </a:r>
            <a:r>
              <a:rPr lang="pt-PT" b="1" dirty="0" err="1">
                <a:solidFill>
                  <a:schemeClr val="accent6"/>
                </a:solidFill>
              </a:rPr>
              <a:t>model</a:t>
            </a:r>
            <a:r>
              <a:rPr lang="pt-PT" dirty="0">
                <a:solidFill>
                  <a:schemeClr val="accent6"/>
                </a:solidFill>
              </a:rPr>
              <a:t> </a:t>
            </a:r>
            <a:r>
              <a:rPr lang="pt-PT" sz="1600" dirty="0">
                <a:solidFill>
                  <a:schemeClr val="accent6"/>
                </a:solidFill>
              </a:rPr>
              <a:t>(</a:t>
            </a:r>
            <a:r>
              <a:rPr lang="pt-PT" sz="1600" dirty="0" err="1">
                <a:solidFill>
                  <a:schemeClr val="accent6"/>
                </a:solidFill>
              </a:rPr>
              <a:t>lists</a:t>
            </a:r>
            <a:r>
              <a:rPr lang="pt-PT" sz="1600" dirty="0">
                <a:solidFill>
                  <a:schemeClr val="accent6"/>
                </a:solidFill>
              </a:rPr>
              <a:t> of </a:t>
            </a:r>
            <a:r>
              <a:rPr lang="en-GB" sz="1600" dirty="0">
                <a:solidFill>
                  <a:schemeClr val="accent6"/>
                </a:solidFill>
              </a:rPr>
              <a:t>non-overlapping text regions</a:t>
            </a:r>
            <a:r>
              <a:rPr lang="pt-PT" sz="1600" dirty="0">
                <a:solidFill>
                  <a:schemeClr val="accent6"/>
                </a:solidFill>
              </a:rPr>
              <a:t>)</a:t>
            </a:r>
            <a:endParaRPr lang="pt-PT" dirty="0">
              <a:solidFill>
                <a:schemeClr val="accent6"/>
              </a:solidFill>
            </a:endParaRPr>
          </a:p>
          <a:p>
            <a:pPr marL="539750" lvl="1" indent="-342900">
              <a:lnSpc>
                <a:spcPct val="150000"/>
              </a:lnSpc>
              <a:spcBef>
                <a:spcPct val="25000"/>
              </a:spcBef>
              <a:buFontTx/>
              <a:buChar char="-"/>
            </a:pPr>
            <a:r>
              <a:rPr lang="pt-PT" b="1" dirty="0">
                <a:solidFill>
                  <a:schemeClr val="accent6"/>
                </a:solidFill>
              </a:rPr>
              <a:t>Proximal nodes </a:t>
            </a:r>
            <a:r>
              <a:rPr lang="pt-PT" b="1" dirty="0" err="1">
                <a:solidFill>
                  <a:schemeClr val="accent6"/>
                </a:solidFill>
              </a:rPr>
              <a:t>model</a:t>
            </a:r>
            <a:r>
              <a:rPr lang="pt-PT" dirty="0">
                <a:solidFill>
                  <a:schemeClr val="accent6"/>
                </a:solidFill>
              </a:rPr>
              <a:t> </a:t>
            </a:r>
            <a:r>
              <a:rPr lang="pt-PT" sz="1600" dirty="0">
                <a:solidFill>
                  <a:schemeClr val="accent6"/>
                </a:solidFill>
              </a:rPr>
              <a:t>(set of </a:t>
            </a:r>
            <a:r>
              <a:rPr lang="en-GB" sz="1600" dirty="0">
                <a:solidFill>
                  <a:schemeClr val="accent6"/>
                </a:solidFill>
              </a:rPr>
              <a:t>independent hierarchical indexing structures</a:t>
            </a:r>
            <a:r>
              <a:rPr lang="pt-PT" sz="1600" dirty="0">
                <a:solidFill>
                  <a:schemeClr val="accent6"/>
                </a:solidFill>
              </a:rPr>
              <a:t>)</a:t>
            </a:r>
            <a:endParaRPr lang="pt-PT" dirty="0">
              <a:solidFill>
                <a:schemeClr val="accent6"/>
              </a:solidFill>
            </a:endParaRPr>
          </a:p>
          <a:p>
            <a:pPr marL="539750" lvl="1" indent="-342900">
              <a:lnSpc>
                <a:spcPct val="150000"/>
              </a:lnSpc>
              <a:spcBef>
                <a:spcPct val="25000"/>
              </a:spcBef>
              <a:buFontTx/>
              <a:buChar char="-"/>
            </a:pPr>
            <a:r>
              <a:rPr lang="pt-PT" b="1" dirty="0" err="1">
                <a:solidFill>
                  <a:schemeClr val="accent6"/>
                </a:solidFill>
              </a:rPr>
              <a:t>Path</a:t>
            </a:r>
            <a:r>
              <a:rPr lang="pt-PT" b="1" dirty="0">
                <a:solidFill>
                  <a:schemeClr val="accent6"/>
                </a:solidFill>
              </a:rPr>
              <a:t> </a:t>
            </a:r>
            <a:r>
              <a:rPr lang="pt-PT" b="1" dirty="0" err="1">
                <a:solidFill>
                  <a:schemeClr val="accent6"/>
                </a:solidFill>
              </a:rPr>
              <a:t>prefixing</a:t>
            </a:r>
            <a:r>
              <a:rPr lang="pt-PT" dirty="0">
                <a:solidFill>
                  <a:schemeClr val="accent6"/>
                </a:solidFill>
              </a:rPr>
              <a:t> </a:t>
            </a:r>
            <a:r>
              <a:rPr lang="pt-PT" sz="1600" dirty="0">
                <a:solidFill>
                  <a:schemeClr val="accent6"/>
                </a:solidFill>
              </a:rPr>
              <a:t>(</a:t>
            </a:r>
            <a:r>
              <a:rPr lang="pt-PT" sz="1600" dirty="0" err="1">
                <a:solidFill>
                  <a:schemeClr val="accent6"/>
                </a:solidFill>
              </a:rPr>
              <a:t>hypertext</a:t>
            </a:r>
            <a:r>
              <a:rPr lang="pt-PT" sz="1600" dirty="0">
                <a:solidFill>
                  <a:schemeClr val="accent6"/>
                </a:solidFill>
              </a:rPr>
              <a:t>, </a:t>
            </a:r>
            <a:r>
              <a:rPr lang="pt-PT" sz="1600" dirty="0" err="1">
                <a:solidFill>
                  <a:schemeClr val="accent6"/>
                </a:solidFill>
              </a:rPr>
              <a:t>prefixing</a:t>
            </a:r>
            <a:r>
              <a:rPr lang="pt-PT" sz="1600" dirty="0">
                <a:solidFill>
                  <a:schemeClr val="accent6"/>
                </a:solidFill>
              </a:rPr>
              <a:t> </a:t>
            </a:r>
            <a:r>
              <a:rPr lang="pt-PT" sz="1600" dirty="0" err="1">
                <a:solidFill>
                  <a:schemeClr val="accent6"/>
                </a:solidFill>
              </a:rPr>
              <a:t>words</a:t>
            </a:r>
            <a:r>
              <a:rPr lang="pt-PT" sz="1600" dirty="0">
                <a:solidFill>
                  <a:schemeClr val="accent6"/>
                </a:solidFill>
              </a:rPr>
              <a:t>/</a:t>
            </a:r>
            <a:r>
              <a:rPr lang="pt-PT" sz="1600" dirty="0" err="1">
                <a:solidFill>
                  <a:schemeClr val="accent6"/>
                </a:solidFill>
              </a:rPr>
              <a:t>phrases</a:t>
            </a:r>
            <a:r>
              <a:rPr lang="pt-PT" sz="1600" dirty="0">
                <a:solidFill>
                  <a:schemeClr val="accent6"/>
                </a:solidFill>
              </a:rPr>
              <a:t> </a:t>
            </a:r>
            <a:r>
              <a:rPr lang="pt-PT" sz="1600" dirty="0" err="1">
                <a:solidFill>
                  <a:schemeClr val="accent6"/>
                </a:solidFill>
              </a:rPr>
              <a:t>with</a:t>
            </a:r>
            <a:r>
              <a:rPr lang="pt-PT" sz="1600" dirty="0">
                <a:solidFill>
                  <a:schemeClr val="accent6"/>
                </a:solidFill>
              </a:rPr>
              <a:t> </a:t>
            </a:r>
            <a:r>
              <a:rPr lang="pt-PT" sz="1600" dirty="0" err="1">
                <a:solidFill>
                  <a:schemeClr val="accent6"/>
                </a:solidFill>
              </a:rPr>
              <a:t>their</a:t>
            </a:r>
            <a:r>
              <a:rPr lang="pt-PT" sz="1600" dirty="0">
                <a:solidFill>
                  <a:schemeClr val="accent6"/>
                </a:solidFill>
              </a:rPr>
              <a:t> </a:t>
            </a:r>
            <a:r>
              <a:rPr lang="pt-PT" sz="1600" dirty="0" err="1">
                <a:solidFill>
                  <a:schemeClr val="accent6"/>
                </a:solidFill>
              </a:rPr>
              <a:t>html</a:t>
            </a:r>
            <a:r>
              <a:rPr lang="pt-PT" sz="1600" dirty="0">
                <a:solidFill>
                  <a:schemeClr val="accent6"/>
                </a:solidFill>
              </a:rPr>
              <a:t> </a:t>
            </a:r>
            <a:r>
              <a:rPr lang="pt-PT" sz="1600" dirty="0" err="1">
                <a:solidFill>
                  <a:schemeClr val="accent6"/>
                </a:solidFill>
              </a:rPr>
              <a:t>tags</a:t>
            </a:r>
            <a:r>
              <a:rPr lang="pt-PT" sz="1600" dirty="0">
                <a:solidFill>
                  <a:schemeClr val="accent6"/>
                </a:solidFill>
              </a:rPr>
              <a:t>)</a:t>
            </a:r>
            <a:endParaRPr lang="pt-PT" dirty="0">
              <a:solidFill>
                <a:schemeClr val="accent6"/>
              </a:solidFill>
            </a:endParaRPr>
          </a:p>
          <a:p>
            <a:pPr marL="539750" lvl="1" indent="-342900">
              <a:lnSpc>
                <a:spcPct val="150000"/>
              </a:lnSpc>
              <a:spcBef>
                <a:spcPct val="25000"/>
              </a:spcBef>
              <a:buFontTx/>
              <a:buChar char="-"/>
            </a:pPr>
            <a:r>
              <a:rPr lang="pt-PT" b="1" dirty="0" err="1">
                <a:solidFill>
                  <a:schemeClr val="accent6"/>
                </a:solidFill>
              </a:rPr>
              <a:t>Relational</a:t>
            </a:r>
            <a:r>
              <a:rPr lang="pt-PT" b="1" dirty="0">
                <a:solidFill>
                  <a:schemeClr val="accent6"/>
                </a:solidFill>
              </a:rPr>
              <a:t> </a:t>
            </a:r>
            <a:r>
              <a:rPr lang="pt-PT" b="1" dirty="0" err="1">
                <a:solidFill>
                  <a:schemeClr val="accent6"/>
                </a:solidFill>
              </a:rPr>
              <a:t>model</a:t>
            </a:r>
            <a:r>
              <a:rPr lang="pt-PT" dirty="0">
                <a:solidFill>
                  <a:schemeClr val="accent6"/>
                </a:solidFill>
              </a:rPr>
              <a:t> </a:t>
            </a:r>
            <a:r>
              <a:rPr lang="pt-PT" sz="1600" dirty="0">
                <a:solidFill>
                  <a:schemeClr val="accent6"/>
                </a:solidFill>
              </a:rPr>
              <a:t>(</a:t>
            </a:r>
            <a:r>
              <a:rPr lang="pt-PT" sz="1600" dirty="0" err="1">
                <a:solidFill>
                  <a:schemeClr val="accent6"/>
                </a:solidFill>
              </a:rPr>
              <a:t>represents</a:t>
            </a:r>
            <a:r>
              <a:rPr lang="pt-PT" sz="1600" dirty="0">
                <a:solidFill>
                  <a:schemeClr val="accent6"/>
                </a:solidFill>
              </a:rPr>
              <a:t> corpora in a </a:t>
            </a:r>
            <a:r>
              <a:rPr lang="pt-PT" sz="1600" dirty="0" err="1">
                <a:solidFill>
                  <a:schemeClr val="accent6"/>
                </a:solidFill>
              </a:rPr>
              <a:t>relational</a:t>
            </a:r>
            <a:r>
              <a:rPr lang="pt-PT" sz="1600" dirty="0">
                <a:solidFill>
                  <a:schemeClr val="accent6"/>
                </a:solidFill>
              </a:rPr>
              <a:t> </a:t>
            </a:r>
            <a:r>
              <a:rPr lang="pt-PT" sz="1600" dirty="0" err="1">
                <a:solidFill>
                  <a:schemeClr val="accent6"/>
                </a:solidFill>
              </a:rPr>
              <a:t>schema</a:t>
            </a:r>
            <a:r>
              <a:rPr lang="pt-PT" sz="1600" dirty="0">
                <a:solidFill>
                  <a:schemeClr val="accent6"/>
                </a:solidFill>
              </a:rPr>
              <a:t> </a:t>
            </a:r>
            <a:r>
              <a:rPr lang="pt-PT" sz="1600" dirty="0" err="1">
                <a:solidFill>
                  <a:schemeClr val="accent6"/>
                </a:solidFill>
              </a:rPr>
              <a:t>including</a:t>
            </a:r>
            <a:r>
              <a:rPr lang="pt-PT" sz="1600" dirty="0">
                <a:solidFill>
                  <a:schemeClr val="accent6"/>
                </a:solidFill>
              </a:rPr>
              <a:t> </a:t>
            </a:r>
            <a:r>
              <a:rPr lang="pt-PT" sz="1600" dirty="0" err="1">
                <a:solidFill>
                  <a:schemeClr val="accent6"/>
                </a:solidFill>
              </a:rPr>
              <a:t>relations</a:t>
            </a:r>
            <a:r>
              <a:rPr lang="pt-PT" sz="1600" dirty="0">
                <a:solidFill>
                  <a:schemeClr val="accent6"/>
                </a:solidFill>
              </a:rPr>
              <a:t> </a:t>
            </a:r>
            <a:r>
              <a:rPr lang="pt-PT" sz="1600" dirty="0" err="1">
                <a:solidFill>
                  <a:schemeClr val="accent6"/>
                </a:solidFill>
              </a:rPr>
              <a:t>like</a:t>
            </a:r>
            <a:r>
              <a:rPr lang="pt-PT" sz="1600" dirty="0">
                <a:solidFill>
                  <a:schemeClr val="accent6"/>
                </a:solidFill>
              </a:rPr>
              <a:t> </a:t>
            </a:r>
            <a:r>
              <a:rPr lang="pt-PT" sz="1600" i="1" dirty="0">
                <a:solidFill>
                  <a:schemeClr val="accent6"/>
                </a:solidFill>
              </a:rPr>
              <a:t>				</a:t>
            </a:r>
            <a:r>
              <a:rPr lang="fr-FR" sz="1600" i="1" dirty="0" err="1">
                <a:solidFill>
                  <a:schemeClr val="accent6"/>
                </a:solidFill>
              </a:rPr>
              <a:t>ContainsText</a:t>
            </a:r>
            <a:r>
              <a:rPr lang="fr-FR" sz="1600" i="1" dirty="0">
                <a:solidFill>
                  <a:schemeClr val="accent6"/>
                </a:solidFill>
              </a:rPr>
              <a:t>(</a:t>
            </a:r>
            <a:r>
              <a:rPr lang="fr-FR" sz="1600" i="1" dirty="0" err="1">
                <a:solidFill>
                  <a:schemeClr val="accent6"/>
                </a:solidFill>
              </a:rPr>
              <a:t>domNode</a:t>
            </a:r>
            <a:r>
              <a:rPr lang="fr-FR" sz="1600" i="1" dirty="0">
                <a:solidFill>
                  <a:schemeClr val="accent6"/>
                </a:solidFill>
              </a:rPr>
              <a:t>, </a:t>
            </a:r>
            <a:r>
              <a:rPr lang="fr-FR" sz="1600" i="1" dirty="0" err="1">
                <a:solidFill>
                  <a:schemeClr val="accent6"/>
                </a:solidFill>
              </a:rPr>
              <a:t>text</a:t>
            </a:r>
            <a:r>
              <a:rPr lang="fr-FR" sz="1600" i="1" dirty="0">
                <a:solidFill>
                  <a:schemeClr val="accent6"/>
                </a:solidFill>
              </a:rPr>
              <a:t>)							</a:t>
            </a:r>
            <a:r>
              <a:rPr lang="fr-FR" sz="1600" i="1" dirty="0" err="1">
                <a:solidFill>
                  <a:schemeClr val="accent6"/>
                </a:solidFill>
              </a:rPr>
              <a:t>PartOf</a:t>
            </a:r>
            <a:r>
              <a:rPr lang="fr-FR" sz="1600" i="1" dirty="0">
                <a:solidFill>
                  <a:schemeClr val="accent6"/>
                </a:solidFill>
              </a:rPr>
              <a:t>(</a:t>
            </a:r>
            <a:r>
              <a:rPr lang="fr-FR" sz="1600" i="1" dirty="0" err="1">
                <a:solidFill>
                  <a:schemeClr val="accent6"/>
                </a:solidFill>
              </a:rPr>
              <a:t>domNode</a:t>
            </a:r>
            <a:r>
              <a:rPr lang="fr-FR" sz="1600" i="1" dirty="0">
                <a:solidFill>
                  <a:schemeClr val="accent6"/>
                </a:solidFill>
              </a:rPr>
              <a:t>, </a:t>
            </a:r>
            <a:r>
              <a:rPr lang="fr-FR" sz="1600" i="1" dirty="0" err="1">
                <a:solidFill>
                  <a:schemeClr val="accent6"/>
                </a:solidFill>
              </a:rPr>
              <a:t>domNode</a:t>
            </a:r>
            <a:r>
              <a:rPr lang="fr-FR" sz="1600" i="1" dirty="0">
                <a:solidFill>
                  <a:schemeClr val="accent6"/>
                </a:solidFill>
              </a:rPr>
              <a:t>)							</a:t>
            </a:r>
            <a:r>
              <a:rPr lang="pt-PT" sz="1600" i="1" dirty="0" err="1">
                <a:solidFill>
                  <a:schemeClr val="accent6"/>
                </a:solidFill>
              </a:rPr>
              <a:t>LinksTo</a:t>
            </a:r>
            <a:r>
              <a:rPr lang="pt-PT" sz="1600" i="1" dirty="0">
                <a:solidFill>
                  <a:schemeClr val="accent6"/>
                </a:solidFill>
              </a:rPr>
              <a:t>(</a:t>
            </a:r>
            <a:r>
              <a:rPr lang="pt-PT" sz="1600" i="1" dirty="0" err="1">
                <a:solidFill>
                  <a:schemeClr val="accent6"/>
                </a:solidFill>
              </a:rPr>
              <a:t>scrDomNode</a:t>
            </a:r>
            <a:r>
              <a:rPr lang="pt-PT" sz="1600" i="1" dirty="0">
                <a:solidFill>
                  <a:schemeClr val="accent6"/>
                </a:solidFill>
              </a:rPr>
              <a:t>, </a:t>
            </a:r>
            <a:r>
              <a:rPr lang="pt-PT" sz="1600" i="1" dirty="0" err="1">
                <a:solidFill>
                  <a:schemeClr val="accent6"/>
                </a:solidFill>
              </a:rPr>
              <a:t>dstDomNode</a:t>
            </a:r>
            <a:r>
              <a:rPr lang="pt-PT" sz="1600" i="1" dirty="0">
                <a:solidFill>
                  <a:schemeClr val="accent6"/>
                </a:solidFill>
              </a:rPr>
              <a:t>))</a:t>
            </a:r>
          </a:p>
          <a:p>
            <a:endParaRPr lang="pt-PT"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p:cNvSpPr>
            <a:spLocks noChangeArrowheads="1"/>
          </p:cNvSpPr>
          <p:nvPr/>
        </p:nvSpPr>
        <p:spPr bwMode="auto">
          <a:xfrm>
            <a:off x="1403648" y="1412776"/>
            <a:ext cx="7560394" cy="4216539"/>
          </a:xfrm>
          <a:prstGeom prst="rect">
            <a:avLst/>
          </a:prstGeom>
          <a:noFill/>
          <a:ln w="9525">
            <a:noFill/>
            <a:miter lim="800000"/>
            <a:headEnd/>
            <a:tailEnd/>
          </a:ln>
        </p:spPr>
        <p:txBody>
          <a:bodyPr wrap="square">
            <a:spAutoFit/>
          </a:bodyPr>
          <a:lstStyle/>
          <a:p>
            <a:endParaRPr lang="pt-PT" sz="3200" b="1" dirty="0">
              <a:solidFill>
                <a:srgbClr val="002060"/>
              </a:solidFill>
            </a:endParaRPr>
          </a:p>
          <a:p>
            <a:endParaRPr lang="pt-PT" sz="3200" b="1" dirty="0">
              <a:solidFill>
                <a:srgbClr val="002060"/>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r>
              <a:rPr lang="pt-PT" sz="3200" b="1" dirty="0">
                <a:solidFill>
                  <a:schemeClr val="tx1">
                    <a:lumMod val="65000"/>
                    <a:lumOff val="35000"/>
                  </a:schemeClr>
                </a:solidFill>
              </a:rPr>
              <a:t>TEXT PROCESSING</a:t>
            </a:r>
          </a:p>
          <a:p>
            <a:endParaRPr lang="pt-PT" sz="2600" b="1" i="1" dirty="0">
              <a:solidFill>
                <a:schemeClr val="tx1">
                  <a:lumMod val="65000"/>
                  <a:lumOff val="35000"/>
                </a:schemeClr>
              </a:solidFill>
            </a:endParaRPr>
          </a:p>
          <a:p>
            <a:r>
              <a:rPr lang="pt-PT" dirty="0">
                <a:solidFill>
                  <a:schemeClr val="tx1">
                    <a:lumMod val="65000"/>
                    <a:lumOff val="35000"/>
                  </a:schemeClr>
                </a:solidFill>
              </a:rPr>
              <a:t>				</a:t>
            </a:r>
          </a:p>
        </p:txBody>
      </p:sp>
      <p:pic>
        <p:nvPicPr>
          <p:cNvPr id="17410" name="Picture 2" descr="http://mediatemetrics.files.wordpress.com/2012/01/text-mining.jpg?w=216&amp;h=100&amp;crop=1"/>
          <p:cNvPicPr>
            <a:picLocks noChangeAspect="1" noChangeArrowheads="1"/>
          </p:cNvPicPr>
          <p:nvPr/>
        </p:nvPicPr>
        <p:blipFill>
          <a:blip r:embed="rId2" cstate="print"/>
          <a:srcRect/>
          <a:stretch>
            <a:fillRect/>
          </a:stretch>
        </p:blipFill>
        <p:spPr bwMode="auto">
          <a:xfrm>
            <a:off x="1475656" y="1268760"/>
            <a:ext cx="3816424" cy="1766864"/>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2"/>
                </a:solidFill>
              </a:rPr>
              <a:t>Intro|</a:t>
            </a:r>
            <a:r>
              <a:rPr lang="pt-PT" sz="2800" dirty="0" err="1">
                <a:solidFill>
                  <a:schemeClr val="bg1">
                    <a:lumMod val="50000"/>
                  </a:schemeClr>
                </a:solidFill>
              </a:rPr>
              <a:t>Models</a:t>
            </a:r>
            <a:r>
              <a:rPr lang="pt-PT" sz="2800" dirty="0" err="1">
                <a:solidFill>
                  <a:schemeClr val="bg2"/>
                </a:solidFill>
              </a:rPr>
              <a:t>|</a:t>
            </a:r>
            <a:r>
              <a:rPr lang="pt-PT" sz="2800" b="1" dirty="0" err="1">
                <a:solidFill>
                  <a:srgbClr val="A50021"/>
                </a:solidFill>
              </a:rPr>
              <a:t>Processing</a:t>
            </a:r>
            <a:r>
              <a:rPr lang="pt-PT" sz="2800" dirty="0" err="1">
                <a:solidFill>
                  <a:schemeClr val="bg2"/>
                </a:solidFill>
              </a:rPr>
              <a:t>|Tools|R|Case</a:t>
            </a:r>
            <a:r>
              <a:rPr lang="pt-PT" sz="2800" dirty="0">
                <a:solidFill>
                  <a:schemeClr val="bg2"/>
                </a:solidFill>
              </a:rPr>
              <a:t> </a:t>
            </a:r>
            <a:r>
              <a:rPr lang="pt-PT" sz="2800" dirty="0" err="1">
                <a:solidFill>
                  <a:schemeClr val="bg2"/>
                </a:solidFill>
              </a:rPr>
              <a:t>study|Handson</a:t>
            </a:r>
            <a:endParaRPr lang="pt-PT" sz="2800" dirty="0">
              <a:solidFill>
                <a:schemeClr val="bg2"/>
              </a:solidFill>
            </a:endParaRPr>
          </a:p>
        </p:txBody>
      </p:sp>
      <p:sp>
        <p:nvSpPr>
          <p:cNvPr id="4" name="Text Box 3"/>
          <p:cNvSpPr txBox="1">
            <a:spLocks noChangeArrowheads="1"/>
          </p:cNvSpPr>
          <p:nvPr/>
        </p:nvSpPr>
        <p:spPr bwMode="auto">
          <a:xfrm>
            <a:off x="250825" y="692150"/>
            <a:ext cx="8642350" cy="6047809"/>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Text</a:t>
            </a:r>
            <a:r>
              <a:rPr lang="pt-PT" b="1" u="sng" cap="all" dirty="0">
                <a:solidFill>
                  <a:schemeClr val="accent6"/>
                </a:solidFill>
              </a:rPr>
              <a:t> </a:t>
            </a:r>
            <a:r>
              <a:rPr lang="pt-PT" b="1" u="sng" cap="all" dirty="0" err="1">
                <a:solidFill>
                  <a:schemeClr val="accent6"/>
                </a:solidFill>
              </a:rPr>
              <a:t>processing</a:t>
            </a:r>
            <a:endParaRPr lang="pt-PT" b="1" u="sng" cap="all" dirty="0">
              <a:solidFill>
                <a:schemeClr val="accent6"/>
              </a:solidFill>
            </a:endParaRPr>
          </a:p>
          <a:p>
            <a:pPr marL="800100" lvl="1" indent="-342900">
              <a:lnSpc>
                <a:spcPct val="150000"/>
              </a:lnSpc>
              <a:spcBef>
                <a:spcPct val="25000"/>
              </a:spcBef>
              <a:buFontTx/>
              <a:buAutoNum type="alphaLcParenR"/>
            </a:pPr>
            <a:r>
              <a:rPr lang="pt-PT" dirty="0" err="1">
                <a:solidFill>
                  <a:schemeClr val="accent6"/>
                </a:solidFill>
              </a:rPr>
              <a:t>Pre-processing</a:t>
            </a:r>
            <a:endParaRPr lang="pt-PT" dirty="0">
              <a:solidFill>
                <a:schemeClr val="accent6"/>
              </a:solidFill>
            </a:endParaRPr>
          </a:p>
          <a:p>
            <a:pPr marL="982663" lvl="1" indent="6350">
              <a:lnSpc>
                <a:spcPct val="150000"/>
              </a:lnSpc>
              <a:spcBef>
                <a:spcPct val="25000"/>
              </a:spcBef>
            </a:pPr>
            <a:r>
              <a:rPr lang="en-US" dirty="0"/>
              <a:t>The pre-processing stage comprises the tasks that are required to obtain a suitable document representation, valid for the subsequent automatic learning phase. This stage includes text preparation and text representation.</a:t>
            </a:r>
            <a:endParaRPr lang="pt-PT" dirty="0">
              <a:solidFill>
                <a:schemeClr val="accent6"/>
              </a:solidFill>
            </a:endParaRPr>
          </a:p>
          <a:p>
            <a:pPr marL="800100" lvl="1" indent="-342900">
              <a:lnSpc>
                <a:spcPct val="150000"/>
              </a:lnSpc>
              <a:spcBef>
                <a:spcPct val="25000"/>
              </a:spcBef>
              <a:buFont typeface="+mj-lt"/>
              <a:buAutoNum type="alphaLcParenR" startAt="2"/>
            </a:pPr>
            <a:r>
              <a:rPr lang="pt-PT" dirty="0" err="1">
                <a:solidFill>
                  <a:schemeClr val="accent6"/>
                </a:solidFill>
              </a:rPr>
              <a:t>Learning</a:t>
            </a:r>
            <a:endParaRPr lang="pt-PT" dirty="0">
              <a:solidFill>
                <a:schemeClr val="accent6"/>
              </a:solidFill>
            </a:endParaRPr>
          </a:p>
          <a:p>
            <a:pPr marL="982663" lvl="1" indent="6350">
              <a:lnSpc>
                <a:spcPct val="150000"/>
              </a:lnSpc>
              <a:spcBef>
                <a:spcPct val="25000"/>
              </a:spcBef>
            </a:pPr>
            <a:r>
              <a:rPr lang="pt-PT" dirty="0" err="1"/>
              <a:t>Infering</a:t>
            </a:r>
            <a:r>
              <a:rPr lang="pt-PT" dirty="0"/>
              <a:t> </a:t>
            </a:r>
            <a:r>
              <a:rPr lang="pt-PT" dirty="0" err="1"/>
              <a:t>knowledge</a:t>
            </a:r>
            <a:r>
              <a:rPr lang="pt-PT" dirty="0"/>
              <a:t> </a:t>
            </a:r>
            <a:r>
              <a:rPr lang="pt-PT" dirty="0" err="1"/>
              <a:t>using</a:t>
            </a:r>
            <a:r>
              <a:rPr lang="pt-PT" dirty="0"/>
              <a:t> </a:t>
            </a:r>
            <a:r>
              <a:rPr lang="pt-PT" dirty="0" err="1"/>
              <a:t>adequate</a:t>
            </a:r>
            <a:r>
              <a:rPr lang="pt-PT" dirty="0"/>
              <a:t> </a:t>
            </a:r>
            <a:r>
              <a:rPr lang="pt-PT" dirty="0" err="1"/>
              <a:t>machine</a:t>
            </a:r>
            <a:r>
              <a:rPr lang="pt-PT" dirty="0"/>
              <a:t> </a:t>
            </a:r>
            <a:r>
              <a:rPr lang="pt-PT" dirty="0" err="1"/>
              <a:t>learning</a:t>
            </a:r>
            <a:r>
              <a:rPr lang="pt-PT" dirty="0"/>
              <a:t> </a:t>
            </a:r>
            <a:r>
              <a:rPr lang="pt-PT" dirty="0" err="1"/>
              <a:t>algorithms</a:t>
            </a:r>
            <a:r>
              <a:rPr lang="pt-PT" dirty="0"/>
              <a:t> </a:t>
            </a:r>
            <a:r>
              <a:rPr lang="pt-PT" dirty="0" err="1"/>
              <a:t>depending</a:t>
            </a:r>
            <a:r>
              <a:rPr lang="pt-PT" dirty="0"/>
              <a:t> </a:t>
            </a:r>
            <a:r>
              <a:rPr lang="pt-PT" dirty="0" err="1"/>
              <a:t>on</a:t>
            </a:r>
            <a:r>
              <a:rPr lang="pt-PT" dirty="0"/>
              <a:t> </a:t>
            </a:r>
            <a:r>
              <a:rPr lang="pt-PT" dirty="0" err="1"/>
              <a:t>the</a:t>
            </a:r>
            <a:r>
              <a:rPr lang="pt-PT" dirty="0"/>
              <a:t> </a:t>
            </a:r>
            <a:r>
              <a:rPr lang="pt-PT" dirty="0" err="1"/>
              <a:t>task</a:t>
            </a:r>
            <a:r>
              <a:rPr lang="pt-PT" dirty="0"/>
              <a:t> </a:t>
            </a:r>
            <a:r>
              <a:rPr lang="pt-PT" dirty="0" err="1"/>
              <a:t>at</a:t>
            </a:r>
            <a:r>
              <a:rPr lang="pt-PT" dirty="0"/>
              <a:t> </a:t>
            </a:r>
            <a:r>
              <a:rPr lang="pt-PT" dirty="0" err="1"/>
              <a:t>hand</a:t>
            </a:r>
            <a:r>
              <a:rPr lang="pt-PT" dirty="0"/>
              <a:t>.</a:t>
            </a:r>
          </a:p>
          <a:p>
            <a:pPr marL="800100" lvl="1" indent="-342900">
              <a:lnSpc>
                <a:spcPct val="150000"/>
              </a:lnSpc>
              <a:spcBef>
                <a:spcPct val="25000"/>
              </a:spcBef>
              <a:buFont typeface="+mj-lt"/>
              <a:buAutoNum type="alphaLcParenR" startAt="3"/>
            </a:pPr>
            <a:r>
              <a:rPr lang="pt-PT" dirty="0" err="1">
                <a:solidFill>
                  <a:schemeClr val="accent6"/>
                </a:solidFill>
              </a:rPr>
              <a:t>Generalizing</a:t>
            </a:r>
            <a:endParaRPr lang="pt-PT" dirty="0">
              <a:solidFill>
                <a:schemeClr val="accent6"/>
              </a:solidFill>
            </a:endParaRPr>
          </a:p>
          <a:p>
            <a:pPr marL="982663" lvl="1" indent="6350">
              <a:lnSpc>
                <a:spcPct val="150000"/>
              </a:lnSpc>
              <a:spcBef>
                <a:spcPct val="25000"/>
              </a:spcBef>
            </a:pPr>
            <a:r>
              <a:rPr lang="pt-PT" dirty="0" err="1"/>
              <a:t>Applying</a:t>
            </a:r>
            <a:r>
              <a:rPr lang="pt-PT" dirty="0"/>
              <a:t> </a:t>
            </a:r>
            <a:r>
              <a:rPr lang="pt-PT" dirty="0" err="1"/>
              <a:t>the</a:t>
            </a:r>
            <a:r>
              <a:rPr lang="pt-PT" dirty="0"/>
              <a:t> </a:t>
            </a:r>
            <a:r>
              <a:rPr lang="pt-PT" dirty="0" err="1"/>
              <a:t>infered</a:t>
            </a:r>
            <a:r>
              <a:rPr lang="pt-PT" dirty="0"/>
              <a:t> </a:t>
            </a:r>
            <a:r>
              <a:rPr lang="pt-PT" dirty="0" err="1"/>
              <a:t>model</a:t>
            </a:r>
            <a:r>
              <a:rPr lang="pt-PT" dirty="0"/>
              <a:t> to </a:t>
            </a:r>
            <a:r>
              <a:rPr lang="pt-PT" dirty="0" err="1"/>
              <a:t>new</a:t>
            </a:r>
            <a:r>
              <a:rPr lang="pt-PT" dirty="0"/>
              <a:t> </a:t>
            </a:r>
            <a:r>
              <a:rPr lang="pt-PT" dirty="0" err="1"/>
              <a:t>examples</a:t>
            </a:r>
            <a:r>
              <a:rPr lang="pt-PT" dirty="0"/>
              <a:t>.</a:t>
            </a:r>
          </a:p>
          <a:p>
            <a:pPr marL="800100" lvl="1" indent="-342900">
              <a:lnSpc>
                <a:spcPct val="150000"/>
              </a:lnSpc>
              <a:spcBef>
                <a:spcPct val="25000"/>
              </a:spcBef>
              <a:buFont typeface="+mj-lt"/>
              <a:buAutoNum type="alphaLcParenR" startAt="4"/>
            </a:pPr>
            <a:r>
              <a:rPr lang="pt-PT" dirty="0" err="1">
                <a:solidFill>
                  <a:schemeClr val="accent6"/>
                </a:solidFill>
              </a:rPr>
              <a:t>Presenting</a:t>
            </a:r>
            <a:endParaRPr lang="pt-PT" dirty="0">
              <a:solidFill>
                <a:schemeClr val="accent6"/>
              </a:solidFill>
            </a:endParaRPr>
          </a:p>
          <a:p>
            <a:pPr marL="982663" lvl="1" indent="6350">
              <a:lnSpc>
                <a:spcPct val="150000"/>
              </a:lnSpc>
              <a:spcBef>
                <a:spcPct val="25000"/>
              </a:spcBef>
            </a:pPr>
            <a:r>
              <a:rPr lang="pt-PT" dirty="0" err="1"/>
              <a:t>Presenting</a:t>
            </a:r>
            <a:r>
              <a:rPr lang="pt-PT" dirty="0"/>
              <a:t> </a:t>
            </a:r>
            <a:r>
              <a:rPr lang="pt-PT" dirty="0" err="1"/>
              <a:t>results</a:t>
            </a:r>
            <a:r>
              <a:rPr lang="pt-PT" dirty="0"/>
              <a:t>.</a:t>
            </a:r>
          </a:p>
        </p:txBody>
      </p:sp>
      <p:sp>
        <p:nvSpPr>
          <p:cNvPr id="5" name="Rectangle 4"/>
          <p:cNvSpPr/>
          <p:nvPr/>
        </p:nvSpPr>
        <p:spPr>
          <a:xfrm>
            <a:off x="611560" y="1268760"/>
            <a:ext cx="8136904" cy="4464496"/>
          </a:xfrm>
          <a:prstGeom prst="rect">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dissolv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2"/>
                </a:solidFill>
              </a:rPr>
              <a:t>Intro|</a:t>
            </a:r>
            <a:r>
              <a:rPr lang="pt-PT" sz="2800" dirty="0" err="1">
                <a:solidFill>
                  <a:schemeClr val="bg1">
                    <a:lumMod val="50000"/>
                  </a:schemeClr>
                </a:solidFill>
              </a:rPr>
              <a:t>Models</a:t>
            </a:r>
            <a:r>
              <a:rPr lang="pt-PT" sz="2800" dirty="0" err="1">
                <a:solidFill>
                  <a:schemeClr val="bg2"/>
                </a:solidFill>
              </a:rPr>
              <a:t>|</a:t>
            </a:r>
            <a:r>
              <a:rPr lang="pt-PT" sz="2800" b="1" dirty="0" err="1">
                <a:solidFill>
                  <a:srgbClr val="A50021"/>
                </a:solidFill>
              </a:rPr>
              <a:t>Processing</a:t>
            </a:r>
            <a:r>
              <a:rPr lang="pt-PT" sz="2800" dirty="0" err="1">
                <a:solidFill>
                  <a:schemeClr val="bg2"/>
                </a:solidFill>
              </a:rPr>
              <a:t>|Tools|R|Case</a:t>
            </a:r>
            <a:r>
              <a:rPr lang="pt-PT" sz="2800" dirty="0">
                <a:solidFill>
                  <a:schemeClr val="bg2"/>
                </a:solidFill>
              </a:rPr>
              <a:t> </a:t>
            </a:r>
            <a:r>
              <a:rPr lang="pt-PT" sz="2800" dirty="0" err="1">
                <a:solidFill>
                  <a:schemeClr val="bg2"/>
                </a:solidFill>
              </a:rPr>
              <a:t>study|Handson</a:t>
            </a:r>
            <a:endParaRPr lang="pt-PT" sz="2800" dirty="0">
              <a:solidFill>
                <a:schemeClr val="bg2"/>
              </a:solidFill>
            </a:endParaRPr>
          </a:p>
        </p:txBody>
      </p:sp>
      <p:sp>
        <p:nvSpPr>
          <p:cNvPr id="4" name="Text Box 3"/>
          <p:cNvSpPr txBox="1">
            <a:spLocks noChangeArrowheads="1"/>
          </p:cNvSpPr>
          <p:nvPr/>
        </p:nvSpPr>
        <p:spPr bwMode="auto">
          <a:xfrm>
            <a:off x="250825" y="692150"/>
            <a:ext cx="8642350" cy="5816977"/>
          </a:xfrm>
          <a:prstGeom prst="rect">
            <a:avLst/>
          </a:prstGeom>
          <a:noFill/>
          <a:ln w="9525">
            <a:noFill/>
            <a:miter lim="800000"/>
            <a:headEnd/>
            <a:tailEnd/>
          </a:ln>
        </p:spPr>
        <p:txBody>
          <a:bodyPr>
            <a:spAutoFit/>
          </a:bodyPr>
          <a:lstStyle/>
          <a:p>
            <a:r>
              <a:rPr lang="pt-PT" b="1" u="sng" cap="all" dirty="0" err="1">
                <a:solidFill>
                  <a:schemeClr val="accent6"/>
                </a:solidFill>
              </a:rPr>
              <a:t>Pre-processing</a:t>
            </a:r>
            <a:r>
              <a:rPr lang="pt-PT" b="1" u="sng" cap="all" dirty="0">
                <a:solidFill>
                  <a:schemeClr val="accent6"/>
                </a:solidFill>
              </a:rPr>
              <a:t> </a:t>
            </a:r>
            <a:r>
              <a:rPr lang="pt-PT" b="1" u="sng" cap="all" dirty="0" err="1">
                <a:solidFill>
                  <a:schemeClr val="accent6"/>
                </a:solidFill>
              </a:rPr>
              <a:t>stage</a:t>
            </a:r>
            <a:r>
              <a:rPr lang="pt-PT" b="1" u="sng" cap="all" dirty="0">
                <a:solidFill>
                  <a:schemeClr val="accent6"/>
                </a:solidFill>
              </a:rPr>
              <a:t>:</a:t>
            </a:r>
            <a:endParaRPr lang="en-US" cap="all" dirty="0"/>
          </a:p>
          <a:p>
            <a:endParaRPr lang="en-US" dirty="0"/>
          </a:p>
          <a:p>
            <a:r>
              <a:rPr lang="en-US" sz="1600" b="1" dirty="0">
                <a:solidFill>
                  <a:schemeClr val="tx1">
                    <a:lumMod val="50000"/>
                    <a:lumOff val="50000"/>
                  </a:schemeClr>
                </a:solidFill>
              </a:rPr>
              <a:t>Text preparation</a:t>
            </a:r>
            <a:r>
              <a:rPr lang="en-US" sz="1600" dirty="0">
                <a:solidFill>
                  <a:schemeClr val="tx1">
                    <a:lumMod val="50000"/>
                    <a:lumOff val="50000"/>
                  </a:schemeClr>
                </a:solidFill>
              </a:rPr>
              <a:t>: takes a text document as input and returns a set of features describing it. This phase includes several steps that attempt to eliminate non-informative features and might involve some or all of the following tasks´:</a:t>
            </a:r>
          </a:p>
          <a:p>
            <a:endParaRPr lang="en-US" sz="1600" dirty="0">
              <a:solidFill>
                <a:srgbClr val="002060"/>
              </a:solidFill>
            </a:endParaRPr>
          </a:p>
          <a:p>
            <a:pPr marL="541338" indent="-179388"/>
            <a:r>
              <a:rPr lang="en-US" sz="1600" b="1" dirty="0">
                <a:solidFill>
                  <a:srgbClr val="002060"/>
                </a:solidFill>
              </a:rPr>
              <a:t>Tokenization </a:t>
            </a:r>
            <a:r>
              <a:rPr lang="en-US" sz="1600" dirty="0">
                <a:solidFill>
                  <a:srgbClr val="002060"/>
                </a:solidFill>
              </a:rPr>
              <a:t>– breaking the text document into tokens, commonly words; includes all sorts of lexical analysis steps, such as: eliminating punctuation, eventually numbers, accents and extra spacing, converting to lower/upper case</a:t>
            </a:r>
          </a:p>
          <a:p>
            <a:pPr marL="541338" indent="-179388"/>
            <a:endParaRPr lang="en-US" sz="1600" dirty="0">
              <a:solidFill>
                <a:srgbClr val="002060"/>
              </a:solidFill>
            </a:endParaRPr>
          </a:p>
          <a:p>
            <a:pPr marL="541338" indent="-179388"/>
            <a:r>
              <a:rPr lang="en-US" sz="1600" b="1" dirty="0">
                <a:solidFill>
                  <a:srgbClr val="002060"/>
                </a:solidFill>
              </a:rPr>
              <a:t>Stop-word removal </a:t>
            </a:r>
            <a:r>
              <a:rPr lang="en-US" sz="1600" dirty="0">
                <a:solidFill>
                  <a:srgbClr val="002060"/>
                </a:solidFill>
              </a:rPr>
              <a:t>– removing irrelevant terms; requires a list of stop-words (words to eliminate)</a:t>
            </a:r>
          </a:p>
          <a:p>
            <a:pPr marL="541338" indent="-179388"/>
            <a:endParaRPr lang="en-US" sz="1600" dirty="0">
              <a:solidFill>
                <a:srgbClr val="002060"/>
              </a:solidFill>
            </a:endParaRPr>
          </a:p>
          <a:p>
            <a:pPr marL="541338" indent="-179388"/>
            <a:r>
              <a:rPr lang="en-US" sz="1600" b="1" dirty="0">
                <a:solidFill>
                  <a:srgbClr val="002060"/>
                </a:solidFill>
              </a:rPr>
              <a:t>Stemming </a:t>
            </a:r>
            <a:r>
              <a:rPr lang="en-US" sz="1600" dirty="0">
                <a:solidFill>
                  <a:srgbClr val="002060"/>
                </a:solidFill>
              </a:rPr>
              <a:t>or lemmatization – reducing words to their semantic root; the Porter algorithm</a:t>
            </a:r>
          </a:p>
          <a:p>
            <a:endParaRPr lang="en-US" sz="1600" dirty="0">
              <a:solidFill>
                <a:srgbClr val="002060"/>
              </a:solidFill>
            </a:endParaRPr>
          </a:p>
          <a:p>
            <a:r>
              <a:rPr lang="en-US" sz="1600" b="1" dirty="0">
                <a:solidFill>
                  <a:schemeClr val="tx1">
                    <a:lumMod val="50000"/>
                    <a:lumOff val="50000"/>
                  </a:schemeClr>
                </a:solidFill>
              </a:rPr>
              <a:t>Text representation</a:t>
            </a:r>
            <a:r>
              <a:rPr lang="en-US" sz="1600" dirty="0">
                <a:solidFill>
                  <a:schemeClr val="tx1">
                    <a:lumMod val="50000"/>
                    <a:lumOff val="50000"/>
                  </a:schemeClr>
                </a:solidFill>
              </a:rPr>
              <a:t>: the full process of selecting features and computing their weights is known as </a:t>
            </a:r>
            <a:r>
              <a:rPr lang="en-US" sz="1600" i="1" dirty="0">
                <a:solidFill>
                  <a:schemeClr val="tx1">
                    <a:lumMod val="50000"/>
                    <a:lumOff val="50000"/>
                  </a:schemeClr>
                </a:solidFill>
              </a:rPr>
              <a:t>indexing</a:t>
            </a:r>
            <a:r>
              <a:rPr lang="en-US" sz="1600" dirty="0">
                <a:solidFill>
                  <a:schemeClr val="tx1">
                    <a:lumMod val="50000"/>
                    <a:lumOff val="50000"/>
                  </a:schemeClr>
                </a:solidFill>
              </a:rPr>
              <a:t>.</a:t>
            </a:r>
          </a:p>
          <a:p>
            <a:endParaRPr lang="en-US" sz="1600" dirty="0">
              <a:solidFill>
                <a:srgbClr val="002060"/>
              </a:solidFill>
            </a:endParaRPr>
          </a:p>
          <a:p>
            <a:pPr marL="541338" indent="-179388"/>
            <a:r>
              <a:rPr lang="en-US" sz="1600" b="1" dirty="0">
                <a:solidFill>
                  <a:srgbClr val="002060"/>
                </a:solidFill>
              </a:rPr>
              <a:t>Feature selection</a:t>
            </a:r>
            <a:r>
              <a:rPr lang="en-US" sz="1600" dirty="0">
                <a:solidFill>
                  <a:srgbClr val="002060"/>
                </a:solidFill>
              </a:rPr>
              <a:t> – defining index terms, the features that will be used for document modeling (vocabulary)</a:t>
            </a:r>
          </a:p>
          <a:p>
            <a:pPr marL="541338" indent="-179388"/>
            <a:endParaRPr lang="en-US" sz="1600" dirty="0">
              <a:solidFill>
                <a:srgbClr val="002060"/>
              </a:solidFill>
            </a:endParaRPr>
          </a:p>
          <a:p>
            <a:pPr marL="541338" indent="-179388"/>
            <a:r>
              <a:rPr lang="en-US" sz="1600" dirty="0">
                <a:solidFill>
                  <a:srgbClr val="002060"/>
                </a:solidFill>
              </a:rPr>
              <a:t>Computing index </a:t>
            </a:r>
            <a:r>
              <a:rPr lang="en-US" sz="1600" b="1" dirty="0">
                <a:solidFill>
                  <a:srgbClr val="002060"/>
                </a:solidFill>
              </a:rPr>
              <a:t>term weight</a:t>
            </a:r>
          </a:p>
          <a:p>
            <a:endParaRPr lang="en-US" sz="1600"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2"/>
                </a:solidFill>
              </a:rPr>
              <a:t>Intro|</a:t>
            </a:r>
            <a:r>
              <a:rPr lang="pt-PT" sz="2800" dirty="0" err="1">
                <a:solidFill>
                  <a:schemeClr val="bg1">
                    <a:lumMod val="50000"/>
                  </a:schemeClr>
                </a:solidFill>
              </a:rPr>
              <a:t>Models</a:t>
            </a:r>
            <a:r>
              <a:rPr lang="pt-PT" sz="2800" dirty="0" err="1">
                <a:solidFill>
                  <a:schemeClr val="bg2"/>
                </a:solidFill>
              </a:rPr>
              <a:t>|</a:t>
            </a:r>
            <a:r>
              <a:rPr lang="pt-PT" sz="2800" b="1" dirty="0" err="1">
                <a:solidFill>
                  <a:srgbClr val="A50021"/>
                </a:solidFill>
              </a:rPr>
              <a:t>Processing</a:t>
            </a:r>
            <a:r>
              <a:rPr lang="pt-PT" sz="2800" dirty="0" err="1">
                <a:solidFill>
                  <a:schemeClr val="bg2"/>
                </a:solidFill>
              </a:rPr>
              <a:t>|Tools|R|Case</a:t>
            </a:r>
            <a:r>
              <a:rPr lang="pt-PT" sz="2800" dirty="0">
                <a:solidFill>
                  <a:schemeClr val="bg2"/>
                </a:solidFill>
              </a:rPr>
              <a:t> </a:t>
            </a:r>
            <a:r>
              <a:rPr lang="pt-PT" sz="2800" dirty="0" err="1">
                <a:solidFill>
                  <a:schemeClr val="bg2"/>
                </a:solidFill>
              </a:rPr>
              <a:t>study|Handson</a:t>
            </a:r>
            <a:endParaRPr lang="pt-PT" sz="2800" dirty="0">
              <a:solidFill>
                <a:schemeClr val="bg2"/>
              </a:solidFill>
            </a:endParaRPr>
          </a:p>
        </p:txBody>
      </p:sp>
      <p:sp>
        <p:nvSpPr>
          <p:cNvPr id="4" name="Text Box 3"/>
          <p:cNvSpPr txBox="1">
            <a:spLocks noChangeArrowheads="1"/>
          </p:cNvSpPr>
          <p:nvPr/>
        </p:nvSpPr>
        <p:spPr bwMode="auto">
          <a:xfrm>
            <a:off x="250825" y="692150"/>
            <a:ext cx="8642350" cy="4524315"/>
          </a:xfrm>
          <a:prstGeom prst="rect">
            <a:avLst/>
          </a:prstGeom>
          <a:noFill/>
          <a:ln w="9525">
            <a:noFill/>
            <a:miter lim="800000"/>
            <a:headEnd/>
            <a:tailEnd/>
          </a:ln>
        </p:spPr>
        <p:txBody>
          <a:bodyPr>
            <a:spAutoFit/>
          </a:bodyPr>
          <a:lstStyle/>
          <a:p>
            <a:r>
              <a:rPr lang="pt-PT" b="1" u="sng" cap="all" dirty="0" err="1">
                <a:solidFill>
                  <a:schemeClr val="accent6"/>
                </a:solidFill>
              </a:rPr>
              <a:t>Pre-processing</a:t>
            </a:r>
            <a:r>
              <a:rPr lang="pt-PT" b="1" u="sng" cap="all" dirty="0">
                <a:solidFill>
                  <a:schemeClr val="accent6"/>
                </a:solidFill>
              </a:rPr>
              <a:t> </a:t>
            </a:r>
            <a:r>
              <a:rPr lang="pt-PT" b="1" u="sng" cap="all" dirty="0" err="1">
                <a:solidFill>
                  <a:schemeClr val="accent6"/>
                </a:solidFill>
              </a:rPr>
              <a:t>stage</a:t>
            </a:r>
            <a:r>
              <a:rPr lang="pt-PT" b="1" u="sng" cap="all" dirty="0">
                <a:solidFill>
                  <a:schemeClr val="accent6"/>
                </a:solidFill>
              </a:rPr>
              <a:t>:</a:t>
            </a:r>
            <a:endParaRPr lang="en-US" cap="all" dirty="0"/>
          </a:p>
          <a:p>
            <a:endParaRPr lang="en-US" dirty="0"/>
          </a:p>
          <a:p>
            <a:r>
              <a:rPr lang="en-US" dirty="0">
                <a:solidFill>
                  <a:srgbClr val="002060"/>
                </a:solidFill>
              </a:rPr>
              <a:t>The tasks performed during the </a:t>
            </a:r>
            <a:r>
              <a:rPr lang="en-US" b="1" dirty="0">
                <a:solidFill>
                  <a:srgbClr val="002060"/>
                </a:solidFill>
              </a:rPr>
              <a:t>pre-processing </a:t>
            </a:r>
            <a:r>
              <a:rPr lang="en-US" dirty="0">
                <a:solidFill>
                  <a:srgbClr val="002060"/>
                </a:solidFill>
              </a:rPr>
              <a:t>stage </a:t>
            </a:r>
            <a:r>
              <a:rPr lang="en-US" b="1" dirty="0">
                <a:solidFill>
                  <a:srgbClr val="002060"/>
                </a:solidFill>
              </a:rPr>
              <a:t>depend on the model </a:t>
            </a:r>
            <a:r>
              <a:rPr lang="en-US" dirty="0">
                <a:solidFill>
                  <a:srgbClr val="002060"/>
                </a:solidFill>
              </a:rPr>
              <a:t>that will be used to represent text.</a:t>
            </a:r>
          </a:p>
          <a:p>
            <a:r>
              <a:rPr lang="en-US" dirty="0">
                <a:solidFill>
                  <a:srgbClr val="002060"/>
                </a:solidFill>
              </a:rPr>
              <a:t>The application of these pre-processing tasks must be carefully done because the predictive power of words is highly dependent on the topic of interest.</a:t>
            </a:r>
          </a:p>
          <a:p>
            <a:endParaRPr lang="pt-PT" dirty="0">
              <a:solidFill>
                <a:srgbClr val="002060"/>
              </a:solidFill>
            </a:endParaRPr>
          </a:p>
          <a:p>
            <a:r>
              <a:rPr lang="pt-PT" dirty="0" err="1">
                <a:solidFill>
                  <a:srgbClr val="002060"/>
                </a:solidFill>
              </a:rPr>
              <a:t>Another</a:t>
            </a:r>
            <a:r>
              <a:rPr lang="pt-PT" dirty="0">
                <a:solidFill>
                  <a:srgbClr val="002060"/>
                </a:solidFill>
              </a:rPr>
              <a:t> </a:t>
            </a:r>
            <a:r>
              <a:rPr lang="en-US" dirty="0">
                <a:solidFill>
                  <a:srgbClr val="002060"/>
                </a:solidFill>
              </a:rPr>
              <a:t>essential aspect to consider is the </a:t>
            </a:r>
            <a:r>
              <a:rPr lang="en-US" b="1" dirty="0">
                <a:solidFill>
                  <a:srgbClr val="002060"/>
                </a:solidFill>
              </a:rPr>
              <a:t>language </a:t>
            </a:r>
            <a:r>
              <a:rPr lang="en-US" dirty="0">
                <a:solidFill>
                  <a:srgbClr val="002060"/>
                </a:solidFill>
              </a:rPr>
              <a:t>in which the document is written, which determines, at least, the list of </a:t>
            </a:r>
            <a:r>
              <a:rPr lang="en-US" b="1" dirty="0">
                <a:solidFill>
                  <a:srgbClr val="002060"/>
                </a:solidFill>
              </a:rPr>
              <a:t>stop-words </a:t>
            </a:r>
            <a:r>
              <a:rPr lang="en-US" dirty="0">
                <a:solidFill>
                  <a:srgbClr val="002060"/>
                </a:solidFill>
              </a:rPr>
              <a:t>and the </a:t>
            </a:r>
            <a:r>
              <a:rPr lang="en-US" b="1" dirty="0">
                <a:solidFill>
                  <a:srgbClr val="002060"/>
                </a:solidFill>
              </a:rPr>
              <a:t>stemming algorithm </a:t>
            </a:r>
            <a:r>
              <a:rPr lang="en-US" dirty="0">
                <a:solidFill>
                  <a:srgbClr val="002060"/>
                </a:solidFill>
              </a:rPr>
              <a:t>to use.</a:t>
            </a:r>
          </a:p>
          <a:p>
            <a:endParaRPr lang="en-US" dirty="0">
              <a:solidFill>
                <a:srgbClr val="002060"/>
              </a:solidFill>
            </a:endParaRPr>
          </a:p>
          <a:p>
            <a:r>
              <a:rPr lang="en-US" b="1" dirty="0">
                <a:solidFill>
                  <a:srgbClr val="002060"/>
                </a:solidFill>
              </a:rPr>
              <a:t>Stop-words removal is controversial</a:t>
            </a:r>
            <a:r>
              <a:rPr lang="en-US" dirty="0">
                <a:solidFill>
                  <a:srgbClr val="002060"/>
                </a:solidFill>
              </a:rPr>
              <a:t>. Removing words from a text, even those that in a linguistic sense have low semantic value, always reduces the information contained in the text document. Stop-word removal reduces the dimensionality of the feature space at a cost of loosing some information. A compromise solution must be set so that this information loss does not becomes counterproductive.</a:t>
            </a:r>
            <a:endParaRPr lang="pt-PT" dirty="0">
              <a:solidFill>
                <a:srgbClr val="002060"/>
              </a:solidFill>
            </a:endParaRPr>
          </a:p>
        </p:txBody>
      </p:sp>
      <p:sp>
        <p:nvSpPr>
          <p:cNvPr id="5" name="Rectangle 4"/>
          <p:cNvSpPr/>
          <p:nvPr/>
        </p:nvSpPr>
        <p:spPr>
          <a:xfrm>
            <a:off x="395536" y="5409220"/>
            <a:ext cx="2592288"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solidFill>
                  <a:schemeClr val="accent6">
                    <a:lumMod val="50000"/>
                  </a:schemeClr>
                </a:solidFill>
              </a:rPr>
              <a:t>To </a:t>
            </a:r>
            <a:r>
              <a:rPr lang="pt-PT" dirty="0" err="1">
                <a:solidFill>
                  <a:schemeClr val="accent6">
                    <a:lumMod val="50000"/>
                  </a:schemeClr>
                </a:solidFill>
              </a:rPr>
              <a:t>be</a:t>
            </a:r>
            <a:r>
              <a:rPr lang="pt-PT" dirty="0">
                <a:solidFill>
                  <a:schemeClr val="accent6">
                    <a:lumMod val="50000"/>
                  </a:schemeClr>
                </a:solidFill>
              </a:rPr>
              <a:t> </a:t>
            </a:r>
            <a:r>
              <a:rPr lang="pt-PT" dirty="0" err="1">
                <a:solidFill>
                  <a:schemeClr val="accent6">
                    <a:lumMod val="50000"/>
                  </a:schemeClr>
                </a:solidFill>
              </a:rPr>
              <a:t>or</a:t>
            </a:r>
            <a:r>
              <a:rPr lang="pt-PT" dirty="0">
                <a:solidFill>
                  <a:schemeClr val="accent6">
                    <a:lumMod val="50000"/>
                  </a:schemeClr>
                </a:solidFill>
              </a:rPr>
              <a:t> </a:t>
            </a:r>
            <a:r>
              <a:rPr lang="pt-PT" dirty="0" err="1">
                <a:solidFill>
                  <a:schemeClr val="accent6">
                    <a:lumMod val="50000"/>
                  </a:schemeClr>
                </a:solidFill>
              </a:rPr>
              <a:t>not</a:t>
            </a:r>
            <a:r>
              <a:rPr lang="pt-PT" dirty="0">
                <a:solidFill>
                  <a:schemeClr val="accent6">
                    <a:lumMod val="50000"/>
                  </a:schemeClr>
                </a:solidFill>
              </a:rPr>
              <a:t> to </a:t>
            </a:r>
            <a:r>
              <a:rPr lang="pt-PT" dirty="0" err="1">
                <a:solidFill>
                  <a:schemeClr val="accent6">
                    <a:lumMod val="50000"/>
                  </a:schemeClr>
                </a:solidFill>
              </a:rPr>
              <a:t>be</a:t>
            </a:r>
            <a:r>
              <a:rPr lang="pt-PT" dirty="0">
                <a:solidFill>
                  <a:schemeClr val="accent6">
                    <a:lumMod val="50000"/>
                  </a:schemeClr>
                </a:solidFill>
              </a:rPr>
              <a:t>.</a:t>
            </a:r>
          </a:p>
        </p:txBody>
      </p:sp>
      <p:sp>
        <p:nvSpPr>
          <p:cNvPr id="6" name="Rectangle 5"/>
          <p:cNvSpPr/>
          <p:nvPr/>
        </p:nvSpPr>
        <p:spPr>
          <a:xfrm>
            <a:off x="6228184" y="5409220"/>
            <a:ext cx="2592288"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solidFill>
                  <a:schemeClr val="accent6">
                    <a:lumMod val="50000"/>
                  </a:schemeClr>
                </a:solidFill>
              </a:rPr>
              <a:t>.</a:t>
            </a:r>
          </a:p>
        </p:txBody>
      </p:sp>
      <p:sp>
        <p:nvSpPr>
          <p:cNvPr id="7" name="Right Arrow 6"/>
          <p:cNvSpPr/>
          <p:nvPr/>
        </p:nvSpPr>
        <p:spPr>
          <a:xfrm>
            <a:off x="3275856" y="5373216"/>
            <a:ext cx="2736304" cy="57606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400" i="1" dirty="0">
                <a:solidFill>
                  <a:schemeClr val="tx1"/>
                </a:solidFill>
              </a:rPr>
              <a:t>Stop </a:t>
            </a:r>
            <a:r>
              <a:rPr lang="pt-PT" sz="1400" i="1" dirty="0" err="1">
                <a:solidFill>
                  <a:schemeClr val="tx1"/>
                </a:solidFill>
              </a:rPr>
              <a:t>word</a:t>
            </a:r>
            <a:r>
              <a:rPr lang="pt-PT" sz="1400" i="1" dirty="0">
                <a:solidFill>
                  <a:schemeClr val="tx1"/>
                </a:solidFill>
              </a:rPr>
              <a:t> </a:t>
            </a:r>
            <a:r>
              <a:rPr lang="pt-PT" sz="1400" i="1" dirty="0" err="1">
                <a:solidFill>
                  <a:schemeClr val="tx1"/>
                </a:solidFill>
              </a:rPr>
              <a:t>removal</a:t>
            </a:r>
            <a:endParaRPr lang="pt-PT" i="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2"/>
                </a:solidFill>
              </a:rPr>
              <a:t>Intro|</a:t>
            </a:r>
            <a:r>
              <a:rPr lang="pt-PT" sz="2800" dirty="0" err="1">
                <a:solidFill>
                  <a:schemeClr val="bg1">
                    <a:lumMod val="50000"/>
                  </a:schemeClr>
                </a:solidFill>
              </a:rPr>
              <a:t>Models</a:t>
            </a:r>
            <a:r>
              <a:rPr lang="pt-PT" sz="2800" dirty="0" err="1">
                <a:solidFill>
                  <a:schemeClr val="bg2"/>
                </a:solidFill>
              </a:rPr>
              <a:t>|</a:t>
            </a:r>
            <a:r>
              <a:rPr lang="pt-PT" sz="2800" b="1" dirty="0" err="1">
                <a:solidFill>
                  <a:srgbClr val="A50021"/>
                </a:solidFill>
              </a:rPr>
              <a:t>Processing</a:t>
            </a:r>
            <a:r>
              <a:rPr lang="pt-PT" sz="2800" dirty="0" err="1">
                <a:solidFill>
                  <a:schemeClr val="bg2"/>
                </a:solidFill>
              </a:rPr>
              <a:t>|Tools|R|Case</a:t>
            </a:r>
            <a:r>
              <a:rPr lang="pt-PT" sz="2800" dirty="0">
                <a:solidFill>
                  <a:schemeClr val="bg2"/>
                </a:solidFill>
              </a:rPr>
              <a:t> </a:t>
            </a:r>
            <a:r>
              <a:rPr lang="pt-PT" sz="2800" dirty="0" err="1">
                <a:solidFill>
                  <a:schemeClr val="bg2"/>
                </a:solidFill>
              </a:rPr>
              <a:t>study|Handson</a:t>
            </a:r>
            <a:endParaRPr lang="pt-PT" sz="2800" dirty="0">
              <a:solidFill>
                <a:schemeClr val="bg2"/>
              </a:solidFill>
            </a:endParaRPr>
          </a:p>
        </p:txBody>
      </p:sp>
      <p:sp>
        <p:nvSpPr>
          <p:cNvPr id="4" name="Text Box 3"/>
          <p:cNvSpPr txBox="1">
            <a:spLocks noChangeArrowheads="1"/>
          </p:cNvSpPr>
          <p:nvPr/>
        </p:nvSpPr>
        <p:spPr bwMode="auto">
          <a:xfrm>
            <a:off x="250825" y="692150"/>
            <a:ext cx="8642350" cy="5632311"/>
          </a:xfrm>
          <a:prstGeom prst="rect">
            <a:avLst/>
          </a:prstGeom>
          <a:noFill/>
          <a:ln w="9525">
            <a:noFill/>
            <a:miter lim="800000"/>
            <a:headEnd/>
            <a:tailEnd/>
          </a:ln>
        </p:spPr>
        <p:txBody>
          <a:bodyPr>
            <a:spAutoFit/>
          </a:bodyPr>
          <a:lstStyle/>
          <a:p>
            <a:r>
              <a:rPr lang="pt-PT" b="1" u="sng" cap="all" dirty="0" err="1">
                <a:solidFill>
                  <a:schemeClr val="accent6"/>
                </a:solidFill>
              </a:rPr>
              <a:t>Pre-processing</a:t>
            </a:r>
            <a:r>
              <a:rPr lang="pt-PT" b="1" u="sng" cap="all" dirty="0">
                <a:solidFill>
                  <a:schemeClr val="accent6"/>
                </a:solidFill>
              </a:rPr>
              <a:t> </a:t>
            </a:r>
            <a:r>
              <a:rPr lang="pt-PT" b="1" u="sng" cap="all" dirty="0" err="1">
                <a:solidFill>
                  <a:schemeClr val="accent6"/>
                </a:solidFill>
              </a:rPr>
              <a:t>stage</a:t>
            </a:r>
            <a:r>
              <a:rPr lang="pt-PT" b="1" u="sng" cap="all" dirty="0">
                <a:solidFill>
                  <a:schemeClr val="accent6"/>
                </a:solidFill>
              </a:rPr>
              <a:t>:</a:t>
            </a:r>
            <a:endParaRPr lang="en-US" cap="all" dirty="0"/>
          </a:p>
          <a:p>
            <a:endParaRPr lang="en-US" dirty="0"/>
          </a:p>
          <a:p>
            <a:r>
              <a:rPr lang="en-US" dirty="0"/>
              <a:t>D1: A student is a learner, or someone who attends an educational institution.</a:t>
            </a:r>
          </a:p>
          <a:p>
            <a:r>
              <a:rPr lang="en-US" dirty="0"/>
              <a:t>D2: The average age of higher education students is 29.</a:t>
            </a:r>
          </a:p>
          <a:p>
            <a:endParaRPr lang="en-US" dirty="0"/>
          </a:p>
          <a:p>
            <a:r>
              <a:rPr lang="en-US" b="1" dirty="0">
                <a:solidFill>
                  <a:srgbClr val="002060"/>
                </a:solidFill>
              </a:rPr>
              <a:t>Tokenization:</a:t>
            </a:r>
          </a:p>
          <a:p>
            <a:r>
              <a:rPr lang="en-US" dirty="0"/>
              <a:t>D1: a student is a learner or someone who attends an educational institution</a:t>
            </a:r>
          </a:p>
          <a:p>
            <a:r>
              <a:rPr lang="en-US" dirty="0"/>
              <a:t>D2: the average age of higher education students is</a:t>
            </a:r>
          </a:p>
          <a:p>
            <a:endParaRPr lang="en-US" dirty="0"/>
          </a:p>
          <a:p>
            <a:r>
              <a:rPr lang="en-US" b="1" dirty="0">
                <a:solidFill>
                  <a:srgbClr val="002060"/>
                </a:solidFill>
              </a:rPr>
              <a:t>Stop-word removal:</a:t>
            </a:r>
          </a:p>
          <a:p>
            <a:r>
              <a:rPr lang="en-US" dirty="0"/>
              <a:t>D1: student learner someone who attends educational institution</a:t>
            </a:r>
          </a:p>
          <a:p>
            <a:r>
              <a:rPr lang="en-US" dirty="0"/>
              <a:t>D2: average age higher education students</a:t>
            </a:r>
          </a:p>
          <a:p>
            <a:endParaRPr lang="en-US" dirty="0"/>
          </a:p>
          <a:p>
            <a:r>
              <a:rPr lang="en-US" b="1" dirty="0">
                <a:solidFill>
                  <a:srgbClr val="002060"/>
                </a:solidFill>
              </a:rPr>
              <a:t>Stemming:</a:t>
            </a:r>
          </a:p>
          <a:p>
            <a:r>
              <a:rPr lang="en-US" dirty="0"/>
              <a:t>D1: student learn someone who attend education institution</a:t>
            </a:r>
          </a:p>
          <a:p>
            <a:r>
              <a:rPr lang="en-US" dirty="0"/>
              <a:t>D2: average age higher education student</a:t>
            </a:r>
          </a:p>
          <a:p>
            <a:endParaRPr lang="en-US" dirty="0"/>
          </a:p>
          <a:p>
            <a:r>
              <a:rPr lang="en-US" b="1" dirty="0">
                <a:solidFill>
                  <a:srgbClr val="002060"/>
                </a:solidFill>
              </a:rPr>
              <a:t>Indexing:</a:t>
            </a:r>
          </a:p>
          <a:p>
            <a:endParaRPr lang="en-US" dirty="0"/>
          </a:p>
          <a:p>
            <a:endParaRPr lang="en-US" dirty="0"/>
          </a:p>
        </p:txBody>
      </p:sp>
      <p:graphicFrame>
        <p:nvGraphicFramePr>
          <p:cNvPr id="5" name="Table 4"/>
          <p:cNvGraphicFramePr>
            <a:graphicFrameLocks noGrp="1"/>
          </p:cNvGraphicFramePr>
          <p:nvPr/>
        </p:nvGraphicFramePr>
        <p:xfrm>
          <a:off x="1547662" y="5445224"/>
          <a:ext cx="7200802" cy="920280"/>
        </p:xfrm>
        <a:graphic>
          <a:graphicData uri="http://schemas.openxmlformats.org/drawingml/2006/table">
            <a:tbl>
              <a:tblPr/>
              <a:tblGrid>
                <a:gridCol w="360040">
                  <a:extLst>
                    <a:ext uri="{9D8B030D-6E8A-4147-A177-3AD203B41FA5}">
                      <a16:colId xmlns:a16="http://schemas.microsoft.com/office/drawing/2014/main" val="20000"/>
                    </a:ext>
                  </a:extLst>
                </a:gridCol>
                <a:gridCol w="360040">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936104">
                  <a:extLst>
                    <a:ext uri="{9D8B030D-6E8A-4147-A177-3AD203B41FA5}">
                      <a16:colId xmlns:a16="http://schemas.microsoft.com/office/drawing/2014/main" val="20006"/>
                    </a:ext>
                  </a:extLst>
                </a:gridCol>
                <a:gridCol w="504056">
                  <a:extLst>
                    <a:ext uri="{9D8B030D-6E8A-4147-A177-3AD203B41FA5}">
                      <a16:colId xmlns:a16="http://schemas.microsoft.com/office/drawing/2014/main" val="20007"/>
                    </a:ext>
                  </a:extLst>
                </a:gridCol>
                <a:gridCol w="936104">
                  <a:extLst>
                    <a:ext uri="{9D8B030D-6E8A-4147-A177-3AD203B41FA5}">
                      <a16:colId xmlns:a16="http://schemas.microsoft.com/office/drawing/2014/main" val="20008"/>
                    </a:ext>
                  </a:extLst>
                </a:gridCol>
                <a:gridCol w="720080">
                  <a:extLst>
                    <a:ext uri="{9D8B030D-6E8A-4147-A177-3AD203B41FA5}">
                      <a16:colId xmlns:a16="http://schemas.microsoft.com/office/drawing/2014/main" val="20009"/>
                    </a:ext>
                  </a:extLst>
                </a:gridCol>
                <a:gridCol w="504058">
                  <a:extLst>
                    <a:ext uri="{9D8B030D-6E8A-4147-A177-3AD203B41FA5}">
                      <a16:colId xmlns:a16="http://schemas.microsoft.com/office/drawing/2014/main" val="20010"/>
                    </a:ext>
                  </a:extLst>
                </a:gridCol>
              </a:tblGrid>
              <a:tr h="288032">
                <a:tc>
                  <a:txBody>
                    <a:bodyPr/>
                    <a:lstStyle/>
                    <a:p>
                      <a:pPr algn="l" fontAlgn="b"/>
                      <a:endParaRPr lang="pt-PT" sz="1600" b="0" i="0" u="none" strike="noStrike" dirty="0">
                        <a:solidFill>
                          <a:srgbClr val="000000"/>
                        </a:solidFill>
                        <a:latin typeface="Calibri"/>
                      </a:endParaRP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age</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err="1">
                          <a:solidFill>
                            <a:srgbClr val="000000"/>
                          </a:solidFill>
                          <a:latin typeface="Calibri"/>
                        </a:rPr>
                        <a:t>attend</a:t>
                      </a:r>
                      <a:endParaRPr lang="pt-PT" sz="1600" b="0" i="0" u="none" strike="noStrike" dirty="0">
                        <a:solidFill>
                          <a:srgbClr val="000000"/>
                        </a:solidFill>
                        <a:latin typeface="Calibri"/>
                      </a:endParaRP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average</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education</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higher</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institution</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learn</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someone</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student</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who</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0"/>
                  </a:ext>
                </a:extLst>
              </a:tr>
              <a:tr h="316124">
                <a:tc>
                  <a:txBody>
                    <a:bodyPr/>
                    <a:lstStyle/>
                    <a:p>
                      <a:pPr algn="l" fontAlgn="b"/>
                      <a:r>
                        <a:rPr lang="pt-PT" sz="1600" b="0" i="0" u="none" strike="noStrike" dirty="0">
                          <a:solidFill>
                            <a:srgbClr val="000000"/>
                          </a:solidFill>
                          <a:latin typeface="Calibri"/>
                        </a:rPr>
                        <a:t>D1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1"/>
                  </a:ext>
                </a:extLst>
              </a:tr>
              <a:tr h="316124">
                <a:tc>
                  <a:txBody>
                    <a:bodyPr/>
                    <a:lstStyle/>
                    <a:p>
                      <a:pPr algn="l" fontAlgn="b"/>
                      <a:r>
                        <a:rPr lang="pt-PT" sz="1600" b="0" i="0" u="none" strike="noStrike" dirty="0">
                          <a:solidFill>
                            <a:srgbClr val="000000"/>
                          </a:solidFill>
                          <a:latin typeface="Calibri"/>
                        </a:rPr>
                        <a:t>D2</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2"/>
                  </a:ext>
                </a:extLst>
              </a:tr>
            </a:tbl>
          </a:graphicData>
        </a:graphic>
      </p:graphicFrame>
      <p:sp>
        <p:nvSpPr>
          <p:cNvPr id="6" name="Oval 5"/>
          <p:cNvSpPr/>
          <p:nvPr/>
        </p:nvSpPr>
        <p:spPr>
          <a:xfrm>
            <a:off x="3563888" y="2492896"/>
            <a:ext cx="4392488" cy="259228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spcBef>
                <a:spcPts val="0"/>
              </a:spcBef>
              <a:spcAft>
                <a:spcPts val="0"/>
              </a:spcAft>
            </a:pPr>
            <a:r>
              <a:rPr lang="pt-PT" b="1" dirty="0" err="1">
                <a:solidFill>
                  <a:schemeClr val="accent6">
                    <a:lumMod val="50000"/>
                  </a:schemeClr>
                </a:solidFill>
              </a:rPr>
              <a:t>Which</a:t>
            </a:r>
            <a:r>
              <a:rPr lang="pt-PT" b="1" dirty="0">
                <a:solidFill>
                  <a:schemeClr val="accent6">
                    <a:lumMod val="50000"/>
                  </a:schemeClr>
                </a:solidFill>
              </a:rPr>
              <a:t> </a:t>
            </a:r>
            <a:r>
              <a:rPr lang="pt-PT" b="1" dirty="0" err="1">
                <a:solidFill>
                  <a:schemeClr val="accent6">
                    <a:lumMod val="50000"/>
                  </a:schemeClr>
                </a:solidFill>
              </a:rPr>
              <a:t>words</a:t>
            </a:r>
            <a:r>
              <a:rPr lang="pt-PT" b="1" dirty="0">
                <a:solidFill>
                  <a:schemeClr val="accent6">
                    <a:lumMod val="50000"/>
                  </a:schemeClr>
                </a:solidFill>
              </a:rPr>
              <a:t> </a:t>
            </a:r>
            <a:r>
              <a:rPr lang="pt-PT" b="1" dirty="0" err="1">
                <a:solidFill>
                  <a:schemeClr val="accent6">
                    <a:lumMod val="50000"/>
                  </a:schemeClr>
                </a:solidFill>
              </a:rPr>
              <a:t>would</a:t>
            </a:r>
            <a:r>
              <a:rPr lang="pt-PT" b="1" dirty="0">
                <a:solidFill>
                  <a:schemeClr val="accent6">
                    <a:lumMod val="50000"/>
                  </a:schemeClr>
                </a:solidFill>
              </a:rPr>
              <a:t> </a:t>
            </a:r>
            <a:r>
              <a:rPr lang="pt-PT" b="1" dirty="0" err="1">
                <a:solidFill>
                  <a:schemeClr val="accent6">
                    <a:lumMod val="50000"/>
                  </a:schemeClr>
                </a:solidFill>
              </a:rPr>
              <a:t>you</a:t>
            </a:r>
            <a:r>
              <a:rPr lang="pt-PT" b="1" dirty="0">
                <a:solidFill>
                  <a:schemeClr val="accent6">
                    <a:lumMod val="50000"/>
                  </a:schemeClr>
                </a:solidFill>
              </a:rPr>
              <a:t> remove </a:t>
            </a:r>
            <a:r>
              <a:rPr lang="pt-PT" b="1" dirty="0" err="1">
                <a:solidFill>
                  <a:schemeClr val="accent6">
                    <a:lumMod val="50000"/>
                  </a:schemeClr>
                </a:solidFill>
              </a:rPr>
              <a:t>from</a:t>
            </a:r>
            <a:r>
              <a:rPr lang="pt-PT" b="1" dirty="0">
                <a:solidFill>
                  <a:schemeClr val="accent6">
                    <a:lumMod val="50000"/>
                  </a:schemeClr>
                </a:solidFill>
              </a:rPr>
              <a:t> </a:t>
            </a:r>
            <a:r>
              <a:rPr lang="pt-PT" b="1" dirty="0" err="1">
                <a:solidFill>
                  <a:schemeClr val="accent6">
                    <a:lumMod val="50000"/>
                  </a:schemeClr>
                </a:solidFill>
              </a:rPr>
              <a:t>the</a:t>
            </a:r>
            <a:r>
              <a:rPr lang="pt-PT" b="1" dirty="0">
                <a:solidFill>
                  <a:schemeClr val="accent6">
                    <a:lumMod val="50000"/>
                  </a:schemeClr>
                </a:solidFill>
              </a:rPr>
              <a:t> </a:t>
            </a:r>
            <a:r>
              <a:rPr lang="pt-PT" b="1" dirty="0" err="1">
                <a:solidFill>
                  <a:schemeClr val="accent6">
                    <a:lumMod val="50000"/>
                  </a:schemeClr>
                </a:solidFill>
              </a:rPr>
              <a:t>vocabulary</a:t>
            </a:r>
            <a:r>
              <a:rPr lang="pt-PT" b="1" dirty="0">
                <a:solidFill>
                  <a:schemeClr val="accent6">
                    <a:lumMod val="50000"/>
                  </a:schemeClr>
                </a:solidFill>
              </a:rPr>
              <a:t> </a:t>
            </a:r>
            <a:r>
              <a:rPr lang="pt-PT" b="1" dirty="0" err="1">
                <a:solidFill>
                  <a:schemeClr val="accent6">
                    <a:lumMod val="50000"/>
                  </a:schemeClr>
                </a:solidFill>
              </a:rPr>
              <a:t>below</a:t>
            </a:r>
            <a:r>
              <a:rPr lang="pt-PT" b="1" dirty="0">
                <a:solidFill>
                  <a:schemeClr val="accent6">
                    <a:lumMod val="50000"/>
                  </a:schemeClr>
                </a:solidFill>
              </a:rPr>
              <a:t> </a:t>
            </a:r>
            <a:r>
              <a:rPr lang="pt-PT" b="1" dirty="0" err="1">
                <a:solidFill>
                  <a:schemeClr val="accent6">
                    <a:lumMod val="50000"/>
                  </a:schemeClr>
                </a:solidFill>
              </a:rPr>
              <a:t>if</a:t>
            </a:r>
            <a:r>
              <a:rPr lang="pt-PT" b="1" dirty="0">
                <a:solidFill>
                  <a:schemeClr val="accent6">
                    <a:lumMod val="50000"/>
                  </a:schemeClr>
                </a:solidFill>
              </a:rPr>
              <a:t> </a:t>
            </a:r>
            <a:r>
              <a:rPr lang="pt-PT" b="1" dirty="0" err="1">
                <a:solidFill>
                  <a:schemeClr val="accent6">
                    <a:lumMod val="50000"/>
                  </a:schemeClr>
                </a:solidFill>
              </a:rPr>
              <a:t>the</a:t>
            </a:r>
            <a:r>
              <a:rPr lang="pt-PT" b="1" dirty="0">
                <a:solidFill>
                  <a:schemeClr val="accent6">
                    <a:lumMod val="50000"/>
                  </a:schemeClr>
                </a:solidFill>
              </a:rPr>
              <a:t> </a:t>
            </a:r>
            <a:r>
              <a:rPr lang="pt-PT" b="1" dirty="0" err="1">
                <a:solidFill>
                  <a:schemeClr val="accent6">
                    <a:lumMod val="50000"/>
                  </a:schemeClr>
                </a:solidFill>
              </a:rPr>
              <a:t>purpose</a:t>
            </a:r>
            <a:r>
              <a:rPr lang="pt-PT" b="1" dirty="0">
                <a:solidFill>
                  <a:schemeClr val="accent6">
                    <a:lumMod val="50000"/>
                  </a:schemeClr>
                </a:solidFill>
              </a:rPr>
              <a:t> </a:t>
            </a:r>
            <a:r>
              <a:rPr lang="pt-PT" b="1" dirty="0" err="1">
                <a:solidFill>
                  <a:schemeClr val="accent6">
                    <a:lumMod val="50000"/>
                  </a:schemeClr>
                </a:solidFill>
              </a:rPr>
              <a:t>is</a:t>
            </a:r>
            <a:r>
              <a:rPr lang="pt-PT" b="1" dirty="0">
                <a:solidFill>
                  <a:schemeClr val="accent6">
                    <a:lumMod val="50000"/>
                  </a:schemeClr>
                </a:solidFill>
              </a:rPr>
              <a:t> to </a:t>
            </a:r>
            <a:r>
              <a:rPr lang="pt-PT" b="1" dirty="0" err="1">
                <a:solidFill>
                  <a:schemeClr val="accent6">
                    <a:lumMod val="50000"/>
                  </a:schemeClr>
                </a:solidFill>
              </a:rPr>
              <a:t>distinguish</a:t>
            </a:r>
            <a:r>
              <a:rPr lang="pt-PT" b="1" dirty="0">
                <a:solidFill>
                  <a:schemeClr val="accent6">
                    <a:lumMod val="50000"/>
                  </a:schemeClr>
                </a:solidFill>
              </a:rPr>
              <a:t> </a:t>
            </a:r>
            <a:r>
              <a:rPr lang="pt-PT" b="1" dirty="0" err="1">
                <a:solidFill>
                  <a:schemeClr val="accent6">
                    <a:lumMod val="50000"/>
                  </a:schemeClr>
                </a:solidFill>
              </a:rPr>
              <a:t>between</a:t>
            </a:r>
            <a:r>
              <a:rPr lang="pt-PT" b="1" dirty="0">
                <a:solidFill>
                  <a:schemeClr val="accent6">
                    <a:lumMod val="50000"/>
                  </a:schemeClr>
                </a:solidFill>
              </a:rPr>
              <a:t> D1 and D2?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dissolv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2"/>
                </a:solidFill>
              </a:rPr>
              <a:t>Intro|</a:t>
            </a:r>
            <a:r>
              <a:rPr lang="pt-PT" sz="2800" dirty="0" err="1">
                <a:solidFill>
                  <a:schemeClr val="bg1">
                    <a:lumMod val="50000"/>
                  </a:schemeClr>
                </a:solidFill>
              </a:rPr>
              <a:t>Models</a:t>
            </a:r>
            <a:r>
              <a:rPr lang="pt-PT" sz="2800" dirty="0" err="1">
                <a:solidFill>
                  <a:schemeClr val="bg2"/>
                </a:solidFill>
              </a:rPr>
              <a:t>|</a:t>
            </a:r>
            <a:r>
              <a:rPr lang="pt-PT" sz="2800" b="1" dirty="0" err="1">
                <a:solidFill>
                  <a:srgbClr val="A50021"/>
                </a:solidFill>
              </a:rPr>
              <a:t>Processing</a:t>
            </a:r>
            <a:r>
              <a:rPr lang="pt-PT" sz="2800" dirty="0" err="1">
                <a:solidFill>
                  <a:schemeClr val="bg2"/>
                </a:solidFill>
              </a:rPr>
              <a:t>|Tools|R|Case</a:t>
            </a:r>
            <a:r>
              <a:rPr lang="pt-PT" sz="2800" dirty="0">
                <a:solidFill>
                  <a:schemeClr val="bg2"/>
                </a:solidFill>
              </a:rPr>
              <a:t> </a:t>
            </a:r>
            <a:r>
              <a:rPr lang="pt-PT" sz="2800" dirty="0" err="1">
                <a:solidFill>
                  <a:schemeClr val="bg2"/>
                </a:solidFill>
              </a:rPr>
              <a:t>study|Handson</a:t>
            </a:r>
            <a:endParaRPr lang="pt-PT" sz="2800" dirty="0">
              <a:solidFill>
                <a:schemeClr val="bg2"/>
              </a:solidFill>
            </a:endParaRPr>
          </a:p>
        </p:txBody>
      </p:sp>
      <p:sp>
        <p:nvSpPr>
          <p:cNvPr id="4" name="Text Box 3"/>
          <p:cNvSpPr txBox="1">
            <a:spLocks noChangeArrowheads="1"/>
          </p:cNvSpPr>
          <p:nvPr/>
        </p:nvSpPr>
        <p:spPr bwMode="auto">
          <a:xfrm>
            <a:off x="250825" y="692150"/>
            <a:ext cx="8642350" cy="2585323"/>
          </a:xfrm>
          <a:prstGeom prst="rect">
            <a:avLst/>
          </a:prstGeom>
          <a:noFill/>
          <a:ln w="9525">
            <a:noFill/>
            <a:miter lim="800000"/>
            <a:headEnd/>
            <a:tailEnd/>
          </a:ln>
        </p:spPr>
        <p:txBody>
          <a:bodyPr>
            <a:spAutoFit/>
          </a:bodyPr>
          <a:lstStyle/>
          <a:p>
            <a:r>
              <a:rPr lang="pt-PT" b="1" u="sng" cap="all" dirty="0" err="1">
                <a:solidFill>
                  <a:schemeClr val="accent6"/>
                </a:solidFill>
              </a:rPr>
              <a:t>Vector</a:t>
            </a:r>
            <a:r>
              <a:rPr lang="pt-PT" b="1" u="sng" cap="all" dirty="0">
                <a:solidFill>
                  <a:schemeClr val="accent6"/>
                </a:solidFill>
              </a:rPr>
              <a:t> </a:t>
            </a:r>
            <a:r>
              <a:rPr lang="pt-PT" b="1" u="sng" cap="all" dirty="0" err="1">
                <a:solidFill>
                  <a:schemeClr val="accent6"/>
                </a:solidFill>
              </a:rPr>
              <a:t>model</a:t>
            </a:r>
            <a:r>
              <a:rPr lang="pt-PT" b="1" u="sng" cap="all" dirty="0">
                <a:solidFill>
                  <a:schemeClr val="accent6"/>
                </a:solidFill>
              </a:rPr>
              <a:t> – </a:t>
            </a:r>
            <a:r>
              <a:rPr lang="pt-PT" b="1" u="sng" cap="all" dirty="0" err="1">
                <a:solidFill>
                  <a:schemeClr val="accent6"/>
                </a:solidFill>
              </a:rPr>
              <a:t>TFxIDF</a:t>
            </a:r>
            <a:r>
              <a:rPr lang="pt-PT" b="1" u="sng" cap="all" dirty="0">
                <a:solidFill>
                  <a:schemeClr val="accent6"/>
                </a:solidFill>
              </a:rPr>
              <a:t>:</a:t>
            </a:r>
            <a:endParaRPr lang="en-US" cap="all" dirty="0"/>
          </a:p>
          <a:p>
            <a:endParaRPr lang="en-US" dirty="0"/>
          </a:p>
          <a:p>
            <a:pPr marL="361950" indent="-180975">
              <a:buFont typeface="Arial" pitchFamily="34" charset="0"/>
              <a:buChar char="•"/>
            </a:pPr>
            <a:r>
              <a:rPr lang="en-US" dirty="0">
                <a:solidFill>
                  <a:srgbClr val="002060"/>
                </a:solidFill>
              </a:rPr>
              <a:t>the </a:t>
            </a:r>
            <a:r>
              <a:rPr lang="en-US" b="1" dirty="0">
                <a:solidFill>
                  <a:srgbClr val="002060"/>
                </a:solidFill>
              </a:rPr>
              <a:t>term frequency </a:t>
            </a:r>
            <a:r>
              <a:rPr lang="en-US" dirty="0">
                <a:solidFill>
                  <a:srgbClr val="002060"/>
                </a:solidFill>
              </a:rPr>
              <a:t>factor, TF, a measure of intra-cluster similarity; computed as the number of times that the term occurs in the document, normalized in a way as to make it independent </a:t>
            </a:r>
            <a:r>
              <a:rPr lang="pt-PT" dirty="0">
                <a:solidFill>
                  <a:srgbClr val="002060"/>
                </a:solidFill>
              </a:rPr>
              <a:t>of </a:t>
            </a:r>
            <a:r>
              <a:rPr lang="pt-PT" dirty="0" err="1">
                <a:solidFill>
                  <a:srgbClr val="002060"/>
                </a:solidFill>
              </a:rPr>
              <a:t>document</a:t>
            </a:r>
            <a:r>
              <a:rPr lang="pt-PT" dirty="0">
                <a:solidFill>
                  <a:srgbClr val="002060"/>
                </a:solidFill>
              </a:rPr>
              <a:t> </a:t>
            </a:r>
            <a:r>
              <a:rPr lang="pt-PT" dirty="0" err="1">
                <a:solidFill>
                  <a:srgbClr val="002060"/>
                </a:solidFill>
              </a:rPr>
              <a:t>length</a:t>
            </a:r>
            <a:r>
              <a:rPr lang="pt-PT" dirty="0">
                <a:solidFill>
                  <a:srgbClr val="002060"/>
                </a:solidFill>
              </a:rPr>
              <a:t> and</a:t>
            </a:r>
          </a:p>
          <a:p>
            <a:pPr marL="361950" indent="-180975">
              <a:buFont typeface="Arial" pitchFamily="34" charset="0"/>
              <a:buChar char="•"/>
            </a:pPr>
            <a:endParaRPr lang="pt-PT" dirty="0">
              <a:solidFill>
                <a:srgbClr val="002060"/>
              </a:solidFill>
            </a:endParaRPr>
          </a:p>
          <a:p>
            <a:pPr marL="361950" indent="-180975">
              <a:buFont typeface="Arial" pitchFamily="34" charset="0"/>
              <a:buChar char="•"/>
            </a:pPr>
            <a:r>
              <a:rPr lang="en-US" dirty="0">
                <a:solidFill>
                  <a:srgbClr val="002060"/>
                </a:solidFill>
              </a:rPr>
              <a:t>the </a:t>
            </a:r>
            <a:r>
              <a:rPr lang="en-US" b="1" dirty="0">
                <a:solidFill>
                  <a:srgbClr val="002060"/>
                </a:solidFill>
              </a:rPr>
              <a:t>inverse document frequency </a:t>
            </a:r>
            <a:r>
              <a:rPr lang="en-US" dirty="0">
                <a:solidFill>
                  <a:srgbClr val="002060"/>
                </a:solidFill>
              </a:rPr>
              <a:t>factor, IDF, a measure of inter-cluster dissimilarity; weighs each term according to its discriminative power in the entire collection.</a:t>
            </a:r>
          </a:p>
        </p:txBody>
      </p:sp>
      <p:pic>
        <p:nvPicPr>
          <p:cNvPr id="7" name="Picture 6" descr="tfidf-computing1.png"/>
          <p:cNvPicPr>
            <a:picLocks noChangeAspect="1"/>
          </p:cNvPicPr>
          <p:nvPr/>
        </p:nvPicPr>
        <p:blipFill>
          <a:blip r:embed="rId2" cstate="print">
            <a:clrChange>
              <a:clrFrom>
                <a:srgbClr val="FFFFFF"/>
              </a:clrFrom>
              <a:clrTo>
                <a:srgbClr val="FFFFFF">
                  <a:alpha val="0"/>
                </a:srgbClr>
              </a:clrTo>
            </a:clrChange>
          </a:blip>
          <a:stretch>
            <a:fillRect/>
          </a:stretch>
        </p:blipFill>
        <p:spPr>
          <a:xfrm>
            <a:off x="2909887" y="3789040"/>
            <a:ext cx="3324225" cy="466725"/>
          </a:xfrm>
          <a:prstGeom prst="rect">
            <a:avLst/>
          </a:prstGeom>
        </p:spPr>
      </p:pic>
      <p:pic>
        <p:nvPicPr>
          <p:cNvPr id="8" name="Picture 7" descr="tfidf-computing2.png"/>
          <p:cNvPicPr>
            <a:picLocks noChangeAspect="1"/>
          </p:cNvPicPr>
          <p:nvPr/>
        </p:nvPicPr>
        <p:blipFill>
          <a:blip r:embed="rId3" cstate="print">
            <a:clrChange>
              <a:clrFrom>
                <a:srgbClr val="FFFFFF"/>
              </a:clrFrom>
              <a:clrTo>
                <a:srgbClr val="FFFFFF">
                  <a:alpha val="0"/>
                </a:srgbClr>
              </a:clrTo>
            </a:clrChange>
          </a:blip>
          <a:stretch>
            <a:fillRect/>
          </a:stretch>
        </p:blipFill>
        <p:spPr>
          <a:xfrm>
            <a:off x="3347864" y="4814491"/>
            <a:ext cx="2447925" cy="904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2"/>
                </a:solidFill>
              </a:rPr>
              <a:t>Intro|</a:t>
            </a:r>
            <a:r>
              <a:rPr lang="pt-PT" sz="2800" dirty="0" err="1">
                <a:solidFill>
                  <a:schemeClr val="bg1">
                    <a:lumMod val="50000"/>
                  </a:schemeClr>
                </a:solidFill>
              </a:rPr>
              <a:t>Models</a:t>
            </a:r>
            <a:r>
              <a:rPr lang="pt-PT" sz="2800" dirty="0" err="1">
                <a:solidFill>
                  <a:schemeClr val="bg2"/>
                </a:solidFill>
              </a:rPr>
              <a:t>|</a:t>
            </a:r>
            <a:r>
              <a:rPr lang="pt-PT" sz="2800" b="1" dirty="0" err="1">
                <a:solidFill>
                  <a:srgbClr val="A50021"/>
                </a:solidFill>
              </a:rPr>
              <a:t>Processing</a:t>
            </a:r>
            <a:r>
              <a:rPr lang="pt-PT" sz="2800" dirty="0" err="1">
                <a:solidFill>
                  <a:schemeClr val="bg2"/>
                </a:solidFill>
              </a:rPr>
              <a:t>|Tools|R|Case</a:t>
            </a:r>
            <a:r>
              <a:rPr lang="pt-PT" sz="2800" dirty="0">
                <a:solidFill>
                  <a:schemeClr val="bg2"/>
                </a:solidFill>
              </a:rPr>
              <a:t> </a:t>
            </a:r>
            <a:r>
              <a:rPr lang="pt-PT" sz="2800" dirty="0" err="1">
                <a:solidFill>
                  <a:schemeClr val="bg2"/>
                </a:solidFill>
              </a:rPr>
              <a:t>study|Handson</a:t>
            </a:r>
            <a:endParaRPr lang="pt-PT" sz="2800" dirty="0">
              <a:solidFill>
                <a:schemeClr val="bg2"/>
              </a:solidFill>
            </a:endParaRPr>
          </a:p>
        </p:txBody>
      </p:sp>
      <p:sp>
        <p:nvSpPr>
          <p:cNvPr id="4" name="Text Box 3"/>
          <p:cNvSpPr txBox="1">
            <a:spLocks noChangeArrowheads="1"/>
          </p:cNvSpPr>
          <p:nvPr/>
        </p:nvSpPr>
        <p:spPr bwMode="auto">
          <a:xfrm>
            <a:off x="250825" y="692150"/>
            <a:ext cx="8642350" cy="923330"/>
          </a:xfrm>
          <a:prstGeom prst="rect">
            <a:avLst/>
          </a:prstGeom>
          <a:noFill/>
          <a:ln w="9525">
            <a:noFill/>
            <a:miter lim="800000"/>
            <a:headEnd/>
            <a:tailEnd/>
          </a:ln>
        </p:spPr>
        <p:txBody>
          <a:bodyPr>
            <a:spAutoFit/>
          </a:bodyPr>
          <a:lstStyle/>
          <a:p>
            <a:r>
              <a:rPr lang="pt-PT" b="1" u="sng" cap="all" dirty="0" err="1">
                <a:solidFill>
                  <a:schemeClr val="accent6"/>
                </a:solidFill>
              </a:rPr>
              <a:t>Vector</a:t>
            </a:r>
            <a:r>
              <a:rPr lang="pt-PT" b="1" u="sng" cap="all" dirty="0">
                <a:solidFill>
                  <a:schemeClr val="accent6"/>
                </a:solidFill>
              </a:rPr>
              <a:t> </a:t>
            </a:r>
            <a:r>
              <a:rPr lang="pt-PT" b="1" u="sng" cap="all" dirty="0" err="1">
                <a:solidFill>
                  <a:schemeClr val="accent6"/>
                </a:solidFill>
              </a:rPr>
              <a:t>model</a:t>
            </a:r>
            <a:r>
              <a:rPr lang="pt-PT" b="1" u="sng" cap="all" dirty="0">
                <a:solidFill>
                  <a:schemeClr val="accent6"/>
                </a:solidFill>
              </a:rPr>
              <a:t> – </a:t>
            </a:r>
            <a:r>
              <a:rPr lang="pt-PT" b="1" u="sng" cap="all" dirty="0" err="1">
                <a:solidFill>
                  <a:schemeClr val="accent6"/>
                </a:solidFill>
              </a:rPr>
              <a:t>cosine</a:t>
            </a:r>
            <a:r>
              <a:rPr lang="pt-PT" b="1" u="sng" cap="all" dirty="0">
                <a:solidFill>
                  <a:schemeClr val="accent6"/>
                </a:solidFill>
              </a:rPr>
              <a:t> </a:t>
            </a:r>
            <a:r>
              <a:rPr lang="pt-PT" b="1" u="sng" cap="all" dirty="0" err="1">
                <a:solidFill>
                  <a:schemeClr val="accent6"/>
                </a:solidFill>
              </a:rPr>
              <a:t>similarity</a:t>
            </a:r>
            <a:r>
              <a:rPr lang="pt-PT" b="1" u="sng" cap="all" dirty="0">
                <a:solidFill>
                  <a:schemeClr val="accent6"/>
                </a:solidFill>
              </a:rPr>
              <a:t>:</a:t>
            </a:r>
            <a:endParaRPr lang="en-US" cap="all" dirty="0"/>
          </a:p>
          <a:p>
            <a:endParaRPr lang="en-US" dirty="0"/>
          </a:p>
          <a:p>
            <a:r>
              <a:rPr lang="pt-PT" dirty="0">
                <a:solidFill>
                  <a:srgbClr val="002060"/>
                </a:solidFill>
              </a:rPr>
              <a:t>Q: </a:t>
            </a:r>
            <a:r>
              <a:rPr lang="pt-PT" dirty="0" err="1">
                <a:solidFill>
                  <a:srgbClr val="002060"/>
                </a:solidFill>
              </a:rPr>
              <a:t>higher</a:t>
            </a:r>
            <a:r>
              <a:rPr lang="pt-PT" dirty="0">
                <a:solidFill>
                  <a:srgbClr val="002060"/>
                </a:solidFill>
              </a:rPr>
              <a:t> </a:t>
            </a:r>
            <a:r>
              <a:rPr lang="pt-PT" dirty="0" err="1">
                <a:solidFill>
                  <a:srgbClr val="002060"/>
                </a:solidFill>
              </a:rPr>
              <a:t>education</a:t>
            </a:r>
            <a:r>
              <a:rPr lang="pt-PT" dirty="0">
                <a:solidFill>
                  <a:srgbClr val="002060"/>
                </a:solidFill>
              </a:rPr>
              <a:t> </a:t>
            </a:r>
            <a:r>
              <a:rPr lang="pt-PT" dirty="0" err="1">
                <a:solidFill>
                  <a:srgbClr val="002060"/>
                </a:solidFill>
              </a:rPr>
              <a:t>student</a:t>
            </a:r>
            <a:r>
              <a:rPr lang="pt-PT" dirty="0">
                <a:solidFill>
                  <a:srgbClr val="002060"/>
                </a:solidFill>
              </a:rPr>
              <a:t> age</a:t>
            </a:r>
            <a:endParaRPr lang="en-US" dirty="0">
              <a:solidFill>
                <a:srgbClr val="002060"/>
              </a:solidFill>
            </a:endParaRPr>
          </a:p>
        </p:txBody>
      </p:sp>
      <p:pic>
        <p:nvPicPr>
          <p:cNvPr id="6" name="Picture 5" descr="tfidf-cosine.png"/>
          <p:cNvPicPr>
            <a:picLocks noChangeAspect="1"/>
          </p:cNvPicPr>
          <p:nvPr/>
        </p:nvPicPr>
        <p:blipFill>
          <a:blip r:embed="rId2" cstate="print">
            <a:clrChange>
              <a:clrFrom>
                <a:srgbClr val="FFFFFF"/>
              </a:clrFrom>
              <a:clrTo>
                <a:srgbClr val="FFFFFF">
                  <a:alpha val="0"/>
                </a:srgbClr>
              </a:clrTo>
            </a:clrChange>
          </a:blip>
          <a:stretch>
            <a:fillRect/>
          </a:stretch>
        </p:blipFill>
        <p:spPr>
          <a:xfrm>
            <a:off x="234255" y="4864571"/>
            <a:ext cx="8658225" cy="1228725"/>
          </a:xfrm>
          <a:prstGeom prst="rect">
            <a:avLst/>
          </a:prstGeom>
        </p:spPr>
      </p:pic>
      <p:graphicFrame>
        <p:nvGraphicFramePr>
          <p:cNvPr id="9" name="Table 8"/>
          <p:cNvGraphicFramePr>
            <a:graphicFrameLocks noGrp="1"/>
          </p:cNvGraphicFramePr>
          <p:nvPr/>
        </p:nvGraphicFramePr>
        <p:xfrm>
          <a:off x="971600" y="1772816"/>
          <a:ext cx="7200802" cy="1236404"/>
        </p:xfrm>
        <a:graphic>
          <a:graphicData uri="http://schemas.openxmlformats.org/drawingml/2006/table">
            <a:tbl>
              <a:tblPr/>
              <a:tblGrid>
                <a:gridCol w="360040">
                  <a:extLst>
                    <a:ext uri="{9D8B030D-6E8A-4147-A177-3AD203B41FA5}">
                      <a16:colId xmlns:a16="http://schemas.microsoft.com/office/drawing/2014/main" val="20000"/>
                    </a:ext>
                  </a:extLst>
                </a:gridCol>
                <a:gridCol w="360040">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936104">
                  <a:extLst>
                    <a:ext uri="{9D8B030D-6E8A-4147-A177-3AD203B41FA5}">
                      <a16:colId xmlns:a16="http://schemas.microsoft.com/office/drawing/2014/main" val="20006"/>
                    </a:ext>
                  </a:extLst>
                </a:gridCol>
                <a:gridCol w="504056">
                  <a:extLst>
                    <a:ext uri="{9D8B030D-6E8A-4147-A177-3AD203B41FA5}">
                      <a16:colId xmlns:a16="http://schemas.microsoft.com/office/drawing/2014/main" val="20007"/>
                    </a:ext>
                  </a:extLst>
                </a:gridCol>
                <a:gridCol w="936104">
                  <a:extLst>
                    <a:ext uri="{9D8B030D-6E8A-4147-A177-3AD203B41FA5}">
                      <a16:colId xmlns:a16="http://schemas.microsoft.com/office/drawing/2014/main" val="20008"/>
                    </a:ext>
                  </a:extLst>
                </a:gridCol>
                <a:gridCol w="720080">
                  <a:extLst>
                    <a:ext uri="{9D8B030D-6E8A-4147-A177-3AD203B41FA5}">
                      <a16:colId xmlns:a16="http://schemas.microsoft.com/office/drawing/2014/main" val="20009"/>
                    </a:ext>
                  </a:extLst>
                </a:gridCol>
                <a:gridCol w="504058">
                  <a:extLst>
                    <a:ext uri="{9D8B030D-6E8A-4147-A177-3AD203B41FA5}">
                      <a16:colId xmlns:a16="http://schemas.microsoft.com/office/drawing/2014/main" val="20010"/>
                    </a:ext>
                  </a:extLst>
                </a:gridCol>
              </a:tblGrid>
              <a:tr h="288032">
                <a:tc>
                  <a:txBody>
                    <a:bodyPr/>
                    <a:lstStyle/>
                    <a:p>
                      <a:pPr algn="l" fontAlgn="b"/>
                      <a:endParaRPr lang="pt-PT" sz="1600" b="0" i="0" u="none" strike="noStrike" dirty="0">
                        <a:solidFill>
                          <a:srgbClr val="000000"/>
                        </a:solidFill>
                        <a:latin typeface="Calibri"/>
                      </a:endParaRP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age</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err="1">
                          <a:solidFill>
                            <a:srgbClr val="000000"/>
                          </a:solidFill>
                          <a:latin typeface="Calibri"/>
                        </a:rPr>
                        <a:t>attend</a:t>
                      </a:r>
                      <a:endParaRPr lang="pt-PT" sz="1600" b="0" i="0" u="none" strike="noStrike" dirty="0">
                        <a:solidFill>
                          <a:srgbClr val="000000"/>
                        </a:solidFill>
                        <a:latin typeface="Calibri"/>
                      </a:endParaRP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average</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education</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higher</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institution</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learn</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someone</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student</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who</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0"/>
                  </a:ext>
                </a:extLst>
              </a:tr>
              <a:tr h="316124">
                <a:tc>
                  <a:txBody>
                    <a:bodyPr/>
                    <a:lstStyle/>
                    <a:p>
                      <a:pPr algn="l" fontAlgn="b"/>
                      <a:r>
                        <a:rPr lang="pt-PT" sz="1600" b="0" i="0" u="none" strike="noStrike" dirty="0">
                          <a:solidFill>
                            <a:srgbClr val="000000"/>
                          </a:solidFill>
                          <a:latin typeface="Calibri"/>
                        </a:rPr>
                        <a:t>D1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1"/>
                  </a:ext>
                </a:extLst>
              </a:tr>
              <a:tr h="316124">
                <a:tc>
                  <a:txBody>
                    <a:bodyPr/>
                    <a:lstStyle/>
                    <a:p>
                      <a:pPr algn="l" fontAlgn="b"/>
                      <a:r>
                        <a:rPr lang="pt-PT" sz="1600" b="0" i="0" u="none" strike="noStrike" dirty="0">
                          <a:solidFill>
                            <a:srgbClr val="000000"/>
                          </a:solidFill>
                          <a:latin typeface="Calibri"/>
                        </a:rPr>
                        <a:t>D2</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2"/>
                  </a:ext>
                </a:extLst>
              </a:tr>
              <a:tr h="316124">
                <a:tc>
                  <a:txBody>
                    <a:bodyPr/>
                    <a:lstStyle/>
                    <a:p>
                      <a:pPr algn="l" fontAlgn="b"/>
                      <a:r>
                        <a:rPr lang="pt-PT" sz="1600" b="0" i="0" u="none" strike="noStrike" dirty="0">
                          <a:solidFill>
                            <a:srgbClr val="000000"/>
                          </a:solidFill>
                          <a:latin typeface="Calibri"/>
                        </a:rPr>
                        <a:t>Q</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fontAlgn="b"/>
                      <a:r>
                        <a:rPr lang="pt-PT" sz="1600" b="0" i="0" u="none" strike="noStrike" dirty="0">
                          <a:solidFill>
                            <a:srgbClr val="000000"/>
                          </a:solidFill>
                          <a:latin typeface="Calibri"/>
                        </a:rPr>
                        <a:t>0</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003"/>
                  </a:ext>
                </a:extLst>
              </a:tr>
            </a:tbl>
          </a:graphicData>
        </a:graphic>
      </p:graphicFrame>
      <p:graphicFrame>
        <p:nvGraphicFramePr>
          <p:cNvPr id="10" name="Table 9"/>
          <p:cNvGraphicFramePr>
            <a:graphicFrameLocks noGrp="1"/>
          </p:cNvGraphicFramePr>
          <p:nvPr/>
        </p:nvGraphicFramePr>
        <p:xfrm>
          <a:off x="3779912" y="3429000"/>
          <a:ext cx="1008112" cy="920280"/>
        </p:xfrm>
        <a:graphic>
          <a:graphicData uri="http://schemas.openxmlformats.org/drawingml/2006/table">
            <a:tbl>
              <a:tblPr/>
              <a:tblGrid>
                <a:gridCol w="360040">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tblGrid>
              <a:tr h="288032">
                <a:tc>
                  <a:txBody>
                    <a:bodyPr/>
                    <a:lstStyle/>
                    <a:p>
                      <a:pPr algn="l" fontAlgn="b"/>
                      <a:endParaRPr lang="pt-PT" sz="1600" b="0" i="0" u="none" strike="noStrike" dirty="0">
                        <a:solidFill>
                          <a:srgbClr val="000000"/>
                        </a:solidFill>
                        <a:latin typeface="Calibri"/>
                      </a:endParaRP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Q</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0"/>
                  </a:ext>
                </a:extLst>
              </a:tr>
              <a:tr h="316124">
                <a:tc>
                  <a:txBody>
                    <a:bodyPr/>
                    <a:lstStyle/>
                    <a:p>
                      <a:pPr algn="l" fontAlgn="b"/>
                      <a:r>
                        <a:rPr lang="pt-PT" sz="1600" b="0" i="0" u="none" strike="noStrike" dirty="0">
                          <a:solidFill>
                            <a:srgbClr val="000000"/>
                          </a:solidFill>
                          <a:latin typeface="Calibri"/>
                        </a:rPr>
                        <a:t>D1</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fontAlgn="b"/>
                      <a:r>
                        <a:rPr lang="pt-PT" sz="1600" b="0" i="0" u="none" strike="noStrike" dirty="0">
                          <a:solidFill>
                            <a:srgbClr val="000000"/>
                          </a:solidFill>
                          <a:latin typeface="Calibri"/>
                        </a:rPr>
                        <a:t>0.38</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1"/>
                  </a:ext>
                </a:extLst>
              </a:tr>
              <a:tr h="316124">
                <a:tc>
                  <a:txBody>
                    <a:bodyPr/>
                    <a:lstStyle/>
                    <a:p>
                      <a:pPr algn="l" fontAlgn="b"/>
                      <a:r>
                        <a:rPr lang="pt-PT" sz="1600" b="0" i="0" u="none" strike="noStrike" dirty="0">
                          <a:solidFill>
                            <a:srgbClr val="000000"/>
                          </a:solidFill>
                          <a:latin typeface="Calibri"/>
                        </a:rPr>
                        <a:t>D2</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r>
                        <a:rPr lang="pt-PT" sz="1600" b="0" i="0" u="none" strike="noStrike" dirty="0">
                          <a:solidFill>
                            <a:srgbClr val="000000"/>
                          </a:solidFill>
                          <a:latin typeface="Calibri"/>
                        </a:rPr>
                        <a:t>0.76</a:t>
                      </a:r>
                    </a:p>
                  </a:txBody>
                  <a:tcPr marL="9199" marR="9199" marT="9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2"/>
                </a:solidFill>
              </a:rPr>
              <a:t>Intro|</a:t>
            </a:r>
            <a:r>
              <a:rPr lang="pt-PT" sz="2800" dirty="0" err="1">
                <a:solidFill>
                  <a:schemeClr val="bg1">
                    <a:lumMod val="50000"/>
                  </a:schemeClr>
                </a:solidFill>
              </a:rPr>
              <a:t>Models</a:t>
            </a:r>
            <a:r>
              <a:rPr lang="pt-PT" sz="2800" dirty="0" err="1">
                <a:solidFill>
                  <a:schemeClr val="bg2"/>
                </a:solidFill>
              </a:rPr>
              <a:t>|</a:t>
            </a:r>
            <a:r>
              <a:rPr lang="pt-PT" sz="2800" b="1" dirty="0" err="1">
                <a:solidFill>
                  <a:srgbClr val="A50021"/>
                </a:solidFill>
              </a:rPr>
              <a:t>Processing</a:t>
            </a:r>
            <a:r>
              <a:rPr lang="pt-PT" sz="2800" dirty="0" err="1">
                <a:solidFill>
                  <a:schemeClr val="bg2"/>
                </a:solidFill>
              </a:rPr>
              <a:t>|Tools|R|Case</a:t>
            </a:r>
            <a:r>
              <a:rPr lang="pt-PT" sz="2800" dirty="0">
                <a:solidFill>
                  <a:schemeClr val="bg2"/>
                </a:solidFill>
              </a:rPr>
              <a:t> </a:t>
            </a:r>
            <a:r>
              <a:rPr lang="pt-PT" sz="2800" dirty="0" err="1">
                <a:solidFill>
                  <a:schemeClr val="bg2"/>
                </a:solidFill>
              </a:rPr>
              <a:t>study|Handson</a:t>
            </a:r>
            <a:endParaRPr lang="pt-PT" sz="2800" dirty="0">
              <a:solidFill>
                <a:schemeClr val="bg2"/>
              </a:solidFill>
            </a:endParaRPr>
          </a:p>
        </p:txBody>
      </p:sp>
      <p:sp>
        <p:nvSpPr>
          <p:cNvPr id="5" name="Text Box 3"/>
          <p:cNvSpPr txBox="1">
            <a:spLocks noChangeArrowheads="1"/>
          </p:cNvSpPr>
          <p:nvPr/>
        </p:nvSpPr>
        <p:spPr bwMode="auto">
          <a:xfrm>
            <a:off x="251520" y="692696"/>
            <a:ext cx="8642350" cy="3577903"/>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Text</a:t>
            </a:r>
            <a:r>
              <a:rPr lang="pt-PT" b="1" u="sng" cap="all" dirty="0">
                <a:solidFill>
                  <a:schemeClr val="accent6"/>
                </a:solidFill>
              </a:rPr>
              <a:t> </a:t>
            </a:r>
            <a:r>
              <a:rPr lang="pt-PT" b="1" u="sng" cap="all" dirty="0" err="1">
                <a:solidFill>
                  <a:schemeClr val="accent6"/>
                </a:solidFill>
              </a:rPr>
              <a:t>processing</a:t>
            </a:r>
            <a:r>
              <a:rPr lang="pt-PT" b="1" u="sng" cap="all" dirty="0">
                <a:solidFill>
                  <a:schemeClr val="accent6"/>
                </a:solidFill>
              </a:rPr>
              <a:t> </a:t>
            </a:r>
            <a:r>
              <a:rPr lang="pt-PT" b="1" u="sng" cap="all" dirty="0" err="1">
                <a:solidFill>
                  <a:schemeClr val="accent6"/>
                </a:solidFill>
              </a:rPr>
              <a:t>functions</a:t>
            </a:r>
            <a:endParaRPr lang="pt-PT" cap="all" dirty="0">
              <a:solidFill>
                <a:schemeClr val="accent6"/>
              </a:solidFill>
            </a:endParaRPr>
          </a:p>
          <a:p>
            <a:pPr marL="539750" lvl="1" indent="-342900">
              <a:lnSpc>
                <a:spcPct val="150000"/>
              </a:lnSpc>
              <a:spcBef>
                <a:spcPct val="25000"/>
              </a:spcBef>
              <a:buFontTx/>
              <a:buChar char="-"/>
            </a:pPr>
            <a:r>
              <a:rPr lang="pt-PT" b="1" dirty="0" err="1">
                <a:solidFill>
                  <a:schemeClr val="accent6"/>
                </a:solidFill>
              </a:rPr>
              <a:t>Part</a:t>
            </a:r>
            <a:r>
              <a:rPr lang="pt-PT" b="1" dirty="0">
                <a:solidFill>
                  <a:schemeClr val="accent6"/>
                </a:solidFill>
              </a:rPr>
              <a:t>-Of-</a:t>
            </a:r>
            <a:r>
              <a:rPr lang="pt-PT" b="1" dirty="0" err="1">
                <a:solidFill>
                  <a:schemeClr val="accent6"/>
                </a:solidFill>
              </a:rPr>
              <a:t>Speech</a:t>
            </a:r>
            <a:r>
              <a:rPr lang="pt-PT" b="1" dirty="0">
                <a:solidFill>
                  <a:schemeClr val="accent6"/>
                </a:solidFill>
              </a:rPr>
              <a:t> (POS) </a:t>
            </a:r>
            <a:r>
              <a:rPr lang="pt-PT" b="1" dirty="0" err="1">
                <a:solidFill>
                  <a:schemeClr val="accent6"/>
                </a:solidFill>
              </a:rPr>
              <a:t>tagging</a:t>
            </a:r>
            <a:r>
              <a:rPr lang="pt-PT" b="1" dirty="0">
                <a:solidFill>
                  <a:schemeClr val="accent6"/>
                </a:solidFill>
              </a:rPr>
              <a:t> </a:t>
            </a:r>
            <a:r>
              <a:rPr lang="pt-PT" sz="1400" dirty="0">
                <a:solidFill>
                  <a:schemeClr val="accent6"/>
                </a:solidFill>
              </a:rPr>
              <a:t>(gramatical </a:t>
            </a:r>
            <a:r>
              <a:rPr lang="pt-PT" sz="1400" dirty="0" err="1">
                <a:solidFill>
                  <a:schemeClr val="accent6"/>
                </a:solidFill>
              </a:rPr>
              <a:t>class</a:t>
            </a:r>
            <a:r>
              <a:rPr lang="pt-PT" sz="1400" dirty="0">
                <a:solidFill>
                  <a:schemeClr val="accent6"/>
                </a:solidFill>
              </a:rPr>
              <a:t> of </a:t>
            </a:r>
            <a:r>
              <a:rPr lang="pt-PT" sz="1400" dirty="0" err="1">
                <a:solidFill>
                  <a:schemeClr val="accent6"/>
                </a:solidFill>
              </a:rPr>
              <a:t>words</a:t>
            </a:r>
            <a:r>
              <a:rPr lang="pt-PT" sz="1400" dirty="0">
                <a:solidFill>
                  <a:schemeClr val="accent6"/>
                </a:solidFill>
              </a:rPr>
              <a:t>: </a:t>
            </a:r>
            <a:r>
              <a:rPr lang="pt-PT" sz="1400" dirty="0" err="1">
                <a:solidFill>
                  <a:schemeClr val="accent6"/>
                </a:solidFill>
              </a:rPr>
              <a:t>verb</a:t>
            </a:r>
            <a:r>
              <a:rPr lang="pt-PT" sz="1400" dirty="0">
                <a:solidFill>
                  <a:schemeClr val="accent6"/>
                </a:solidFill>
              </a:rPr>
              <a:t>, </a:t>
            </a:r>
            <a:r>
              <a:rPr lang="pt-PT" sz="1400" dirty="0" err="1">
                <a:solidFill>
                  <a:schemeClr val="accent6"/>
                </a:solidFill>
              </a:rPr>
              <a:t>noun</a:t>
            </a:r>
            <a:r>
              <a:rPr lang="pt-PT" sz="1400" dirty="0">
                <a:solidFill>
                  <a:schemeClr val="accent6"/>
                </a:solidFill>
              </a:rPr>
              <a:t>, </a:t>
            </a:r>
            <a:r>
              <a:rPr lang="pt-PT" sz="1400" dirty="0" err="1">
                <a:solidFill>
                  <a:schemeClr val="accent6"/>
                </a:solidFill>
              </a:rPr>
              <a:t>adverb</a:t>
            </a:r>
            <a:r>
              <a:rPr lang="pt-PT" sz="1400" dirty="0">
                <a:solidFill>
                  <a:schemeClr val="accent6"/>
                </a:solidFill>
              </a:rPr>
              <a:t>, …)</a:t>
            </a:r>
            <a:endParaRPr lang="pt-PT" dirty="0">
              <a:solidFill>
                <a:schemeClr val="accent6"/>
              </a:solidFill>
            </a:endParaRPr>
          </a:p>
          <a:p>
            <a:pPr marL="539750" lvl="1" indent="-342900">
              <a:lnSpc>
                <a:spcPct val="150000"/>
              </a:lnSpc>
              <a:spcBef>
                <a:spcPct val="25000"/>
              </a:spcBef>
              <a:buFontTx/>
              <a:buChar char="-"/>
            </a:pPr>
            <a:r>
              <a:rPr lang="pt-PT" b="1" dirty="0" err="1">
                <a:solidFill>
                  <a:schemeClr val="accent6"/>
                </a:solidFill>
              </a:rPr>
              <a:t>Named</a:t>
            </a:r>
            <a:r>
              <a:rPr lang="pt-PT" b="1" dirty="0">
                <a:solidFill>
                  <a:schemeClr val="accent6"/>
                </a:solidFill>
              </a:rPr>
              <a:t> </a:t>
            </a:r>
            <a:r>
              <a:rPr lang="pt-PT" b="1" dirty="0" err="1">
                <a:solidFill>
                  <a:schemeClr val="accent6"/>
                </a:solidFill>
              </a:rPr>
              <a:t>Entity</a:t>
            </a:r>
            <a:r>
              <a:rPr lang="pt-PT" b="1" dirty="0">
                <a:solidFill>
                  <a:schemeClr val="accent6"/>
                </a:solidFill>
              </a:rPr>
              <a:t> </a:t>
            </a:r>
            <a:r>
              <a:rPr lang="pt-PT" b="1" dirty="0" err="1">
                <a:solidFill>
                  <a:schemeClr val="accent6"/>
                </a:solidFill>
              </a:rPr>
              <a:t>Recognition</a:t>
            </a:r>
            <a:r>
              <a:rPr lang="pt-PT" b="1" dirty="0">
                <a:solidFill>
                  <a:schemeClr val="accent6"/>
                </a:solidFill>
              </a:rPr>
              <a:t> (NER) </a:t>
            </a:r>
            <a:r>
              <a:rPr lang="pt-PT" sz="1400" dirty="0">
                <a:solidFill>
                  <a:schemeClr val="accent6"/>
                </a:solidFill>
              </a:rPr>
              <a:t>(</a:t>
            </a:r>
            <a:r>
              <a:rPr lang="pt-PT" sz="1400" dirty="0" err="1">
                <a:solidFill>
                  <a:schemeClr val="accent6"/>
                </a:solidFill>
              </a:rPr>
              <a:t>recognition</a:t>
            </a:r>
            <a:r>
              <a:rPr lang="pt-PT" sz="1400" dirty="0">
                <a:solidFill>
                  <a:schemeClr val="accent6"/>
                </a:solidFill>
              </a:rPr>
              <a:t> of </a:t>
            </a:r>
            <a:r>
              <a:rPr lang="pt-PT" sz="1400" dirty="0" err="1">
                <a:solidFill>
                  <a:schemeClr val="accent6"/>
                </a:solidFill>
              </a:rPr>
              <a:t>types</a:t>
            </a:r>
            <a:r>
              <a:rPr lang="pt-PT" sz="1400" dirty="0">
                <a:solidFill>
                  <a:schemeClr val="accent6"/>
                </a:solidFill>
              </a:rPr>
              <a:t> of </a:t>
            </a:r>
            <a:r>
              <a:rPr lang="pt-PT" sz="1400" dirty="0" err="1">
                <a:solidFill>
                  <a:schemeClr val="accent6"/>
                </a:solidFill>
              </a:rPr>
              <a:t>noun</a:t>
            </a:r>
            <a:r>
              <a:rPr lang="pt-PT" sz="1400" dirty="0">
                <a:solidFill>
                  <a:schemeClr val="accent6"/>
                </a:solidFill>
              </a:rPr>
              <a:t> </a:t>
            </a:r>
            <a:r>
              <a:rPr lang="pt-PT" sz="1400" dirty="0" err="1">
                <a:solidFill>
                  <a:schemeClr val="accent6"/>
                </a:solidFill>
              </a:rPr>
              <a:t>phrases</a:t>
            </a:r>
            <a:r>
              <a:rPr lang="pt-PT" sz="1400" dirty="0">
                <a:solidFill>
                  <a:schemeClr val="accent6"/>
                </a:solidFill>
              </a:rPr>
              <a:t>: </a:t>
            </a:r>
            <a:r>
              <a:rPr lang="pt-PT" sz="1400" dirty="0" err="1">
                <a:solidFill>
                  <a:schemeClr val="accent6"/>
                </a:solidFill>
              </a:rPr>
              <a:t>persons</a:t>
            </a:r>
            <a:r>
              <a:rPr lang="pt-PT" sz="1400" dirty="0">
                <a:solidFill>
                  <a:schemeClr val="accent6"/>
                </a:solidFill>
              </a:rPr>
              <a:t>, </a:t>
            </a:r>
            <a:r>
              <a:rPr lang="pt-PT" sz="1400" dirty="0" err="1">
                <a:solidFill>
                  <a:schemeClr val="accent6"/>
                </a:solidFill>
              </a:rPr>
              <a:t>places</a:t>
            </a:r>
            <a:r>
              <a:rPr lang="pt-PT" sz="1400" dirty="0">
                <a:solidFill>
                  <a:schemeClr val="accent6"/>
                </a:solidFill>
              </a:rPr>
              <a:t>, </a:t>
            </a:r>
            <a:r>
              <a:rPr lang="pt-PT" sz="1400" dirty="0" err="1">
                <a:solidFill>
                  <a:schemeClr val="accent6"/>
                </a:solidFill>
              </a:rPr>
              <a:t>organizations</a:t>
            </a:r>
            <a:r>
              <a:rPr lang="pt-PT" sz="1400" dirty="0">
                <a:solidFill>
                  <a:schemeClr val="accent6"/>
                </a:solidFill>
              </a:rPr>
              <a:t>, dates, …)</a:t>
            </a:r>
            <a:endParaRPr lang="pt-PT" b="1" dirty="0">
              <a:solidFill>
                <a:schemeClr val="accent6"/>
              </a:solidFill>
            </a:endParaRPr>
          </a:p>
          <a:p>
            <a:pPr marL="539750" lvl="1" indent="-342900">
              <a:lnSpc>
                <a:spcPct val="150000"/>
              </a:lnSpc>
              <a:spcBef>
                <a:spcPct val="25000"/>
              </a:spcBef>
              <a:buFontTx/>
              <a:buChar char="-"/>
            </a:pPr>
            <a:r>
              <a:rPr lang="pt-PT" b="1" dirty="0" err="1">
                <a:solidFill>
                  <a:schemeClr val="accent6"/>
                </a:solidFill>
              </a:rPr>
              <a:t>Parsing</a:t>
            </a:r>
            <a:r>
              <a:rPr lang="pt-PT" b="1" dirty="0">
                <a:solidFill>
                  <a:schemeClr val="accent6"/>
                </a:solidFill>
              </a:rPr>
              <a:t> </a:t>
            </a:r>
            <a:r>
              <a:rPr lang="pt-PT" sz="1400" dirty="0">
                <a:solidFill>
                  <a:schemeClr val="accent6"/>
                </a:solidFill>
              </a:rPr>
              <a:t>(</a:t>
            </a:r>
            <a:r>
              <a:rPr lang="pt-PT" sz="1400" dirty="0" err="1">
                <a:solidFill>
                  <a:schemeClr val="accent6"/>
                </a:solidFill>
              </a:rPr>
              <a:t>finding</a:t>
            </a:r>
            <a:r>
              <a:rPr lang="pt-PT" sz="1400" dirty="0">
                <a:solidFill>
                  <a:schemeClr val="accent6"/>
                </a:solidFill>
              </a:rPr>
              <a:t> </a:t>
            </a:r>
            <a:r>
              <a:rPr lang="pt-PT" sz="1400" dirty="0" err="1">
                <a:solidFill>
                  <a:schemeClr val="accent6"/>
                </a:solidFill>
              </a:rPr>
              <a:t>the</a:t>
            </a:r>
            <a:r>
              <a:rPr lang="pt-PT" sz="1400" dirty="0">
                <a:solidFill>
                  <a:schemeClr val="accent6"/>
                </a:solidFill>
              </a:rPr>
              <a:t> </a:t>
            </a:r>
            <a:r>
              <a:rPr lang="pt-PT" sz="1400" dirty="0" err="1">
                <a:solidFill>
                  <a:schemeClr val="accent6"/>
                </a:solidFill>
              </a:rPr>
              <a:t>relations</a:t>
            </a:r>
            <a:r>
              <a:rPr lang="pt-PT" sz="1400" dirty="0">
                <a:solidFill>
                  <a:schemeClr val="accent6"/>
                </a:solidFill>
              </a:rPr>
              <a:t> of a single </a:t>
            </a:r>
            <a:r>
              <a:rPr lang="pt-PT" sz="1400" dirty="0" err="1">
                <a:solidFill>
                  <a:schemeClr val="accent6"/>
                </a:solidFill>
              </a:rPr>
              <a:t>word</a:t>
            </a:r>
            <a:r>
              <a:rPr lang="pt-PT" sz="1400" dirty="0">
                <a:solidFill>
                  <a:schemeClr val="accent6"/>
                </a:solidFill>
              </a:rPr>
              <a:t> in a </a:t>
            </a:r>
            <a:r>
              <a:rPr lang="pt-PT" sz="1400" dirty="0" err="1">
                <a:solidFill>
                  <a:schemeClr val="accent6"/>
                </a:solidFill>
              </a:rPr>
              <a:t>sentence</a:t>
            </a:r>
            <a:r>
              <a:rPr lang="pt-PT" sz="1400" dirty="0">
                <a:solidFill>
                  <a:schemeClr val="accent6"/>
                </a:solidFill>
              </a:rPr>
              <a:t> to </a:t>
            </a:r>
            <a:r>
              <a:rPr lang="pt-PT" sz="1400" dirty="0" err="1">
                <a:solidFill>
                  <a:schemeClr val="accent6"/>
                </a:solidFill>
              </a:rPr>
              <a:t>all</a:t>
            </a:r>
            <a:r>
              <a:rPr lang="pt-PT" sz="1400" dirty="0">
                <a:solidFill>
                  <a:schemeClr val="accent6"/>
                </a:solidFill>
              </a:rPr>
              <a:t> </a:t>
            </a:r>
            <a:r>
              <a:rPr lang="pt-PT" sz="1400" dirty="0" err="1">
                <a:solidFill>
                  <a:schemeClr val="accent6"/>
                </a:solidFill>
              </a:rPr>
              <a:t>others</a:t>
            </a:r>
            <a:r>
              <a:rPr lang="pt-PT" sz="1400" dirty="0">
                <a:solidFill>
                  <a:schemeClr val="accent6"/>
                </a:solidFill>
              </a:rPr>
              <a:t> and </a:t>
            </a:r>
            <a:r>
              <a:rPr lang="pt-PT" sz="1400" dirty="0" err="1">
                <a:solidFill>
                  <a:schemeClr val="accent6"/>
                </a:solidFill>
              </a:rPr>
              <a:t>its</a:t>
            </a:r>
            <a:r>
              <a:rPr lang="pt-PT" sz="1400" dirty="0">
                <a:solidFill>
                  <a:schemeClr val="accent6"/>
                </a:solidFill>
              </a:rPr>
              <a:t> </a:t>
            </a:r>
            <a:r>
              <a:rPr lang="pt-PT" sz="1400" dirty="0" err="1">
                <a:solidFill>
                  <a:schemeClr val="accent6"/>
                </a:solidFill>
              </a:rPr>
              <a:t>function</a:t>
            </a:r>
            <a:r>
              <a:rPr lang="pt-PT" sz="1400" dirty="0">
                <a:solidFill>
                  <a:schemeClr val="accent6"/>
                </a:solidFill>
              </a:rPr>
              <a:t>: </a:t>
            </a:r>
            <a:r>
              <a:rPr lang="pt-PT" sz="1400" dirty="0" err="1">
                <a:solidFill>
                  <a:schemeClr val="accent6"/>
                </a:solidFill>
              </a:rPr>
              <a:t>subject</a:t>
            </a:r>
            <a:r>
              <a:rPr lang="pt-PT" sz="1400" dirty="0">
                <a:solidFill>
                  <a:schemeClr val="accent6"/>
                </a:solidFill>
              </a:rPr>
              <a:t>, </a:t>
            </a:r>
            <a:r>
              <a:rPr lang="pt-PT" sz="1400" dirty="0" err="1">
                <a:solidFill>
                  <a:schemeClr val="accent6"/>
                </a:solidFill>
              </a:rPr>
              <a:t>object</a:t>
            </a:r>
            <a:r>
              <a:rPr lang="pt-PT" sz="1400" dirty="0">
                <a:solidFill>
                  <a:schemeClr val="accent6"/>
                </a:solidFill>
              </a:rPr>
              <a:t>, …)</a:t>
            </a:r>
            <a:endParaRPr lang="pt-PT" dirty="0">
              <a:solidFill>
                <a:schemeClr val="accent6"/>
              </a:solidFill>
            </a:endParaRPr>
          </a:p>
          <a:p>
            <a:pPr marL="539750" lvl="1" indent="-342900">
              <a:lnSpc>
                <a:spcPct val="150000"/>
              </a:lnSpc>
              <a:spcBef>
                <a:spcPct val="25000"/>
              </a:spcBef>
              <a:buFontTx/>
              <a:buChar char="-"/>
            </a:pPr>
            <a:r>
              <a:rPr lang="pt-PT" b="1" dirty="0">
                <a:solidFill>
                  <a:schemeClr val="accent6"/>
                </a:solidFill>
              </a:rPr>
              <a:t>Word </a:t>
            </a:r>
            <a:r>
              <a:rPr lang="pt-PT" b="1" dirty="0" err="1">
                <a:solidFill>
                  <a:schemeClr val="accent6"/>
                </a:solidFill>
              </a:rPr>
              <a:t>sense</a:t>
            </a:r>
            <a:r>
              <a:rPr lang="pt-PT" b="1" dirty="0">
                <a:solidFill>
                  <a:schemeClr val="accent6"/>
                </a:solidFill>
              </a:rPr>
              <a:t> </a:t>
            </a:r>
            <a:r>
              <a:rPr lang="pt-PT" b="1" dirty="0" err="1">
                <a:solidFill>
                  <a:schemeClr val="accent6"/>
                </a:solidFill>
              </a:rPr>
              <a:t>disambiguation</a:t>
            </a:r>
            <a:r>
              <a:rPr lang="pt-PT" b="1" dirty="0">
                <a:solidFill>
                  <a:schemeClr val="accent6"/>
                </a:solidFill>
              </a:rPr>
              <a:t> </a:t>
            </a:r>
            <a:r>
              <a:rPr lang="pt-PT" sz="1400" dirty="0">
                <a:solidFill>
                  <a:schemeClr val="accent6"/>
                </a:solidFill>
              </a:rPr>
              <a:t>(</a:t>
            </a:r>
            <a:r>
              <a:rPr lang="pt-PT" sz="1400" dirty="0" err="1">
                <a:solidFill>
                  <a:schemeClr val="accent6"/>
                </a:solidFill>
              </a:rPr>
              <a:t>semantics</a:t>
            </a:r>
            <a:r>
              <a:rPr lang="pt-PT" sz="1400" dirty="0">
                <a:solidFill>
                  <a:schemeClr val="accent6"/>
                </a:solidFill>
              </a:rPr>
              <a:t>, </a:t>
            </a:r>
            <a:r>
              <a:rPr lang="pt-PT" sz="1400" dirty="0" err="1">
                <a:solidFill>
                  <a:schemeClr val="accent6"/>
                </a:solidFill>
              </a:rPr>
              <a:t>identify</a:t>
            </a:r>
            <a:r>
              <a:rPr lang="pt-PT" sz="1400" dirty="0">
                <a:solidFill>
                  <a:schemeClr val="accent6"/>
                </a:solidFill>
              </a:rPr>
              <a:t> </a:t>
            </a:r>
            <a:r>
              <a:rPr lang="pt-PT" sz="1400" dirty="0" err="1">
                <a:solidFill>
                  <a:schemeClr val="accent6"/>
                </a:solidFill>
              </a:rPr>
              <a:t>word</a:t>
            </a:r>
            <a:r>
              <a:rPr lang="pt-PT" sz="1400" dirty="0">
                <a:solidFill>
                  <a:schemeClr val="accent6"/>
                </a:solidFill>
              </a:rPr>
              <a:t> </a:t>
            </a:r>
            <a:r>
              <a:rPr lang="pt-PT" sz="1400" dirty="0" err="1">
                <a:solidFill>
                  <a:schemeClr val="accent6"/>
                </a:solidFill>
              </a:rPr>
              <a:t>meaning</a:t>
            </a:r>
            <a:r>
              <a:rPr lang="pt-PT" sz="1400" dirty="0">
                <a:solidFill>
                  <a:schemeClr val="accent6"/>
                </a:solidFill>
              </a:rPr>
              <a:t>)</a:t>
            </a:r>
            <a:endParaRPr lang="pt-PT" dirty="0">
              <a:solidFill>
                <a:schemeClr val="accent6"/>
              </a:solidFill>
            </a:endParaRPr>
          </a:p>
          <a:p>
            <a:pPr marL="539750" lvl="1" indent="-342900">
              <a:lnSpc>
                <a:spcPct val="150000"/>
              </a:lnSpc>
              <a:spcBef>
                <a:spcPct val="25000"/>
              </a:spcBef>
              <a:buFontTx/>
              <a:buChar char="-"/>
            </a:pPr>
            <a:r>
              <a:rPr lang="pt-PT" b="1" dirty="0" err="1">
                <a:solidFill>
                  <a:schemeClr val="accent6"/>
                </a:solidFill>
              </a:rPr>
              <a:t>Phrase</a:t>
            </a:r>
            <a:r>
              <a:rPr lang="pt-PT" b="1" dirty="0">
                <a:solidFill>
                  <a:schemeClr val="accent6"/>
                </a:solidFill>
              </a:rPr>
              <a:t> </a:t>
            </a:r>
            <a:r>
              <a:rPr lang="pt-PT" b="1" dirty="0" err="1">
                <a:solidFill>
                  <a:schemeClr val="accent6"/>
                </a:solidFill>
              </a:rPr>
              <a:t>recognition</a:t>
            </a:r>
            <a:r>
              <a:rPr lang="pt-PT" b="1" dirty="0">
                <a:solidFill>
                  <a:schemeClr val="accent6"/>
                </a:solidFill>
              </a:rPr>
              <a:t> </a:t>
            </a:r>
            <a:r>
              <a:rPr lang="pt-PT" sz="1400" dirty="0">
                <a:solidFill>
                  <a:schemeClr val="accent6"/>
                </a:solidFill>
              </a:rPr>
              <a:t>(</a:t>
            </a:r>
            <a:r>
              <a:rPr lang="pt-PT" sz="1400" dirty="0" err="1">
                <a:solidFill>
                  <a:schemeClr val="accent6"/>
                </a:solidFill>
              </a:rPr>
              <a:t>group</a:t>
            </a:r>
            <a:r>
              <a:rPr lang="pt-PT" sz="1400" dirty="0">
                <a:solidFill>
                  <a:schemeClr val="accent6"/>
                </a:solidFill>
              </a:rPr>
              <a:t> individual </a:t>
            </a:r>
            <a:r>
              <a:rPr lang="pt-PT" sz="1400" dirty="0" err="1">
                <a:solidFill>
                  <a:schemeClr val="accent6"/>
                </a:solidFill>
              </a:rPr>
              <a:t>tokens</a:t>
            </a:r>
            <a:r>
              <a:rPr lang="pt-PT" sz="1400" dirty="0">
                <a:solidFill>
                  <a:schemeClr val="accent6"/>
                </a:solidFill>
              </a:rPr>
              <a:t> </a:t>
            </a:r>
            <a:r>
              <a:rPr lang="pt-PT" sz="1400" dirty="0" err="1">
                <a:solidFill>
                  <a:schemeClr val="accent6"/>
                </a:solidFill>
              </a:rPr>
              <a:t>into</a:t>
            </a:r>
            <a:r>
              <a:rPr lang="pt-PT" sz="1400" dirty="0">
                <a:solidFill>
                  <a:schemeClr val="accent6"/>
                </a:solidFill>
              </a:rPr>
              <a:t> </a:t>
            </a:r>
            <a:r>
              <a:rPr lang="pt-PT" sz="1400" dirty="0" err="1">
                <a:solidFill>
                  <a:schemeClr val="accent6"/>
                </a:solidFill>
              </a:rPr>
              <a:t>units</a:t>
            </a:r>
            <a:r>
              <a:rPr lang="pt-PT" sz="1400" dirty="0">
                <a:solidFill>
                  <a:schemeClr val="accent6"/>
                </a:solidFill>
              </a:rPr>
              <a:t>)</a:t>
            </a:r>
            <a:endParaRPr lang="pt-PT" dirty="0">
              <a:solidFill>
                <a:schemeClr val="accent6"/>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2"/>
                </a:solidFill>
              </a:rPr>
              <a:t>Intro|</a:t>
            </a:r>
            <a:r>
              <a:rPr lang="pt-PT" sz="2800" dirty="0" err="1">
                <a:solidFill>
                  <a:schemeClr val="bg1">
                    <a:lumMod val="50000"/>
                  </a:schemeClr>
                </a:solidFill>
              </a:rPr>
              <a:t>Models</a:t>
            </a:r>
            <a:r>
              <a:rPr lang="pt-PT" sz="2800" dirty="0" err="1">
                <a:solidFill>
                  <a:schemeClr val="bg2"/>
                </a:solidFill>
              </a:rPr>
              <a:t>|</a:t>
            </a:r>
            <a:r>
              <a:rPr lang="pt-PT" sz="2800" b="1" dirty="0" err="1">
                <a:solidFill>
                  <a:srgbClr val="A50021"/>
                </a:solidFill>
              </a:rPr>
              <a:t>Processing</a:t>
            </a:r>
            <a:r>
              <a:rPr lang="pt-PT" sz="2800" dirty="0" err="1">
                <a:solidFill>
                  <a:schemeClr val="bg2"/>
                </a:solidFill>
              </a:rPr>
              <a:t>|Tools|R|Case</a:t>
            </a:r>
            <a:r>
              <a:rPr lang="pt-PT" sz="2800" dirty="0">
                <a:solidFill>
                  <a:schemeClr val="bg2"/>
                </a:solidFill>
              </a:rPr>
              <a:t> </a:t>
            </a:r>
            <a:r>
              <a:rPr lang="pt-PT" sz="2800" dirty="0" err="1">
                <a:solidFill>
                  <a:schemeClr val="bg2"/>
                </a:solidFill>
              </a:rPr>
              <a:t>study|Handson</a:t>
            </a:r>
            <a:endParaRPr lang="pt-PT" sz="2800" dirty="0">
              <a:solidFill>
                <a:schemeClr val="bg2"/>
              </a:solidFill>
            </a:endParaRPr>
          </a:p>
        </p:txBody>
      </p:sp>
      <p:sp>
        <p:nvSpPr>
          <p:cNvPr id="5" name="Text Box 3"/>
          <p:cNvSpPr txBox="1">
            <a:spLocks noChangeArrowheads="1"/>
          </p:cNvSpPr>
          <p:nvPr/>
        </p:nvSpPr>
        <p:spPr bwMode="auto">
          <a:xfrm>
            <a:off x="251520" y="692696"/>
            <a:ext cx="8642350" cy="5493812"/>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Evaluation</a:t>
            </a:r>
            <a:endParaRPr lang="pt-PT" cap="all" dirty="0">
              <a:solidFill>
                <a:schemeClr val="accent6"/>
              </a:solidFill>
            </a:endParaRPr>
          </a:p>
          <a:p>
            <a:pPr marL="539750" lvl="1" indent="-342900">
              <a:lnSpc>
                <a:spcPct val="150000"/>
              </a:lnSpc>
              <a:spcBef>
                <a:spcPct val="25000"/>
              </a:spcBef>
              <a:buFontTx/>
              <a:buChar char="-"/>
            </a:pPr>
            <a:r>
              <a:rPr lang="pt-PT" b="1" dirty="0" err="1">
                <a:solidFill>
                  <a:schemeClr val="accent6"/>
                </a:solidFill>
              </a:rPr>
              <a:t>Precision</a:t>
            </a:r>
            <a:endParaRPr lang="pt-PT" b="1" dirty="0">
              <a:solidFill>
                <a:schemeClr val="accent6"/>
              </a:solidFill>
            </a:endParaRPr>
          </a:p>
          <a:p>
            <a:pPr marL="801688"/>
            <a:r>
              <a:rPr lang="en-US" dirty="0">
                <a:solidFill>
                  <a:srgbClr val="002060"/>
                </a:solidFill>
              </a:rPr>
              <a:t>Defined as the ratio between the number of documents correctly classified and the total number of documents classified in the category</a:t>
            </a:r>
            <a:endParaRPr lang="pt-PT" dirty="0">
              <a:solidFill>
                <a:srgbClr val="002060"/>
              </a:solidFill>
            </a:endParaRPr>
          </a:p>
          <a:p>
            <a:pPr marL="539750" lvl="1" indent="-342900">
              <a:lnSpc>
                <a:spcPct val="150000"/>
              </a:lnSpc>
              <a:spcBef>
                <a:spcPct val="25000"/>
              </a:spcBef>
              <a:buFontTx/>
              <a:buChar char="-"/>
            </a:pPr>
            <a:r>
              <a:rPr lang="pt-PT" b="1" dirty="0" err="1">
                <a:solidFill>
                  <a:schemeClr val="accent6"/>
                </a:solidFill>
              </a:rPr>
              <a:t>Recall</a:t>
            </a:r>
            <a:endParaRPr lang="pt-PT" b="1" dirty="0">
              <a:solidFill>
                <a:schemeClr val="accent6"/>
              </a:solidFill>
            </a:endParaRPr>
          </a:p>
          <a:p>
            <a:pPr marL="801688" lvl="1"/>
            <a:r>
              <a:rPr lang="en-US" dirty="0">
                <a:solidFill>
                  <a:srgbClr val="002060"/>
                </a:solidFill>
              </a:rPr>
              <a:t>Defined as the ratio between the number of documents correctly classified and the total number of documents in the category</a:t>
            </a:r>
          </a:p>
          <a:p>
            <a:pPr marL="539750" lvl="1" indent="-342900">
              <a:lnSpc>
                <a:spcPct val="150000"/>
              </a:lnSpc>
              <a:spcBef>
                <a:spcPct val="25000"/>
              </a:spcBef>
              <a:buFontTx/>
              <a:buChar char="-"/>
            </a:pPr>
            <a:r>
              <a:rPr lang="pt-PT" b="1" dirty="0">
                <a:solidFill>
                  <a:schemeClr val="accent6"/>
                </a:solidFill>
              </a:rPr>
              <a:t>F-</a:t>
            </a:r>
            <a:r>
              <a:rPr lang="pt-PT" b="1" dirty="0" err="1">
                <a:solidFill>
                  <a:schemeClr val="accent6"/>
                </a:solidFill>
              </a:rPr>
              <a:t>measure</a:t>
            </a:r>
            <a:endParaRPr lang="pt-PT" b="1" dirty="0">
              <a:solidFill>
                <a:schemeClr val="accent6"/>
              </a:solidFill>
            </a:endParaRPr>
          </a:p>
          <a:p>
            <a:pPr marL="801688" lvl="1"/>
            <a:r>
              <a:rPr lang="en-US" dirty="0">
                <a:solidFill>
                  <a:srgbClr val="002060"/>
                </a:solidFill>
              </a:rPr>
              <a:t>The F-measure combines recall and precision in a unique </a:t>
            </a:r>
            <a:r>
              <a:rPr lang="pt-PT" dirty="0" err="1">
                <a:solidFill>
                  <a:srgbClr val="002060"/>
                </a:solidFill>
              </a:rPr>
              <a:t>indicator</a:t>
            </a:r>
            <a:r>
              <a:rPr lang="pt-PT" dirty="0">
                <a:solidFill>
                  <a:srgbClr val="002060"/>
                </a:solidFill>
              </a:rPr>
              <a:t>. F1 </a:t>
            </a:r>
            <a:r>
              <a:rPr lang="pt-PT" dirty="0" err="1">
                <a:solidFill>
                  <a:srgbClr val="002060"/>
                </a:solidFill>
              </a:rPr>
              <a:t>gives</a:t>
            </a:r>
            <a:r>
              <a:rPr lang="pt-PT" dirty="0">
                <a:solidFill>
                  <a:srgbClr val="002060"/>
                </a:solidFill>
              </a:rPr>
              <a:t> </a:t>
            </a:r>
            <a:r>
              <a:rPr lang="pt-PT" dirty="0" err="1">
                <a:solidFill>
                  <a:srgbClr val="002060"/>
                </a:solidFill>
              </a:rPr>
              <a:t>the</a:t>
            </a:r>
            <a:r>
              <a:rPr lang="pt-PT" dirty="0">
                <a:solidFill>
                  <a:srgbClr val="002060"/>
                </a:solidFill>
              </a:rPr>
              <a:t> </a:t>
            </a:r>
            <a:r>
              <a:rPr lang="pt-PT" dirty="0" err="1">
                <a:solidFill>
                  <a:srgbClr val="002060"/>
                </a:solidFill>
              </a:rPr>
              <a:t>same</a:t>
            </a:r>
            <a:r>
              <a:rPr lang="pt-PT" dirty="0">
                <a:solidFill>
                  <a:srgbClr val="002060"/>
                </a:solidFill>
              </a:rPr>
              <a:t> </a:t>
            </a:r>
            <a:r>
              <a:rPr lang="pt-PT" dirty="0" err="1">
                <a:solidFill>
                  <a:srgbClr val="002060"/>
                </a:solidFill>
              </a:rPr>
              <a:t>weight</a:t>
            </a:r>
            <a:r>
              <a:rPr lang="pt-PT" dirty="0">
                <a:solidFill>
                  <a:srgbClr val="002060"/>
                </a:solidFill>
              </a:rPr>
              <a:t> to </a:t>
            </a:r>
            <a:r>
              <a:rPr lang="pt-PT" dirty="0" err="1">
                <a:solidFill>
                  <a:srgbClr val="002060"/>
                </a:solidFill>
              </a:rPr>
              <a:t>precison</a:t>
            </a:r>
            <a:r>
              <a:rPr lang="pt-PT" dirty="0">
                <a:solidFill>
                  <a:srgbClr val="002060"/>
                </a:solidFill>
              </a:rPr>
              <a:t> and </a:t>
            </a:r>
            <a:r>
              <a:rPr lang="pt-PT" dirty="0" err="1">
                <a:solidFill>
                  <a:srgbClr val="002060"/>
                </a:solidFill>
              </a:rPr>
              <a:t>recall</a:t>
            </a:r>
            <a:r>
              <a:rPr lang="pt-PT" dirty="0">
                <a:solidFill>
                  <a:srgbClr val="002060"/>
                </a:solidFill>
              </a:rPr>
              <a:t>.</a:t>
            </a:r>
          </a:p>
          <a:p>
            <a:pPr marL="539750" lvl="1" indent="-342900">
              <a:lnSpc>
                <a:spcPct val="150000"/>
              </a:lnSpc>
              <a:spcBef>
                <a:spcPct val="25000"/>
              </a:spcBef>
              <a:buFontTx/>
              <a:buChar char="-"/>
            </a:pPr>
            <a:r>
              <a:rPr lang="pt-PT" b="1" dirty="0" err="1">
                <a:solidFill>
                  <a:schemeClr val="accent6"/>
                </a:solidFill>
              </a:rPr>
              <a:t>Accuracy</a:t>
            </a:r>
            <a:r>
              <a:rPr lang="pt-PT" b="1" dirty="0">
                <a:solidFill>
                  <a:schemeClr val="accent6"/>
                </a:solidFill>
              </a:rPr>
              <a:t>, Error</a:t>
            </a:r>
          </a:p>
          <a:p>
            <a:pPr marL="801688"/>
            <a:r>
              <a:rPr lang="en-US" dirty="0">
                <a:solidFill>
                  <a:srgbClr val="002060"/>
                </a:solidFill>
              </a:rPr>
              <a:t>Complementary measures of the error probability of the classifier given a certain category. Accuracy is defined as the ratio of the number of correctly classified examples by the total number of evaluated examples, while error is defined as the ratio of the number of incorrectly classified examples by the total number of evaluated examples.</a:t>
            </a:r>
            <a:endParaRPr lang="pt-PT" dirty="0">
              <a:solidFill>
                <a:srgbClr val="002060"/>
              </a:solidFill>
            </a:endParaRPr>
          </a:p>
        </p:txBody>
      </p:sp>
      <p:pic>
        <p:nvPicPr>
          <p:cNvPr id="6" name="Picture 5" descr="fmeasure.png"/>
          <p:cNvPicPr>
            <a:picLocks noChangeAspect="1"/>
          </p:cNvPicPr>
          <p:nvPr/>
        </p:nvPicPr>
        <p:blipFill>
          <a:blip r:embed="rId2" cstate="print"/>
          <a:stretch>
            <a:fillRect/>
          </a:stretch>
        </p:blipFill>
        <p:spPr>
          <a:xfrm>
            <a:off x="3779912" y="3501008"/>
            <a:ext cx="4638675" cy="923925"/>
          </a:xfrm>
          <a:prstGeom prst="rect">
            <a:avLst/>
          </a:prstGeom>
          <a:ln>
            <a:solidFill>
              <a:srgbClr val="00206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2"/>
                </a:solidFill>
              </a:rPr>
              <a:t>Intro|</a:t>
            </a:r>
            <a:r>
              <a:rPr lang="pt-PT" sz="2800" dirty="0" err="1">
                <a:solidFill>
                  <a:schemeClr val="bg1">
                    <a:lumMod val="50000"/>
                  </a:schemeClr>
                </a:solidFill>
              </a:rPr>
              <a:t>Models</a:t>
            </a:r>
            <a:r>
              <a:rPr lang="pt-PT" sz="2800" dirty="0" err="1">
                <a:solidFill>
                  <a:schemeClr val="bg2"/>
                </a:solidFill>
              </a:rPr>
              <a:t>|</a:t>
            </a:r>
            <a:r>
              <a:rPr lang="pt-PT" sz="2800" b="1" dirty="0" err="1">
                <a:solidFill>
                  <a:srgbClr val="A50021"/>
                </a:solidFill>
              </a:rPr>
              <a:t>Processing</a:t>
            </a:r>
            <a:r>
              <a:rPr lang="pt-PT" sz="2800" dirty="0" err="1">
                <a:solidFill>
                  <a:schemeClr val="bg2"/>
                </a:solidFill>
              </a:rPr>
              <a:t>|Tools|R|Case</a:t>
            </a:r>
            <a:r>
              <a:rPr lang="pt-PT" sz="2800" dirty="0">
                <a:solidFill>
                  <a:schemeClr val="bg2"/>
                </a:solidFill>
              </a:rPr>
              <a:t> </a:t>
            </a:r>
            <a:r>
              <a:rPr lang="pt-PT" sz="2800" dirty="0" err="1">
                <a:solidFill>
                  <a:schemeClr val="bg2"/>
                </a:solidFill>
              </a:rPr>
              <a:t>study|Handson</a:t>
            </a:r>
            <a:endParaRPr lang="pt-PT" sz="2800" dirty="0">
              <a:solidFill>
                <a:schemeClr val="bg2"/>
              </a:solidFill>
            </a:endParaRPr>
          </a:p>
        </p:txBody>
      </p:sp>
      <p:sp>
        <p:nvSpPr>
          <p:cNvPr id="5" name="Text Box 3"/>
          <p:cNvSpPr txBox="1">
            <a:spLocks noChangeArrowheads="1"/>
          </p:cNvSpPr>
          <p:nvPr/>
        </p:nvSpPr>
        <p:spPr bwMode="auto">
          <a:xfrm>
            <a:off x="251520" y="692696"/>
            <a:ext cx="8642350" cy="5124480"/>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u="sng" cap="all" dirty="0" err="1">
                <a:solidFill>
                  <a:schemeClr val="accent6"/>
                </a:solidFill>
              </a:rPr>
              <a:t>Evaluation</a:t>
            </a:r>
            <a:endParaRPr lang="pt-PT" b="1" u="sng" cap="all" dirty="0">
              <a:solidFill>
                <a:schemeClr val="accent6"/>
              </a:solidFill>
            </a:endParaRPr>
          </a:p>
          <a:p>
            <a:r>
              <a:rPr lang="en-US" sz="1600" dirty="0">
                <a:solidFill>
                  <a:srgbClr val="002060"/>
                </a:solidFill>
              </a:rPr>
              <a:t>These measures are defined for </a:t>
            </a:r>
            <a:r>
              <a:rPr lang="en-US" sz="1600" b="1" dirty="0">
                <a:solidFill>
                  <a:srgbClr val="002060"/>
                </a:solidFill>
              </a:rPr>
              <a:t>binary classifiers</a:t>
            </a:r>
            <a:r>
              <a:rPr lang="en-US" sz="1600" dirty="0">
                <a:solidFill>
                  <a:srgbClr val="002060"/>
                </a:solidFill>
              </a:rPr>
              <a:t>. To measure performance in </a:t>
            </a:r>
            <a:r>
              <a:rPr lang="en-US" sz="1600" b="1" dirty="0">
                <a:solidFill>
                  <a:srgbClr val="002060"/>
                </a:solidFill>
              </a:rPr>
              <a:t>multi-class problems </a:t>
            </a:r>
            <a:r>
              <a:rPr lang="en-US" sz="1600" dirty="0">
                <a:solidFill>
                  <a:srgbClr val="002060"/>
                </a:solidFill>
              </a:rPr>
              <a:t>there are two common approaches that aggregate the measures evaluated at each singular class: macro-averaging and micro-averaging.</a:t>
            </a:r>
          </a:p>
          <a:p>
            <a:endParaRPr lang="en-US" sz="1600" dirty="0">
              <a:solidFill>
                <a:srgbClr val="002060"/>
              </a:solidFill>
            </a:endParaRPr>
          </a:p>
          <a:p>
            <a:r>
              <a:rPr lang="en-US" sz="1600" dirty="0">
                <a:solidFill>
                  <a:srgbClr val="002060"/>
                </a:solidFill>
              </a:rPr>
              <a:t>Macro-averaged measures are obtained by first computing the individual scores, for each individual class, and then, averaging these scores to obtain the global measure.</a:t>
            </a:r>
          </a:p>
          <a:p>
            <a:r>
              <a:rPr lang="en-US" sz="1600" dirty="0">
                <a:solidFill>
                  <a:srgbClr val="002060"/>
                </a:solidFill>
              </a:rPr>
              <a:t>Micro-averaging measures are obtained by first computing the individual scores of each document and then computing their average.</a:t>
            </a:r>
          </a:p>
          <a:p>
            <a:endParaRPr lang="en-US" sz="1600" dirty="0">
              <a:solidFill>
                <a:srgbClr val="002060"/>
              </a:solidFill>
            </a:endParaRPr>
          </a:p>
          <a:p>
            <a:r>
              <a:rPr lang="en-US" sz="1600" dirty="0">
                <a:solidFill>
                  <a:srgbClr val="002060"/>
                </a:solidFill>
              </a:rPr>
              <a:t>There is an important distinction between these two forms of aggregation : macro-averaging gives equal weights to all classes while micro-averaging gives equal weight to every document.</a:t>
            </a:r>
            <a:endParaRPr lang="pt-PT" dirty="0">
              <a:solidFill>
                <a:srgbClr val="002060"/>
              </a:solidFill>
            </a:endParaRPr>
          </a:p>
          <a:p>
            <a:pPr marL="539750" lvl="1" indent="-342900">
              <a:lnSpc>
                <a:spcPct val="150000"/>
              </a:lnSpc>
              <a:spcBef>
                <a:spcPct val="25000"/>
              </a:spcBef>
              <a:buFontTx/>
              <a:buChar char="-"/>
            </a:pPr>
            <a:r>
              <a:rPr lang="pt-PT" b="1" dirty="0" err="1">
                <a:solidFill>
                  <a:schemeClr val="accent6"/>
                </a:solidFill>
              </a:rPr>
              <a:t>Micro-average</a:t>
            </a:r>
            <a:endParaRPr lang="pt-PT" b="1" dirty="0">
              <a:solidFill>
                <a:schemeClr val="accent6"/>
              </a:solidFill>
            </a:endParaRPr>
          </a:p>
          <a:p>
            <a:pPr marL="801688"/>
            <a:r>
              <a:rPr lang="en-US" dirty="0">
                <a:solidFill>
                  <a:srgbClr val="002060"/>
                </a:solidFill>
              </a:rPr>
              <a:t>Same weight to all documents</a:t>
            </a:r>
            <a:endParaRPr lang="pt-PT" dirty="0">
              <a:solidFill>
                <a:srgbClr val="002060"/>
              </a:solidFill>
            </a:endParaRPr>
          </a:p>
          <a:p>
            <a:pPr marL="539750" lvl="1" indent="-342900">
              <a:lnSpc>
                <a:spcPct val="150000"/>
              </a:lnSpc>
              <a:spcBef>
                <a:spcPct val="25000"/>
              </a:spcBef>
              <a:buFontTx/>
              <a:buChar char="-"/>
            </a:pPr>
            <a:r>
              <a:rPr lang="pt-PT" b="1" dirty="0">
                <a:solidFill>
                  <a:schemeClr val="accent6"/>
                </a:solidFill>
              </a:rPr>
              <a:t>Macro </a:t>
            </a:r>
            <a:r>
              <a:rPr lang="pt-PT" b="1" dirty="0" err="1">
                <a:solidFill>
                  <a:schemeClr val="accent6"/>
                </a:solidFill>
              </a:rPr>
              <a:t>average</a:t>
            </a:r>
            <a:endParaRPr lang="pt-PT" b="1" dirty="0">
              <a:solidFill>
                <a:schemeClr val="accent6"/>
              </a:solidFill>
            </a:endParaRPr>
          </a:p>
          <a:p>
            <a:pPr marL="801688" lvl="1">
              <a:lnSpc>
                <a:spcPct val="150000"/>
              </a:lnSpc>
            </a:pPr>
            <a:r>
              <a:rPr lang="en-US" dirty="0">
                <a:solidFill>
                  <a:srgbClr val="002060"/>
                </a:solidFill>
              </a:rPr>
              <a:t>Same weight to all categories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p:cNvSpPr>
            <a:spLocks noChangeArrowheads="1"/>
          </p:cNvSpPr>
          <p:nvPr/>
        </p:nvSpPr>
        <p:spPr bwMode="auto">
          <a:xfrm>
            <a:off x="1403648" y="1412776"/>
            <a:ext cx="7560394" cy="4216539"/>
          </a:xfrm>
          <a:prstGeom prst="rect">
            <a:avLst/>
          </a:prstGeom>
          <a:noFill/>
          <a:ln w="9525">
            <a:noFill/>
            <a:miter lim="800000"/>
            <a:headEnd/>
            <a:tailEnd/>
          </a:ln>
        </p:spPr>
        <p:txBody>
          <a:bodyPr wrap="square">
            <a:spAutoFit/>
          </a:bodyPr>
          <a:lstStyle/>
          <a:p>
            <a:endParaRPr lang="pt-PT" sz="3200" b="1" dirty="0">
              <a:solidFill>
                <a:srgbClr val="002060"/>
              </a:solidFill>
            </a:endParaRPr>
          </a:p>
          <a:p>
            <a:endParaRPr lang="pt-PT" sz="3200" b="1" dirty="0">
              <a:solidFill>
                <a:srgbClr val="002060"/>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r>
              <a:rPr lang="pt-PT" sz="3200" b="1" dirty="0">
                <a:solidFill>
                  <a:schemeClr val="tx1">
                    <a:lumMod val="65000"/>
                    <a:lumOff val="35000"/>
                  </a:schemeClr>
                </a:solidFill>
              </a:rPr>
              <a:t>TOOLS FOR TEXT MINING</a:t>
            </a:r>
          </a:p>
          <a:p>
            <a:endParaRPr lang="pt-PT" sz="2600" b="1" i="1" dirty="0">
              <a:solidFill>
                <a:schemeClr val="tx1">
                  <a:lumMod val="65000"/>
                  <a:lumOff val="35000"/>
                </a:schemeClr>
              </a:solidFill>
            </a:endParaRPr>
          </a:p>
          <a:p>
            <a:r>
              <a:rPr lang="pt-PT" dirty="0">
                <a:solidFill>
                  <a:schemeClr val="tx1">
                    <a:lumMod val="65000"/>
                    <a:lumOff val="35000"/>
                  </a:schemeClr>
                </a:solidFill>
              </a:rPr>
              <a:t>				</a:t>
            </a:r>
          </a:p>
        </p:txBody>
      </p:sp>
      <p:pic>
        <p:nvPicPr>
          <p:cNvPr id="17410" name="Picture 2" descr="http://mediatemetrics.files.wordpress.com/2012/01/text-mining.jpg?w=216&amp;h=100&amp;crop=1"/>
          <p:cNvPicPr>
            <a:picLocks noChangeAspect="1" noChangeArrowheads="1"/>
          </p:cNvPicPr>
          <p:nvPr/>
        </p:nvPicPr>
        <p:blipFill>
          <a:blip r:embed="rId2" cstate="print"/>
          <a:srcRect/>
          <a:stretch>
            <a:fillRect/>
          </a:stretch>
        </p:blipFill>
        <p:spPr bwMode="auto">
          <a:xfrm>
            <a:off x="1475656" y="1268760"/>
            <a:ext cx="3816424" cy="1766864"/>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a:t>
            </a:r>
            <a:r>
              <a:rPr lang="pt-PT" sz="2800" b="1" dirty="0" err="1">
                <a:solidFill>
                  <a:srgbClr val="C00000"/>
                </a:solidFill>
              </a:rPr>
              <a:t>Tools</a:t>
            </a:r>
            <a:r>
              <a:rPr lang="pt-PT" sz="2800" dirty="0" err="1">
                <a:solidFill>
                  <a:schemeClr val="bg1">
                    <a:lumMod val="50000"/>
                  </a:schemeClr>
                </a:solidFill>
              </a:rPr>
              <a:t>|R|Case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3416320"/>
          </a:xfrm>
          <a:prstGeom prst="rect">
            <a:avLst/>
          </a:prstGeom>
          <a:noFill/>
          <a:ln w="9525">
            <a:noFill/>
            <a:miter lim="800000"/>
            <a:headEnd/>
            <a:tailEnd/>
          </a:ln>
        </p:spPr>
        <p:txBody>
          <a:bodyPr>
            <a:spAutoFit/>
          </a:bodyPr>
          <a:lstStyle/>
          <a:p>
            <a:pPr marL="342900" indent="-342900">
              <a:lnSpc>
                <a:spcPct val="150000"/>
              </a:lnSpc>
              <a:spcBef>
                <a:spcPct val="25000"/>
              </a:spcBef>
            </a:pPr>
            <a:r>
              <a:rPr lang="pt-PT" b="1" dirty="0">
                <a:solidFill>
                  <a:schemeClr val="accent6"/>
                </a:solidFill>
              </a:rPr>
              <a:t>R, </a:t>
            </a:r>
            <a:r>
              <a:rPr lang="pt-PT" b="1" dirty="0" err="1">
                <a:solidFill>
                  <a:schemeClr val="accent6"/>
                </a:solidFill>
              </a:rPr>
              <a:t>tm</a:t>
            </a:r>
            <a:r>
              <a:rPr lang="pt-PT" b="1" dirty="0">
                <a:solidFill>
                  <a:schemeClr val="accent6"/>
                </a:solidFill>
              </a:rPr>
              <a:t> package – </a:t>
            </a:r>
            <a:r>
              <a:rPr lang="pt-PT" b="1" dirty="0">
                <a:solidFill>
                  <a:schemeClr val="accent6"/>
                </a:solidFill>
                <a:hlinkClick r:id="rId2"/>
              </a:rPr>
              <a:t>http://www.r-project.org/</a:t>
            </a:r>
            <a:r>
              <a:rPr lang="pt-PT" b="1" dirty="0">
                <a:solidFill>
                  <a:schemeClr val="accent6"/>
                </a:solidFill>
              </a:rPr>
              <a:t> </a:t>
            </a:r>
          </a:p>
          <a:p>
            <a:pPr marL="342900" indent="-342900">
              <a:lnSpc>
                <a:spcPct val="150000"/>
              </a:lnSpc>
              <a:spcBef>
                <a:spcPct val="25000"/>
              </a:spcBef>
            </a:pPr>
            <a:r>
              <a:rPr lang="pt-PT" b="1" dirty="0" err="1">
                <a:solidFill>
                  <a:schemeClr val="accent6"/>
                </a:solidFill>
              </a:rPr>
              <a:t>Mallet</a:t>
            </a:r>
            <a:r>
              <a:rPr lang="pt-PT" b="1" dirty="0">
                <a:solidFill>
                  <a:schemeClr val="accent6"/>
                </a:solidFill>
              </a:rPr>
              <a:t> – </a:t>
            </a:r>
            <a:r>
              <a:rPr lang="pt-PT" b="1" dirty="0">
                <a:solidFill>
                  <a:schemeClr val="accent6"/>
                </a:solidFill>
                <a:hlinkClick r:id="rId3"/>
              </a:rPr>
              <a:t>http://mallet.cs.umass.edu/</a:t>
            </a:r>
            <a:r>
              <a:rPr lang="pt-PT" b="1" dirty="0">
                <a:solidFill>
                  <a:schemeClr val="accent6"/>
                </a:solidFill>
              </a:rPr>
              <a:t> </a:t>
            </a:r>
          </a:p>
          <a:p>
            <a:pPr marL="342900" indent="-342900">
              <a:lnSpc>
                <a:spcPct val="150000"/>
              </a:lnSpc>
              <a:spcBef>
                <a:spcPct val="25000"/>
              </a:spcBef>
            </a:pPr>
            <a:r>
              <a:rPr lang="pt-PT" b="1" dirty="0" err="1">
                <a:solidFill>
                  <a:schemeClr val="accent6"/>
                </a:solidFill>
              </a:rPr>
              <a:t>Lucene</a:t>
            </a:r>
            <a:r>
              <a:rPr lang="pt-PT" b="1" dirty="0">
                <a:solidFill>
                  <a:schemeClr val="accent6"/>
                </a:solidFill>
              </a:rPr>
              <a:t> – </a:t>
            </a:r>
            <a:r>
              <a:rPr lang="pt-PT" b="1" dirty="0">
                <a:solidFill>
                  <a:schemeClr val="accent6"/>
                </a:solidFill>
                <a:hlinkClick r:id="rId4"/>
              </a:rPr>
              <a:t>http://lucene.apache.org/</a:t>
            </a:r>
            <a:r>
              <a:rPr lang="pt-PT" b="1" dirty="0">
                <a:solidFill>
                  <a:schemeClr val="accent6"/>
                </a:solidFill>
              </a:rPr>
              <a:t> </a:t>
            </a:r>
          </a:p>
          <a:p>
            <a:pPr marL="342900" indent="-342900">
              <a:lnSpc>
                <a:spcPct val="150000"/>
              </a:lnSpc>
              <a:spcBef>
                <a:spcPct val="25000"/>
              </a:spcBef>
            </a:pPr>
            <a:r>
              <a:rPr lang="pt-PT" b="1" dirty="0" err="1">
                <a:solidFill>
                  <a:schemeClr val="accent6"/>
                </a:solidFill>
              </a:rPr>
              <a:t>OpenNLP</a:t>
            </a:r>
            <a:r>
              <a:rPr lang="pt-PT" b="1" dirty="0">
                <a:solidFill>
                  <a:schemeClr val="accent6"/>
                </a:solidFill>
              </a:rPr>
              <a:t> – </a:t>
            </a:r>
            <a:r>
              <a:rPr lang="pt-PT" b="1" dirty="0">
                <a:solidFill>
                  <a:schemeClr val="accent6"/>
                </a:solidFill>
                <a:hlinkClick r:id="rId5"/>
              </a:rPr>
              <a:t>http://opennlp.apache.org/</a:t>
            </a:r>
            <a:r>
              <a:rPr lang="pt-PT" b="1" dirty="0">
                <a:solidFill>
                  <a:schemeClr val="accent6"/>
                </a:solidFill>
              </a:rPr>
              <a:t> </a:t>
            </a:r>
          </a:p>
          <a:p>
            <a:pPr marL="342900" indent="-342900">
              <a:lnSpc>
                <a:spcPct val="150000"/>
              </a:lnSpc>
              <a:spcBef>
                <a:spcPct val="25000"/>
              </a:spcBef>
            </a:pPr>
            <a:r>
              <a:rPr lang="pt-PT" b="1" dirty="0" err="1">
                <a:solidFill>
                  <a:schemeClr val="accent6"/>
                </a:solidFill>
              </a:rPr>
              <a:t>RapidMiner</a:t>
            </a:r>
            <a:r>
              <a:rPr lang="pt-PT" b="1" dirty="0">
                <a:solidFill>
                  <a:schemeClr val="accent6"/>
                </a:solidFill>
              </a:rPr>
              <a:t> – </a:t>
            </a:r>
            <a:r>
              <a:rPr lang="pt-PT" b="1" dirty="0">
                <a:solidFill>
                  <a:schemeClr val="accent6"/>
                </a:solidFill>
                <a:hlinkClick r:id="rId6"/>
              </a:rPr>
              <a:t>http://rapid-i.com/</a:t>
            </a:r>
            <a:r>
              <a:rPr lang="pt-PT" b="1" dirty="0">
                <a:solidFill>
                  <a:schemeClr val="accent6"/>
                </a:solidFill>
              </a:rPr>
              <a:t> </a:t>
            </a:r>
          </a:p>
          <a:p>
            <a:pPr marL="342900" indent="-342900">
              <a:lnSpc>
                <a:spcPct val="150000"/>
              </a:lnSpc>
              <a:spcBef>
                <a:spcPct val="25000"/>
              </a:spcBef>
            </a:pPr>
            <a:endParaRPr lang="pt-PT" dirty="0">
              <a:solidFill>
                <a:schemeClr val="accent6"/>
              </a:solidFill>
            </a:endParaRPr>
          </a:p>
          <a:p>
            <a:pPr marL="800100" lvl="1" indent="-342900">
              <a:lnSpc>
                <a:spcPct val="150000"/>
              </a:lnSpc>
              <a:spcBef>
                <a:spcPct val="25000"/>
              </a:spcBef>
              <a:buFontTx/>
              <a:buAutoNum type="alphaLcParenR"/>
            </a:pPr>
            <a:endParaRPr lang="pt-PT" dirty="0">
              <a:solidFill>
                <a:schemeClr val="accent6"/>
              </a:solidFill>
            </a:endParaRPr>
          </a:p>
        </p:txBody>
      </p:sp>
      <p:sp>
        <p:nvSpPr>
          <p:cNvPr id="6" name="Rectangle 5"/>
          <p:cNvSpPr/>
          <p:nvPr/>
        </p:nvSpPr>
        <p:spPr>
          <a:xfrm>
            <a:off x="179512" y="692696"/>
            <a:ext cx="4752528" cy="504056"/>
          </a:xfrm>
          <a:prstGeom prst="rect">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3" presetClass="emph" presetSubtype="2" fill="hold" nodeType="withEffect">
                                  <p:stCondLst>
                                    <p:cond delay="1500"/>
                                  </p:stCondLst>
                                  <p:childTnLst>
                                    <p:animClr clrSpc="rgb" dir="cw">
                                      <p:cBhvr override="childStyle">
                                        <p:cTn id="16" dur="500" fill="hold"/>
                                        <p:tgtEl>
                                          <p:spTgt spid="5">
                                            <p:txEl>
                                              <p:pRg st="0" end="0"/>
                                            </p:txEl>
                                          </p:spTgt>
                                        </p:tgtEl>
                                        <p:attrNameLst>
                                          <p:attrName>style.color</p:attrName>
                                        </p:attrNameLst>
                                      </p:cBhvr>
                                      <p:to>
                                        <a:schemeClr val="bg2"/>
                                      </p:to>
                                    </p:animClr>
                                  </p:childTnLst>
                                </p:cTn>
                              </p:par>
                              <p:par>
                                <p:cTn id="17" presetID="3" presetClass="emph" presetSubtype="2" fill="hold" nodeType="withEffect">
                                  <p:stCondLst>
                                    <p:cond delay="1500"/>
                                  </p:stCondLst>
                                  <p:childTnLst>
                                    <p:animClr clrSpc="rgb" dir="cw">
                                      <p:cBhvr override="childStyle">
                                        <p:cTn id="18" dur="500" fill="hold"/>
                                        <p:tgtEl>
                                          <p:spTgt spid="5">
                                            <p:txEl>
                                              <p:pRg st="1" end="1"/>
                                            </p:txEl>
                                          </p:spTgt>
                                        </p:tgtEl>
                                        <p:attrNameLst>
                                          <p:attrName>style.color</p:attrName>
                                        </p:attrNameLst>
                                      </p:cBhvr>
                                      <p:to>
                                        <a:schemeClr val="bg2"/>
                                      </p:to>
                                    </p:animClr>
                                  </p:childTnLst>
                                </p:cTn>
                              </p:par>
                              <p:par>
                                <p:cTn id="19" presetID="3" presetClass="emph" presetSubtype="2" fill="hold" nodeType="withEffect">
                                  <p:stCondLst>
                                    <p:cond delay="1500"/>
                                  </p:stCondLst>
                                  <p:childTnLst>
                                    <p:animClr clrSpc="rgb" dir="cw">
                                      <p:cBhvr override="childStyle">
                                        <p:cTn id="20" dur="500" fill="hold"/>
                                        <p:tgtEl>
                                          <p:spTgt spid="5">
                                            <p:txEl>
                                              <p:pRg st="2" end="2"/>
                                            </p:txEl>
                                          </p:spTgt>
                                        </p:tgtEl>
                                        <p:attrNameLst>
                                          <p:attrName>style.color</p:attrName>
                                        </p:attrNameLst>
                                      </p:cBhvr>
                                      <p:to>
                                        <a:schemeClr val="bg2"/>
                                      </p:to>
                                    </p:animClr>
                                  </p:childTnLst>
                                </p:cTn>
                              </p:par>
                              <p:par>
                                <p:cTn id="21" presetID="3" presetClass="emph" presetSubtype="2" fill="hold" nodeType="withEffect">
                                  <p:stCondLst>
                                    <p:cond delay="1500"/>
                                  </p:stCondLst>
                                  <p:childTnLst>
                                    <p:animClr clrSpc="rgb" dir="cw">
                                      <p:cBhvr override="childStyle">
                                        <p:cTn id="22" dur="500" fill="hold"/>
                                        <p:tgtEl>
                                          <p:spTgt spid="5">
                                            <p:txEl>
                                              <p:pRg st="3" end="3"/>
                                            </p:txEl>
                                          </p:spTgt>
                                        </p:tgtEl>
                                        <p:attrNameLst>
                                          <p:attrName>style.color</p:attrName>
                                        </p:attrNameLst>
                                      </p:cBhvr>
                                      <p:to>
                                        <a:schemeClr val="bg2"/>
                                      </p:to>
                                    </p:animClr>
                                  </p:childTnLst>
                                </p:cTn>
                              </p:par>
                              <p:par>
                                <p:cTn id="23" presetID="3" presetClass="emph" presetSubtype="2" fill="hold" nodeType="withEffect">
                                  <p:stCondLst>
                                    <p:cond delay="1500"/>
                                  </p:stCondLst>
                                  <p:childTnLst>
                                    <p:animClr clrSpc="rgb" dir="cw">
                                      <p:cBhvr override="childStyle">
                                        <p:cTn id="24" dur="500" fill="hold"/>
                                        <p:tgtEl>
                                          <p:spTgt spid="5">
                                            <p:txEl>
                                              <p:pRg st="4" end="4"/>
                                            </p:txEl>
                                          </p:spTgt>
                                        </p:tgtEl>
                                        <p:attrNameLst>
                                          <p:attrName>style.color</p:attrName>
                                        </p:attrNameLst>
                                      </p:cBhvr>
                                      <p:to>
                                        <a:schemeClr val="bg2"/>
                                      </p:to>
                                    </p:animClr>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dissolv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p:cNvSpPr>
            <a:spLocks noChangeArrowheads="1"/>
          </p:cNvSpPr>
          <p:nvPr/>
        </p:nvSpPr>
        <p:spPr bwMode="auto">
          <a:xfrm>
            <a:off x="1403648" y="1412776"/>
            <a:ext cx="7560394" cy="4216539"/>
          </a:xfrm>
          <a:prstGeom prst="rect">
            <a:avLst/>
          </a:prstGeom>
          <a:noFill/>
          <a:ln w="9525">
            <a:noFill/>
            <a:miter lim="800000"/>
            <a:headEnd/>
            <a:tailEnd/>
          </a:ln>
        </p:spPr>
        <p:txBody>
          <a:bodyPr wrap="square">
            <a:spAutoFit/>
          </a:bodyPr>
          <a:lstStyle/>
          <a:p>
            <a:endParaRPr lang="pt-PT" sz="3200" b="1" dirty="0">
              <a:solidFill>
                <a:srgbClr val="002060"/>
              </a:solidFill>
            </a:endParaRPr>
          </a:p>
          <a:p>
            <a:endParaRPr lang="pt-PT" sz="3200" b="1" dirty="0">
              <a:solidFill>
                <a:srgbClr val="002060"/>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r>
              <a:rPr lang="pt-PT" sz="3200" b="1" dirty="0">
                <a:solidFill>
                  <a:schemeClr val="tx1">
                    <a:lumMod val="65000"/>
                    <a:lumOff val="35000"/>
                  </a:schemeClr>
                </a:solidFill>
              </a:rPr>
              <a:t>R LANGUAGE, TM PACKAGE</a:t>
            </a:r>
          </a:p>
          <a:p>
            <a:endParaRPr lang="pt-PT" sz="2600" b="1" i="1" dirty="0">
              <a:solidFill>
                <a:schemeClr val="tx1">
                  <a:lumMod val="65000"/>
                  <a:lumOff val="35000"/>
                </a:schemeClr>
              </a:solidFill>
            </a:endParaRPr>
          </a:p>
          <a:p>
            <a:r>
              <a:rPr lang="pt-PT" dirty="0">
                <a:solidFill>
                  <a:schemeClr val="tx1">
                    <a:lumMod val="65000"/>
                    <a:lumOff val="35000"/>
                  </a:schemeClr>
                </a:solidFill>
              </a:rPr>
              <a:t>				</a:t>
            </a:r>
          </a:p>
        </p:txBody>
      </p:sp>
      <p:pic>
        <p:nvPicPr>
          <p:cNvPr id="17410" name="Picture 2" descr="http://mediatemetrics.files.wordpress.com/2012/01/text-mining.jpg?w=216&amp;h=100&amp;crop=1"/>
          <p:cNvPicPr>
            <a:picLocks noChangeAspect="1" noChangeArrowheads="1"/>
          </p:cNvPicPr>
          <p:nvPr/>
        </p:nvPicPr>
        <p:blipFill>
          <a:blip r:embed="rId2" cstate="print"/>
          <a:srcRect/>
          <a:stretch>
            <a:fillRect/>
          </a:stretch>
        </p:blipFill>
        <p:spPr bwMode="auto">
          <a:xfrm>
            <a:off x="1475656" y="1268760"/>
            <a:ext cx="3816424" cy="1766864"/>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5139869"/>
          </a:xfrm>
          <a:prstGeom prst="rect">
            <a:avLst/>
          </a:prstGeom>
          <a:noFill/>
          <a:ln w="9525">
            <a:noFill/>
            <a:miter lim="800000"/>
            <a:headEnd/>
            <a:tailEnd/>
          </a:ln>
        </p:spPr>
        <p:txBody>
          <a:bodyPr>
            <a:spAutoFit/>
          </a:bodyPr>
          <a:lstStyle/>
          <a:p>
            <a:r>
              <a:rPr lang="en-US" sz="1600" dirty="0">
                <a:solidFill>
                  <a:srgbClr val="002060"/>
                </a:solidFill>
              </a:rPr>
              <a:t>R is an integrated suite of software facilities for data manipulation, calculation and graphical display.</a:t>
            </a:r>
          </a:p>
          <a:p>
            <a:r>
              <a:rPr lang="en-US" sz="1600" dirty="0">
                <a:solidFill>
                  <a:srgbClr val="002060"/>
                </a:solidFill>
              </a:rPr>
              <a:t>Among other things it has an effective data handling and storage facility, a suite of operators for calculations on arrays, in particular matrices, a large, coherent, integrated collection of intermediate tools for data analysis, graphical facilities for data analysis and display </a:t>
            </a:r>
            <a:r>
              <a:rPr lang="pt-PT" sz="1600" dirty="0">
                <a:solidFill>
                  <a:srgbClr val="002060"/>
                </a:solidFill>
              </a:rPr>
              <a:t>and</a:t>
            </a:r>
            <a:r>
              <a:rPr lang="en-US" sz="1600" dirty="0">
                <a:solidFill>
                  <a:srgbClr val="002060"/>
                </a:solidFill>
              </a:rPr>
              <a:t> simple and effective programming language which includes: conditionals, loops, user defined recursive functions and input and output facilities.</a:t>
            </a:r>
            <a:endParaRPr lang="en-US" dirty="0">
              <a:solidFill>
                <a:srgbClr val="002060"/>
              </a:solidFill>
            </a:endParaRPr>
          </a:p>
          <a:p>
            <a:endParaRPr lang="en-US" dirty="0">
              <a:solidFill>
                <a:schemeClr val="accent6"/>
              </a:solidFill>
            </a:endParaRPr>
          </a:p>
          <a:p>
            <a:r>
              <a:rPr lang="en-US" dirty="0">
                <a:solidFill>
                  <a:schemeClr val="accent6"/>
                </a:solidFill>
              </a:rPr>
              <a:t>R prompt</a:t>
            </a:r>
          </a:p>
          <a:p>
            <a:pPr marL="361950"/>
            <a:r>
              <a:rPr lang="en-US" dirty="0">
                <a:solidFill>
                  <a:schemeClr val="accent6"/>
                </a:solidFill>
                <a:latin typeface="Courier New" pitchFamily="49" charset="0"/>
                <a:cs typeface="Courier New" pitchFamily="49" charset="0"/>
              </a:rPr>
              <a:t>&gt;</a:t>
            </a:r>
          </a:p>
          <a:p>
            <a:endParaRPr lang="en-US" dirty="0">
              <a:solidFill>
                <a:schemeClr val="accent6"/>
              </a:solidFill>
            </a:endParaRPr>
          </a:p>
          <a:p>
            <a:r>
              <a:rPr lang="en-US" dirty="0">
                <a:solidFill>
                  <a:schemeClr val="accent6"/>
                </a:solidFill>
              </a:rPr>
              <a:t>Quitting R</a:t>
            </a:r>
          </a:p>
          <a:p>
            <a:pPr marL="361950"/>
            <a:r>
              <a:rPr lang="en-US" dirty="0">
                <a:solidFill>
                  <a:schemeClr val="accent6"/>
                </a:solidFill>
                <a:latin typeface="Courier New" pitchFamily="49" charset="0"/>
                <a:cs typeface="Courier New" pitchFamily="49" charset="0"/>
              </a:rPr>
              <a:t>&gt; q()</a:t>
            </a:r>
          </a:p>
          <a:p>
            <a:endParaRPr lang="en-US" dirty="0">
              <a:solidFill>
                <a:schemeClr val="accent6"/>
              </a:solidFill>
            </a:endParaRPr>
          </a:p>
          <a:p>
            <a:r>
              <a:rPr lang="en-US" dirty="0">
                <a:solidFill>
                  <a:schemeClr val="accent6"/>
                </a:solidFill>
              </a:rPr>
              <a:t>Help</a:t>
            </a:r>
          </a:p>
          <a:p>
            <a:pPr marL="361950"/>
            <a:r>
              <a:rPr lang="en-US" dirty="0">
                <a:solidFill>
                  <a:schemeClr val="accent6"/>
                </a:solidFill>
                <a:latin typeface="Courier New" pitchFamily="49" charset="0"/>
                <a:cs typeface="Courier New" pitchFamily="49" charset="0"/>
              </a:rPr>
              <a:t>&gt; ?command or &gt;help(command)</a:t>
            </a:r>
          </a:p>
          <a:p>
            <a:endParaRPr lang="en-US" dirty="0">
              <a:solidFill>
                <a:schemeClr val="accent6"/>
              </a:solidFill>
            </a:endParaRPr>
          </a:p>
          <a:p>
            <a:r>
              <a:rPr lang="en-US" dirty="0">
                <a:solidFill>
                  <a:schemeClr val="accent6"/>
                </a:solidFill>
              </a:rPr>
              <a:t>R is </a:t>
            </a:r>
            <a:r>
              <a:rPr lang="en-US" b="1" dirty="0">
                <a:solidFill>
                  <a:schemeClr val="accent6"/>
                </a:solidFill>
              </a:rPr>
              <a:t>case sensitive</a:t>
            </a:r>
          </a:p>
          <a:p>
            <a:endParaRPr lang="pt-PT" dirty="0">
              <a:solidFill>
                <a:schemeClr val="accent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5355312"/>
          </a:xfrm>
          <a:prstGeom prst="rect">
            <a:avLst/>
          </a:prstGeom>
          <a:noFill/>
          <a:ln w="9525">
            <a:noFill/>
            <a:miter lim="800000"/>
            <a:headEnd/>
            <a:tailEnd/>
          </a:ln>
        </p:spPr>
        <p:txBody>
          <a:bodyPr>
            <a:spAutoFit/>
          </a:bodyPr>
          <a:lstStyle/>
          <a:p>
            <a:r>
              <a:rPr lang="en-US" dirty="0">
                <a:solidFill>
                  <a:schemeClr val="accent6"/>
                </a:solidFill>
              </a:rPr>
              <a:t>Comments</a:t>
            </a:r>
          </a:p>
          <a:p>
            <a:pPr marL="361950"/>
            <a:r>
              <a:rPr lang="en-US" dirty="0">
                <a:solidFill>
                  <a:schemeClr val="accent6"/>
                </a:solidFill>
                <a:latin typeface="Courier New" pitchFamily="49" charset="0"/>
                <a:cs typeface="Courier New" pitchFamily="49" charset="0"/>
              </a:rPr>
              <a:t># content ignored up to the next newline</a:t>
            </a:r>
          </a:p>
          <a:p>
            <a:endParaRPr lang="en-US" dirty="0">
              <a:solidFill>
                <a:schemeClr val="accent6"/>
              </a:solidFill>
            </a:endParaRPr>
          </a:p>
          <a:p>
            <a:r>
              <a:rPr lang="en-US" dirty="0">
                <a:solidFill>
                  <a:schemeClr val="accent6"/>
                </a:solidFill>
              </a:rPr>
              <a:t>Char constant</a:t>
            </a:r>
          </a:p>
          <a:p>
            <a:pPr marL="361950"/>
            <a:r>
              <a:rPr lang="en-US" dirty="0">
                <a:solidFill>
                  <a:schemeClr val="accent6"/>
                </a:solidFill>
                <a:latin typeface="Courier New" pitchFamily="49" charset="0"/>
                <a:cs typeface="Courier New" pitchFamily="49" charset="0"/>
              </a:rPr>
              <a:t>“this is a char constant”</a:t>
            </a:r>
          </a:p>
          <a:p>
            <a:endParaRPr lang="en-US" dirty="0">
              <a:solidFill>
                <a:schemeClr val="accent6"/>
              </a:solidFill>
            </a:endParaRPr>
          </a:p>
          <a:p>
            <a:r>
              <a:rPr lang="pt-PT" dirty="0" err="1">
                <a:solidFill>
                  <a:schemeClr val="accent6"/>
                </a:solidFill>
              </a:rPr>
              <a:t>Elementary</a:t>
            </a:r>
            <a:r>
              <a:rPr lang="pt-PT" dirty="0">
                <a:solidFill>
                  <a:schemeClr val="accent6"/>
                </a:solidFill>
              </a:rPr>
              <a:t> </a:t>
            </a:r>
            <a:r>
              <a:rPr lang="pt-PT" dirty="0" err="1">
                <a:solidFill>
                  <a:schemeClr val="accent6"/>
                </a:solidFill>
              </a:rPr>
              <a:t>commands</a:t>
            </a:r>
            <a:r>
              <a:rPr lang="pt-PT" dirty="0">
                <a:solidFill>
                  <a:schemeClr val="accent6"/>
                </a:solidFill>
              </a:rPr>
              <a:t>, </a:t>
            </a:r>
            <a:r>
              <a:rPr lang="pt-PT" dirty="0" err="1">
                <a:solidFill>
                  <a:schemeClr val="accent6"/>
                </a:solidFill>
              </a:rPr>
              <a:t>separated</a:t>
            </a:r>
            <a:r>
              <a:rPr lang="pt-PT" dirty="0">
                <a:solidFill>
                  <a:schemeClr val="accent6"/>
                </a:solidFill>
              </a:rPr>
              <a:t> </a:t>
            </a:r>
            <a:r>
              <a:rPr lang="pt-PT" dirty="0" err="1">
                <a:solidFill>
                  <a:schemeClr val="accent6"/>
                </a:solidFill>
              </a:rPr>
              <a:t>by</a:t>
            </a:r>
            <a:r>
              <a:rPr lang="pt-PT" dirty="0">
                <a:solidFill>
                  <a:schemeClr val="accent6"/>
                </a:solidFill>
              </a:rPr>
              <a:t> </a:t>
            </a:r>
            <a:r>
              <a:rPr lang="en-US" dirty="0">
                <a:solidFill>
                  <a:schemeClr val="accent6"/>
                </a:solidFill>
              </a:rPr>
              <a:t>‘</a:t>
            </a:r>
            <a:r>
              <a:rPr lang="en-US" dirty="0">
                <a:solidFill>
                  <a:schemeClr val="accent6"/>
                </a:solidFill>
                <a:latin typeface="Courier New" pitchFamily="49" charset="0"/>
                <a:cs typeface="Courier New" pitchFamily="49" charset="0"/>
              </a:rPr>
              <a:t>;</a:t>
            </a:r>
            <a:r>
              <a:rPr lang="en-US" dirty="0">
                <a:solidFill>
                  <a:schemeClr val="accent6"/>
                </a:solidFill>
              </a:rPr>
              <a:t>’</a:t>
            </a:r>
            <a:r>
              <a:rPr lang="pt-PT" dirty="0">
                <a:solidFill>
                  <a:schemeClr val="accent6"/>
                </a:solidFill>
              </a:rPr>
              <a:t> </a:t>
            </a:r>
            <a:r>
              <a:rPr lang="en-US" dirty="0">
                <a:solidFill>
                  <a:schemeClr val="accent6"/>
                </a:solidFill>
              </a:rPr>
              <a:t>can be grouped together into one compound expression by braces (‘</a:t>
            </a:r>
            <a:r>
              <a:rPr lang="en-US" dirty="0">
                <a:solidFill>
                  <a:schemeClr val="accent6"/>
                </a:solidFill>
                <a:latin typeface="Courier New" pitchFamily="49" charset="0"/>
                <a:cs typeface="Courier New" pitchFamily="49" charset="0"/>
              </a:rPr>
              <a:t>{</a:t>
            </a:r>
            <a:r>
              <a:rPr lang="en-US" dirty="0">
                <a:solidFill>
                  <a:schemeClr val="accent6"/>
                </a:solidFill>
              </a:rPr>
              <a:t>’ and ‘</a:t>
            </a:r>
            <a:r>
              <a:rPr lang="en-US" dirty="0">
                <a:solidFill>
                  <a:schemeClr val="accent6"/>
                </a:solidFill>
                <a:latin typeface="Courier New" pitchFamily="49" charset="0"/>
                <a:cs typeface="Courier New" pitchFamily="49" charset="0"/>
              </a:rPr>
              <a:t>}</a:t>
            </a:r>
            <a:r>
              <a:rPr lang="en-US" dirty="0">
                <a:solidFill>
                  <a:schemeClr val="accent6"/>
                </a:solidFill>
              </a:rPr>
              <a:t>’).</a:t>
            </a:r>
          </a:p>
          <a:p>
            <a:endParaRPr lang="en-US" dirty="0">
              <a:solidFill>
                <a:schemeClr val="accent6"/>
              </a:solidFill>
            </a:endParaRPr>
          </a:p>
          <a:p>
            <a:r>
              <a:rPr lang="en-US" dirty="0">
                <a:solidFill>
                  <a:schemeClr val="accent6"/>
                </a:solidFill>
              </a:rPr>
              <a:t>Some useful commands:</a:t>
            </a:r>
          </a:p>
          <a:p>
            <a:pPr marL="361950"/>
            <a:r>
              <a:rPr lang="en-US" dirty="0">
                <a:solidFill>
                  <a:schemeClr val="accent6"/>
                </a:solidFill>
                <a:latin typeface="Courier New" pitchFamily="49" charset="0"/>
                <a:cs typeface="Courier New" pitchFamily="49" charset="0"/>
              </a:rPr>
              <a:t>&gt; </a:t>
            </a:r>
            <a:r>
              <a:rPr lang="en-US" dirty="0" err="1">
                <a:solidFill>
                  <a:schemeClr val="accent6"/>
                </a:solidFill>
                <a:latin typeface="Courier New" pitchFamily="49" charset="0"/>
                <a:cs typeface="Courier New" pitchFamily="49" charset="0"/>
              </a:rPr>
              <a:t>ls</a:t>
            </a:r>
            <a:r>
              <a:rPr lang="en-US" dirty="0">
                <a:solidFill>
                  <a:schemeClr val="accent6"/>
                </a:solidFill>
                <a:latin typeface="Courier New" pitchFamily="49" charset="0"/>
                <a:cs typeface="Courier New" pitchFamily="49" charset="0"/>
              </a:rPr>
              <a:t>()</a:t>
            </a:r>
          </a:p>
          <a:p>
            <a:pPr marL="361950"/>
            <a:r>
              <a:rPr lang="en-US" dirty="0">
                <a:solidFill>
                  <a:schemeClr val="accent6"/>
                </a:solidFill>
                <a:latin typeface="Courier New" pitchFamily="49" charset="0"/>
                <a:cs typeface="Courier New" pitchFamily="49" charset="0"/>
              </a:rPr>
              <a:t>&gt; </a:t>
            </a:r>
            <a:r>
              <a:rPr lang="en-US" dirty="0" err="1">
                <a:solidFill>
                  <a:schemeClr val="accent6"/>
                </a:solidFill>
                <a:latin typeface="Courier New" pitchFamily="49" charset="0"/>
                <a:cs typeface="Courier New" pitchFamily="49" charset="0"/>
              </a:rPr>
              <a:t>rm</a:t>
            </a:r>
            <a:r>
              <a:rPr lang="en-US" dirty="0">
                <a:solidFill>
                  <a:schemeClr val="accent6"/>
                </a:solidFill>
                <a:latin typeface="Courier New" pitchFamily="49" charset="0"/>
                <a:cs typeface="Courier New" pitchFamily="49" charset="0"/>
              </a:rPr>
              <a:t>()</a:t>
            </a:r>
          </a:p>
          <a:p>
            <a:endParaRPr lang="pt-PT" dirty="0">
              <a:solidFill>
                <a:schemeClr val="accent6"/>
              </a:solidFill>
            </a:endParaRPr>
          </a:p>
          <a:p>
            <a:r>
              <a:rPr lang="en-US" dirty="0">
                <a:solidFill>
                  <a:schemeClr val="accent6"/>
                </a:solidFill>
              </a:rPr>
              <a:t>Assignment operator:</a:t>
            </a:r>
          </a:p>
          <a:p>
            <a:pPr marL="361950"/>
            <a:r>
              <a:rPr lang="en-US" dirty="0">
                <a:solidFill>
                  <a:schemeClr val="accent6"/>
                </a:solidFill>
                <a:latin typeface="Courier New" pitchFamily="49" charset="0"/>
                <a:cs typeface="Courier New" pitchFamily="49" charset="0"/>
              </a:rPr>
              <a:t>&gt; x &lt;- 3 #local</a:t>
            </a:r>
          </a:p>
          <a:p>
            <a:pPr marL="361950"/>
            <a:r>
              <a:rPr lang="en-US" dirty="0">
                <a:solidFill>
                  <a:schemeClr val="accent6"/>
                </a:solidFill>
                <a:latin typeface="Courier New" pitchFamily="49" charset="0"/>
                <a:cs typeface="Courier New" pitchFamily="49" charset="0"/>
              </a:rPr>
              <a:t>&gt; x &lt;&lt;- 3 #global</a:t>
            </a:r>
          </a:p>
          <a:p>
            <a:endParaRPr lang="en-US" dirty="0">
              <a:solidFill>
                <a:schemeClr val="accent6"/>
              </a:solidFill>
              <a:latin typeface="Courier New" pitchFamily="49" charset="0"/>
              <a:cs typeface="Courier New" pitchFamily="49" charset="0"/>
            </a:endParaRPr>
          </a:p>
          <a:p>
            <a:r>
              <a:rPr lang="pt-PT" dirty="0" err="1">
                <a:solidFill>
                  <a:schemeClr val="accent6"/>
                </a:solidFill>
              </a:rPr>
              <a:t>Coercion</a:t>
            </a:r>
            <a:r>
              <a:rPr lang="pt-PT" dirty="0">
                <a:solidFill>
                  <a:schemeClr val="accent6"/>
                </a:solidFill>
              </a:rPr>
              <a:t>, </a:t>
            </a:r>
            <a:r>
              <a:rPr lang="pt-PT" dirty="0" err="1">
                <a:solidFill>
                  <a:schemeClr val="accent6"/>
                </a:solidFill>
              </a:rPr>
              <a:t>change</a:t>
            </a:r>
            <a:r>
              <a:rPr lang="pt-PT" dirty="0">
                <a:solidFill>
                  <a:schemeClr val="accent6"/>
                </a:solidFill>
              </a:rPr>
              <a:t> of </a:t>
            </a:r>
            <a:r>
              <a:rPr lang="pt-PT" dirty="0" err="1">
                <a:solidFill>
                  <a:schemeClr val="accent6"/>
                </a:solidFill>
              </a:rPr>
              <a:t>mode</a:t>
            </a:r>
            <a:r>
              <a:rPr lang="pt-PT" dirty="0">
                <a:solidFill>
                  <a:schemeClr val="accent6"/>
                </a:solidFill>
              </a:rPr>
              <a:t>, casting</a:t>
            </a:r>
          </a:p>
          <a:p>
            <a:pPr marL="361950"/>
            <a:r>
              <a:rPr lang="pt-PT" dirty="0">
                <a:solidFill>
                  <a:schemeClr val="accent6"/>
                </a:solidFill>
                <a:latin typeface="Courier New" pitchFamily="49" charset="0"/>
                <a:cs typeface="Courier New" pitchFamily="49" charset="0"/>
              </a:rPr>
              <a:t>as.numeric(), as.character(), as.matrix(), ...</a:t>
            </a:r>
            <a:endParaRPr lang="en-US" dirty="0">
              <a:solidFill>
                <a:schemeClr val="accent6"/>
              </a:solidFill>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6463308"/>
          </a:xfrm>
          <a:prstGeom prst="rect">
            <a:avLst/>
          </a:prstGeom>
          <a:noFill/>
          <a:ln w="9525">
            <a:noFill/>
            <a:miter lim="800000"/>
            <a:headEnd/>
            <a:tailEnd/>
          </a:ln>
        </p:spPr>
        <p:txBody>
          <a:bodyPr>
            <a:spAutoFit/>
          </a:bodyPr>
          <a:lstStyle/>
          <a:p>
            <a:r>
              <a:rPr lang="en-US" dirty="0">
                <a:solidFill>
                  <a:schemeClr val="accent6"/>
                </a:solidFill>
              </a:rPr>
              <a:t>R operates on named data structures. The simplest such structure is the numeric vector, which is a single entity consisting of an ordered collection of numbers.</a:t>
            </a:r>
            <a:endParaRPr lang="pt-PT" dirty="0">
              <a:solidFill>
                <a:schemeClr val="accent6"/>
              </a:solidFill>
            </a:endParaRPr>
          </a:p>
          <a:p>
            <a:pPr marL="361950"/>
            <a:r>
              <a:rPr lang="pt-PT" dirty="0">
                <a:solidFill>
                  <a:schemeClr val="accent6"/>
                </a:solidFill>
                <a:latin typeface="Courier New" pitchFamily="49" charset="0"/>
                <a:cs typeface="Courier New" pitchFamily="49" charset="0"/>
              </a:rPr>
              <a:t>&gt; x &lt;- c(10.4, 5.6, 3.1, 6.4, 21.7)</a:t>
            </a:r>
          </a:p>
          <a:p>
            <a:endParaRPr lang="pt-PT" dirty="0">
              <a:solidFill>
                <a:schemeClr val="accent6"/>
              </a:solidFill>
            </a:endParaRPr>
          </a:p>
          <a:p>
            <a:r>
              <a:rPr lang="pt-PT" dirty="0" err="1">
                <a:solidFill>
                  <a:schemeClr val="accent6"/>
                </a:solidFill>
              </a:rPr>
              <a:t>Vector</a:t>
            </a:r>
            <a:r>
              <a:rPr lang="pt-PT" dirty="0">
                <a:solidFill>
                  <a:schemeClr val="accent6"/>
                </a:solidFill>
              </a:rPr>
              <a:t> </a:t>
            </a:r>
            <a:r>
              <a:rPr lang="pt-PT" dirty="0" err="1">
                <a:solidFill>
                  <a:schemeClr val="accent6"/>
                </a:solidFill>
              </a:rPr>
              <a:t>arithmetic</a:t>
            </a:r>
            <a:endParaRPr lang="pt-PT" dirty="0">
              <a:solidFill>
                <a:schemeClr val="accent6"/>
              </a:solidFill>
            </a:endParaRPr>
          </a:p>
          <a:p>
            <a:pPr marL="361950"/>
            <a:r>
              <a:rPr lang="pt-PT" dirty="0">
                <a:solidFill>
                  <a:schemeClr val="accent6"/>
                </a:solidFill>
                <a:latin typeface="Courier New" pitchFamily="49" charset="0"/>
                <a:cs typeface="Courier New" pitchFamily="49" charset="0"/>
              </a:rPr>
              <a:t>&gt; v &lt;- 2*x + y + 1</a:t>
            </a:r>
          </a:p>
          <a:p>
            <a:endParaRPr lang="pt-PT" dirty="0">
              <a:solidFill>
                <a:schemeClr val="accent6"/>
              </a:solidFill>
            </a:endParaRPr>
          </a:p>
          <a:p>
            <a:r>
              <a:rPr lang="pt-PT" dirty="0" err="1">
                <a:solidFill>
                  <a:schemeClr val="accent6"/>
                </a:solidFill>
              </a:rPr>
              <a:t>Elementary</a:t>
            </a:r>
            <a:r>
              <a:rPr lang="pt-PT" dirty="0">
                <a:solidFill>
                  <a:schemeClr val="accent6"/>
                </a:solidFill>
              </a:rPr>
              <a:t> </a:t>
            </a:r>
            <a:r>
              <a:rPr lang="pt-PT" dirty="0" err="1">
                <a:solidFill>
                  <a:schemeClr val="accent6"/>
                </a:solidFill>
              </a:rPr>
              <a:t>arithmetic</a:t>
            </a:r>
            <a:r>
              <a:rPr lang="pt-PT" dirty="0">
                <a:solidFill>
                  <a:schemeClr val="accent6"/>
                </a:solidFill>
              </a:rPr>
              <a:t> </a:t>
            </a:r>
            <a:r>
              <a:rPr lang="pt-PT" dirty="0" err="1">
                <a:solidFill>
                  <a:schemeClr val="accent6"/>
                </a:solidFill>
              </a:rPr>
              <a:t>operators</a:t>
            </a:r>
            <a:r>
              <a:rPr lang="pt-PT" dirty="0">
                <a:solidFill>
                  <a:schemeClr val="accent6"/>
                </a:solidFill>
              </a:rPr>
              <a:t>:</a:t>
            </a:r>
          </a:p>
          <a:p>
            <a:r>
              <a:rPr lang="pt-PT" dirty="0">
                <a:solidFill>
                  <a:schemeClr val="accent6"/>
                </a:solidFill>
                <a:latin typeface="Courier New" pitchFamily="49" charset="0"/>
                <a:cs typeface="Courier New" pitchFamily="49" charset="0"/>
              </a:rPr>
              <a:t>+   -   *   /   ^</a:t>
            </a:r>
          </a:p>
          <a:p>
            <a:endParaRPr lang="pt-PT" dirty="0">
              <a:solidFill>
                <a:schemeClr val="accent6"/>
              </a:solidFill>
            </a:endParaRPr>
          </a:p>
          <a:p>
            <a:r>
              <a:rPr lang="pt-PT" dirty="0" err="1">
                <a:solidFill>
                  <a:schemeClr val="accent6"/>
                </a:solidFill>
              </a:rPr>
              <a:t>Arithmetic</a:t>
            </a:r>
            <a:r>
              <a:rPr lang="pt-PT" dirty="0">
                <a:solidFill>
                  <a:schemeClr val="accent6"/>
                </a:solidFill>
              </a:rPr>
              <a:t> </a:t>
            </a:r>
            <a:r>
              <a:rPr lang="pt-PT" dirty="0" err="1">
                <a:solidFill>
                  <a:schemeClr val="accent6"/>
                </a:solidFill>
              </a:rPr>
              <a:t>functions</a:t>
            </a:r>
            <a:r>
              <a:rPr lang="pt-PT" dirty="0">
                <a:solidFill>
                  <a:schemeClr val="accent6"/>
                </a:solidFill>
              </a:rPr>
              <a:t>:</a:t>
            </a:r>
          </a:p>
          <a:p>
            <a:pPr marL="361950"/>
            <a:r>
              <a:rPr lang="pt-PT" dirty="0">
                <a:solidFill>
                  <a:schemeClr val="accent6"/>
                </a:solidFill>
                <a:latin typeface="Courier New" pitchFamily="49" charset="0"/>
                <a:cs typeface="Courier New" pitchFamily="49" charset="0"/>
              </a:rPr>
              <a:t>log()</a:t>
            </a:r>
            <a:r>
              <a:rPr lang="es-ES" dirty="0">
                <a:solidFill>
                  <a:schemeClr val="accent6"/>
                </a:solidFill>
                <a:latin typeface="Courier New" pitchFamily="49" charset="0"/>
                <a:cs typeface="Courier New" pitchFamily="49" charset="0"/>
              </a:rPr>
              <a:t>, </a:t>
            </a:r>
            <a:r>
              <a:rPr lang="es-ES" dirty="0" err="1">
                <a:solidFill>
                  <a:schemeClr val="accent6"/>
                </a:solidFill>
                <a:latin typeface="Courier New" pitchFamily="49" charset="0"/>
                <a:cs typeface="Courier New" pitchFamily="49" charset="0"/>
              </a:rPr>
              <a:t>exp</a:t>
            </a:r>
            <a:r>
              <a:rPr lang="es-ES" dirty="0">
                <a:solidFill>
                  <a:schemeClr val="accent6"/>
                </a:solidFill>
                <a:latin typeface="Courier New" pitchFamily="49" charset="0"/>
                <a:cs typeface="Courier New" pitchFamily="49" charset="0"/>
              </a:rPr>
              <a:t>(), sin(), </a:t>
            </a:r>
            <a:r>
              <a:rPr lang="es-ES" dirty="0" err="1">
                <a:solidFill>
                  <a:schemeClr val="accent6"/>
                </a:solidFill>
                <a:latin typeface="Courier New" pitchFamily="49" charset="0"/>
                <a:cs typeface="Courier New" pitchFamily="49" charset="0"/>
              </a:rPr>
              <a:t>cos</a:t>
            </a:r>
            <a:r>
              <a:rPr lang="es-ES" dirty="0">
                <a:solidFill>
                  <a:schemeClr val="accent6"/>
                </a:solidFill>
                <a:latin typeface="Courier New" pitchFamily="49" charset="0"/>
                <a:cs typeface="Courier New" pitchFamily="49" charset="0"/>
              </a:rPr>
              <a:t>(), </a:t>
            </a:r>
            <a:r>
              <a:rPr lang="es-ES" dirty="0" err="1">
                <a:solidFill>
                  <a:schemeClr val="accent6"/>
                </a:solidFill>
                <a:latin typeface="Courier New" pitchFamily="49" charset="0"/>
                <a:cs typeface="Courier New" pitchFamily="49" charset="0"/>
              </a:rPr>
              <a:t>sqrt</a:t>
            </a:r>
            <a:r>
              <a:rPr lang="es-ES" dirty="0">
                <a:solidFill>
                  <a:schemeClr val="accent6"/>
                </a:solidFill>
                <a:latin typeface="Courier New" pitchFamily="49" charset="0"/>
                <a:cs typeface="Courier New" pitchFamily="49" charset="0"/>
              </a:rPr>
              <a:t>(), </a:t>
            </a:r>
            <a:r>
              <a:rPr lang="es-ES" dirty="0" err="1">
                <a:solidFill>
                  <a:schemeClr val="accent6"/>
                </a:solidFill>
                <a:latin typeface="Courier New" pitchFamily="49" charset="0"/>
                <a:cs typeface="Courier New" pitchFamily="49" charset="0"/>
              </a:rPr>
              <a:t>sum</a:t>
            </a:r>
            <a:r>
              <a:rPr lang="es-ES" dirty="0">
                <a:solidFill>
                  <a:schemeClr val="accent6"/>
                </a:solidFill>
                <a:latin typeface="Courier New" pitchFamily="49" charset="0"/>
                <a:cs typeface="Courier New" pitchFamily="49" charset="0"/>
              </a:rPr>
              <a:t>(x), </a:t>
            </a:r>
            <a:r>
              <a:rPr lang="es-ES" dirty="0" err="1">
                <a:solidFill>
                  <a:schemeClr val="accent6"/>
                </a:solidFill>
                <a:latin typeface="Courier New" pitchFamily="49" charset="0"/>
                <a:cs typeface="Courier New" pitchFamily="49" charset="0"/>
              </a:rPr>
              <a:t>max</a:t>
            </a:r>
            <a:r>
              <a:rPr lang="es-ES" dirty="0">
                <a:solidFill>
                  <a:schemeClr val="accent6"/>
                </a:solidFill>
                <a:latin typeface="Courier New" pitchFamily="49" charset="0"/>
                <a:cs typeface="Courier New" pitchFamily="49" charset="0"/>
              </a:rPr>
              <a:t>(x), min(x), </a:t>
            </a:r>
            <a:r>
              <a:rPr lang="es-ES" dirty="0" err="1">
                <a:solidFill>
                  <a:schemeClr val="accent6"/>
                </a:solidFill>
                <a:latin typeface="Courier New" pitchFamily="49" charset="0"/>
                <a:cs typeface="Courier New" pitchFamily="49" charset="0"/>
              </a:rPr>
              <a:t>length</a:t>
            </a:r>
            <a:r>
              <a:rPr lang="es-ES" dirty="0">
                <a:solidFill>
                  <a:schemeClr val="accent6"/>
                </a:solidFill>
                <a:latin typeface="Courier New" pitchFamily="49" charset="0"/>
                <a:cs typeface="Courier New" pitchFamily="49" charset="0"/>
              </a:rPr>
              <a:t>(x)</a:t>
            </a:r>
            <a:endParaRPr lang="pt-PT" dirty="0">
              <a:solidFill>
                <a:schemeClr val="accent6"/>
              </a:solidFill>
              <a:latin typeface="Courier New" pitchFamily="49" charset="0"/>
              <a:cs typeface="Courier New" pitchFamily="49" charset="0"/>
            </a:endParaRPr>
          </a:p>
          <a:p>
            <a:endParaRPr lang="pt-PT" dirty="0">
              <a:solidFill>
                <a:schemeClr val="accent6"/>
              </a:solidFill>
            </a:endParaRPr>
          </a:p>
          <a:p>
            <a:r>
              <a:rPr lang="pt-PT" dirty="0" err="1">
                <a:solidFill>
                  <a:schemeClr val="accent6"/>
                </a:solidFill>
              </a:rPr>
              <a:t>Indexing</a:t>
            </a:r>
            <a:r>
              <a:rPr lang="pt-PT" dirty="0">
                <a:solidFill>
                  <a:schemeClr val="accent6"/>
                </a:solidFill>
              </a:rPr>
              <a:t>:</a:t>
            </a:r>
          </a:p>
          <a:p>
            <a:pPr marL="361950"/>
            <a:r>
              <a:rPr lang="pt-PT" dirty="0">
                <a:solidFill>
                  <a:schemeClr val="accent6"/>
                </a:solidFill>
                <a:latin typeface="Courier New" pitchFamily="49" charset="0"/>
                <a:cs typeface="Courier New" pitchFamily="49" charset="0"/>
              </a:rPr>
              <a:t>&gt; x &lt;- c(43, 67, 23, 12, 87)</a:t>
            </a:r>
          </a:p>
          <a:p>
            <a:pPr marL="361950"/>
            <a:r>
              <a:rPr lang="pt-PT" dirty="0">
                <a:solidFill>
                  <a:schemeClr val="accent6"/>
                </a:solidFill>
                <a:latin typeface="Courier New" pitchFamily="49" charset="0"/>
                <a:cs typeface="Courier New" pitchFamily="49" charset="0"/>
              </a:rPr>
              <a:t>&gt; x</a:t>
            </a:r>
          </a:p>
          <a:p>
            <a:pPr marL="361950"/>
            <a:r>
              <a:rPr lang="pt-PT" dirty="0">
                <a:solidFill>
                  <a:schemeClr val="accent6"/>
                </a:solidFill>
                <a:latin typeface="Courier New" pitchFamily="49" charset="0"/>
                <a:cs typeface="Courier New" pitchFamily="49" charset="0"/>
              </a:rPr>
              <a:t>[1] 43 67 23 12 87</a:t>
            </a:r>
          </a:p>
          <a:p>
            <a:pPr marL="361950"/>
            <a:r>
              <a:rPr lang="pt-PT" dirty="0">
                <a:solidFill>
                  <a:schemeClr val="accent6"/>
                </a:solidFill>
                <a:latin typeface="Courier New" pitchFamily="49" charset="0"/>
                <a:cs typeface="Courier New" pitchFamily="49" charset="0"/>
              </a:rPr>
              <a:t>&gt; x[2]</a:t>
            </a:r>
          </a:p>
          <a:p>
            <a:pPr marL="361950"/>
            <a:r>
              <a:rPr lang="pt-PT" dirty="0">
                <a:solidFill>
                  <a:schemeClr val="accent6"/>
                </a:solidFill>
                <a:latin typeface="Courier New" pitchFamily="49" charset="0"/>
                <a:cs typeface="Courier New" pitchFamily="49" charset="0"/>
              </a:rPr>
              <a:t>[1] 67</a:t>
            </a:r>
          </a:p>
          <a:p>
            <a:endParaRPr lang="pt-PT" dirty="0">
              <a:solidFill>
                <a:schemeClr val="accent6"/>
              </a:solidFill>
            </a:endParaRPr>
          </a:p>
          <a:p>
            <a:endParaRPr lang="pt-PT" dirty="0">
              <a:solidFill>
                <a:schemeClr val="accent6"/>
              </a:solidFill>
            </a:endParaRPr>
          </a:p>
          <a:p>
            <a:endParaRPr lang="pt-PT" dirty="0">
              <a:solidFill>
                <a:schemeClr val="accent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5909310"/>
          </a:xfrm>
          <a:prstGeom prst="rect">
            <a:avLst/>
          </a:prstGeom>
          <a:noFill/>
          <a:ln w="9525">
            <a:noFill/>
            <a:miter lim="800000"/>
            <a:headEnd/>
            <a:tailEnd/>
          </a:ln>
        </p:spPr>
        <p:txBody>
          <a:bodyPr>
            <a:spAutoFit/>
          </a:bodyPr>
          <a:lstStyle/>
          <a:p>
            <a:r>
              <a:rPr lang="pt-PT" dirty="0" err="1">
                <a:solidFill>
                  <a:schemeClr val="accent6"/>
                </a:solidFill>
              </a:rPr>
              <a:t>Other</a:t>
            </a:r>
            <a:r>
              <a:rPr lang="pt-PT" dirty="0">
                <a:solidFill>
                  <a:schemeClr val="accent6"/>
                </a:solidFill>
              </a:rPr>
              <a:t> </a:t>
            </a:r>
            <a:r>
              <a:rPr lang="pt-PT" dirty="0" err="1">
                <a:solidFill>
                  <a:schemeClr val="accent6"/>
                </a:solidFill>
              </a:rPr>
              <a:t>types</a:t>
            </a:r>
            <a:r>
              <a:rPr lang="pt-PT" dirty="0">
                <a:solidFill>
                  <a:schemeClr val="accent6"/>
                </a:solidFill>
              </a:rPr>
              <a:t> of </a:t>
            </a:r>
            <a:r>
              <a:rPr lang="pt-PT" dirty="0" err="1">
                <a:solidFill>
                  <a:schemeClr val="accent6"/>
                </a:solidFill>
              </a:rPr>
              <a:t>objects</a:t>
            </a:r>
            <a:r>
              <a:rPr lang="pt-PT" dirty="0">
                <a:solidFill>
                  <a:schemeClr val="accent6"/>
                </a:solidFill>
              </a:rPr>
              <a:t> (</a:t>
            </a:r>
            <a:r>
              <a:rPr lang="pt-PT" dirty="0" err="1">
                <a:solidFill>
                  <a:schemeClr val="accent6"/>
                </a:solidFill>
              </a:rPr>
              <a:t>besides</a:t>
            </a:r>
            <a:r>
              <a:rPr lang="pt-PT" dirty="0">
                <a:solidFill>
                  <a:schemeClr val="accent6"/>
                </a:solidFill>
              </a:rPr>
              <a:t> </a:t>
            </a:r>
            <a:r>
              <a:rPr lang="pt-PT" b="1" u="sng" dirty="0" err="1">
                <a:solidFill>
                  <a:schemeClr val="accent6"/>
                </a:solidFill>
              </a:rPr>
              <a:t>vectors</a:t>
            </a:r>
            <a:r>
              <a:rPr lang="pt-PT" dirty="0">
                <a:solidFill>
                  <a:schemeClr val="accent6"/>
                </a:solidFill>
              </a:rPr>
              <a:t>):</a:t>
            </a:r>
          </a:p>
          <a:p>
            <a:endParaRPr lang="pt-PT" dirty="0">
              <a:solidFill>
                <a:schemeClr val="accent6"/>
              </a:solidFill>
            </a:endParaRPr>
          </a:p>
          <a:p>
            <a:pPr marL="450850" indent="-271463">
              <a:buFont typeface="Arial" pitchFamily="34" charset="0"/>
              <a:buChar char="•"/>
            </a:pPr>
            <a:r>
              <a:rPr lang="en-US" sz="1600" b="1" u="sng" dirty="0">
                <a:solidFill>
                  <a:schemeClr val="accent6"/>
                </a:solidFill>
              </a:rPr>
              <a:t>matrices</a:t>
            </a:r>
            <a:r>
              <a:rPr lang="en-US" sz="1600" b="1" dirty="0">
                <a:solidFill>
                  <a:schemeClr val="accent6"/>
                </a:solidFill>
              </a:rPr>
              <a:t> </a:t>
            </a:r>
            <a:r>
              <a:rPr lang="en-US" sz="1600" dirty="0">
                <a:solidFill>
                  <a:schemeClr val="accent6"/>
                </a:solidFill>
              </a:rPr>
              <a:t>or more generally arrays are multi-dimensional generalizations of vectors.</a:t>
            </a:r>
          </a:p>
          <a:p>
            <a:pPr marL="1252538" indent="-271463"/>
            <a:r>
              <a:rPr lang="en-US" sz="1600" dirty="0">
                <a:solidFill>
                  <a:schemeClr val="accent6"/>
                </a:solidFill>
                <a:latin typeface="Courier New" pitchFamily="49" charset="0"/>
                <a:cs typeface="Courier New" pitchFamily="49" charset="0"/>
              </a:rPr>
              <a:t>&gt; m[1,1]</a:t>
            </a:r>
            <a:endParaRPr lang="en-US" sz="1600" dirty="0">
              <a:solidFill>
                <a:schemeClr val="accent6"/>
              </a:solidFill>
            </a:endParaRPr>
          </a:p>
          <a:p>
            <a:pPr marL="1252538" indent="-271463"/>
            <a:r>
              <a:rPr lang="en-US" sz="1600" dirty="0">
                <a:solidFill>
                  <a:schemeClr val="accent6"/>
                </a:solidFill>
                <a:latin typeface="Courier New" pitchFamily="49" charset="0"/>
                <a:cs typeface="Courier New" pitchFamily="49" charset="0"/>
              </a:rPr>
              <a:t>&gt; m[1,]</a:t>
            </a:r>
          </a:p>
          <a:p>
            <a:pPr marL="1252538" indent="-271463"/>
            <a:endParaRPr lang="en-US" sz="1600" dirty="0">
              <a:solidFill>
                <a:schemeClr val="accent6"/>
              </a:solidFill>
            </a:endParaRPr>
          </a:p>
          <a:p>
            <a:pPr marL="450850" indent="-269875">
              <a:buFont typeface="Arial" pitchFamily="34" charset="0"/>
              <a:buChar char="•"/>
            </a:pPr>
            <a:r>
              <a:rPr lang="en-US" sz="1600" b="1" u="sng" dirty="0">
                <a:solidFill>
                  <a:schemeClr val="accent6"/>
                </a:solidFill>
              </a:rPr>
              <a:t>factors</a:t>
            </a:r>
            <a:r>
              <a:rPr lang="en-US" sz="1600" dirty="0">
                <a:solidFill>
                  <a:schemeClr val="accent6"/>
                </a:solidFill>
              </a:rPr>
              <a:t> provide compact ways to handle categorical data. A factor is a vector object used to specify a discrete classification (grouping) of the components of other vectors of the same length.</a:t>
            </a:r>
          </a:p>
          <a:p>
            <a:pPr marL="450850" indent="-271463">
              <a:buFont typeface="Arial" pitchFamily="34" charset="0"/>
              <a:buChar char="•"/>
            </a:pPr>
            <a:endParaRPr lang="en-US" sz="1600" dirty="0">
              <a:solidFill>
                <a:schemeClr val="accent6"/>
              </a:solidFill>
            </a:endParaRPr>
          </a:p>
          <a:p>
            <a:pPr marL="450850" indent="-271463">
              <a:buFont typeface="Arial" pitchFamily="34" charset="0"/>
              <a:buChar char="•"/>
            </a:pPr>
            <a:r>
              <a:rPr lang="en-US" sz="1600" b="1" u="sng" dirty="0">
                <a:solidFill>
                  <a:schemeClr val="accent6"/>
                </a:solidFill>
              </a:rPr>
              <a:t>lists</a:t>
            </a:r>
            <a:r>
              <a:rPr lang="en-US" sz="1600" dirty="0">
                <a:solidFill>
                  <a:schemeClr val="accent6"/>
                </a:solidFill>
              </a:rPr>
              <a:t> are a general form of vector in which the various elements need not be of the same type, and are often themselves vectors or lists.</a:t>
            </a:r>
          </a:p>
          <a:p>
            <a:pPr marL="1252538" indent="-271463"/>
            <a:r>
              <a:rPr lang="en-US" sz="1600" dirty="0">
                <a:solidFill>
                  <a:schemeClr val="accent6"/>
                </a:solidFill>
                <a:latin typeface="Courier New" pitchFamily="49" charset="0"/>
                <a:cs typeface="Courier New" pitchFamily="49" charset="0"/>
              </a:rPr>
              <a:t>&gt; x &lt;- list()</a:t>
            </a:r>
          </a:p>
          <a:p>
            <a:pPr marL="1252538" indent="-271463"/>
            <a:r>
              <a:rPr lang="en-US" sz="1600" dirty="0">
                <a:solidFill>
                  <a:schemeClr val="accent6"/>
                </a:solidFill>
                <a:latin typeface="Courier New" pitchFamily="49" charset="0"/>
                <a:cs typeface="Courier New" pitchFamily="49" charset="0"/>
              </a:rPr>
              <a:t>&gt; x[[1]] &lt;- c(1,2,3)</a:t>
            </a:r>
          </a:p>
          <a:p>
            <a:pPr marL="450850" indent="-271463">
              <a:buFont typeface="Arial" pitchFamily="34" charset="0"/>
              <a:buChar char="•"/>
            </a:pPr>
            <a:endParaRPr lang="pt-PT" sz="1600" dirty="0">
              <a:solidFill>
                <a:schemeClr val="accent6"/>
              </a:solidFill>
            </a:endParaRPr>
          </a:p>
          <a:p>
            <a:pPr marL="450850" indent="-271463">
              <a:buFont typeface="Arial" pitchFamily="34" charset="0"/>
              <a:buChar char="•"/>
            </a:pPr>
            <a:r>
              <a:rPr lang="en-US" sz="1600" b="1" u="sng" dirty="0">
                <a:solidFill>
                  <a:schemeClr val="accent6"/>
                </a:solidFill>
              </a:rPr>
              <a:t>data frames</a:t>
            </a:r>
            <a:r>
              <a:rPr lang="en-US" sz="1600" b="1" dirty="0">
                <a:solidFill>
                  <a:schemeClr val="accent6"/>
                </a:solidFill>
              </a:rPr>
              <a:t> </a:t>
            </a:r>
            <a:r>
              <a:rPr lang="en-US" sz="1600" dirty="0">
                <a:solidFill>
                  <a:schemeClr val="accent6"/>
                </a:solidFill>
              </a:rPr>
              <a:t>are matrix-like structures, in which the columns can be of different types</a:t>
            </a:r>
          </a:p>
          <a:p>
            <a:pPr marL="1252538" indent="-271463"/>
            <a:r>
              <a:rPr lang="pt-PT" sz="1600" dirty="0">
                <a:solidFill>
                  <a:schemeClr val="accent6"/>
                </a:solidFill>
                <a:latin typeface="Courier New" pitchFamily="49" charset="0"/>
                <a:cs typeface="Courier New" pitchFamily="49" charset="0"/>
              </a:rPr>
              <a:t>&gt; </a:t>
            </a:r>
            <a:r>
              <a:rPr lang="pt-PT" sz="1600" dirty="0" err="1">
                <a:solidFill>
                  <a:schemeClr val="accent6"/>
                </a:solidFill>
                <a:latin typeface="Courier New" pitchFamily="49" charset="0"/>
                <a:cs typeface="Courier New" pitchFamily="49" charset="0"/>
              </a:rPr>
              <a:t>planets</a:t>
            </a:r>
            <a:r>
              <a:rPr lang="pt-PT" sz="1600" dirty="0">
                <a:solidFill>
                  <a:schemeClr val="accent6"/>
                </a:solidFill>
                <a:latin typeface="Courier New" pitchFamily="49" charset="0"/>
                <a:cs typeface="Courier New" pitchFamily="49" charset="0"/>
              </a:rPr>
              <a:t> &lt;- </a:t>
            </a:r>
            <a:r>
              <a:rPr lang="pt-PT" sz="1600" dirty="0" err="1">
                <a:solidFill>
                  <a:schemeClr val="accent6"/>
                </a:solidFill>
                <a:latin typeface="Courier New" pitchFamily="49" charset="0"/>
                <a:cs typeface="Courier New" pitchFamily="49" charset="0"/>
              </a:rPr>
              <a:t>data.frame</a:t>
            </a:r>
            <a:r>
              <a:rPr lang="pt-PT" sz="1600" dirty="0">
                <a:solidFill>
                  <a:schemeClr val="accent6"/>
                </a:solidFill>
                <a:latin typeface="Courier New" pitchFamily="49" charset="0"/>
                <a:cs typeface="Courier New" pitchFamily="49" charset="0"/>
              </a:rPr>
              <a:t>(</a:t>
            </a:r>
            <a:r>
              <a:rPr lang="pt-PT" sz="1600" dirty="0" err="1">
                <a:solidFill>
                  <a:schemeClr val="accent6"/>
                </a:solidFill>
                <a:latin typeface="Courier New" pitchFamily="49" charset="0"/>
                <a:cs typeface="Courier New" pitchFamily="49" charset="0"/>
              </a:rPr>
              <a:t>name</a:t>
            </a:r>
            <a:r>
              <a:rPr lang="pt-PT" sz="1600" dirty="0">
                <a:solidFill>
                  <a:schemeClr val="accent6"/>
                </a:solidFill>
                <a:latin typeface="Courier New" pitchFamily="49" charset="0"/>
                <a:cs typeface="Courier New" pitchFamily="49" charset="0"/>
              </a:rPr>
              <a:t>=</a:t>
            </a:r>
            <a:r>
              <a:rPr lang="pt-PT" sz="1600" dirty="0" err="1">
                <a:solidFill>
                  <a:schemeClr val="accent6"/>
                </a:solidFill>
                <a:latin typeface="Courier New" pitchFamily="49" charset="0"/>
                <a:cs typeface="Courier New" pitchFamily="49" charset="0"/>
              </a:rPr>
              <a:t>planets</a:t>
            </a:r>
            <a:r>
              <a:rPr lang="pt-PT" sz="1600" dirty="0">
                <a:solidFill>
                  <a:schemeClr val="accent6"/>
                </a:solidFill>
                <a:latin typeface="Courier New" pitchFamily="49" charset="0"/>
                <a:cs typeface="Courier New" pitchFamily="49" charset="0"/>
              </a:rPr>
              <a:t>, </a:t>
            </a:r>
            <a:r>
              <a:rPr lang="pt-PT" sz="1600" dirty="0" err="1">
                <a:solidFill>
                  <a:schemeClr val="accent6"/>
                </a:solidFill>
                <a:latin typeface="Courier New" pitchFamily="49" charset="0"/>
                <a:cs typeface="Courier New" pitchFamily="49" charset="0"/>
              </a:rPr>
              <a:t>temperature</a:t>
            </a:r>
            <a:r>
              <a:rPr lang="pt-PT" sz="1600" dirty="0">
                <a:solidFill>
                  <a:schemeClr val="accent6"/>
                </a:solidFill>
                <a:latin typeface="Courier New" pitchFamily="49" charset="0"/>
                <a:cs typeface="Courier New" pitchFamily="49" charset="0"/>
              </a:rPr>
              <a:t>=</a:t>
            </a:r>
            <a:r>
              <a:rPr lang="pt-PT" sz="1600" dirty="0" err="1">
                <a:solidFill>
                  <a:schemeClr val="accent6"/>
                </a:solidFill>
                <a:latin typeface="Courier New" pitchFamily="49" charset="0"/>
                <a:cs typeface="Courier New" pitchFamily="49" charset="0"/>
              </a:rPr>
              <a:t>tc</a:t>
            </a:r>
            <a:r>
              <a:rPr lang="pt-PT" sz="1600" dirty="0">
                <a:solidFill>
                  <a:schemeClr val="accent6"/>
                </a:solidFill>
                <a:latin typeface="Courier New" pitchFamily="49" charset="0"/>
                <a:cs typeface="Courier New" pitchFamily="49" charset="0"/>
              </a:rPr>
              <a:t>)</a:t>
            </a:r>
          </a:p>
          <a:p>
            <a:pPr marL="1252538" indent="-271463"/>
            <a:r>
              <a:rPr lang="pt-PT" sz="1600" dirty="0">
                <a:solidFill>
                  <a:schemeClr val="accent6"/>
                </a:solidFill>
                <a:latin typeface="Courier New" pitchFamily="49" charset="0"/>
                <a:cs typeface="Courier New" pitchFamily="49" charset="0"/>
              </a:rPr>
              <a:t>&gt; </a:t>
            </a:r>
            <a:r>
              <a:rPr lang="pt-PT" sz="1600" dirty="0" err="1">
                <a:solidFill>
                  <a:schemeClr val="accent6"/>
                </a:solidFill>
                <a:latin typeface="Courier New" pitchFamily="49" charset="0"/>
                <a:cs typeface="Courier New" pitchFamily="49" charset="0"/>
              </a:rPr>
              <a:t>planets</a:t>
            </a:r>
            <a:r>
              <a:rPr lang="pt-PT" sz="1600" dirty="0">
                <a:solidFill>
                  <a:schemeClr val="accent6"/>
                </a:solidFill>
                <a:latin typeface="Courier New" pitchFamily="49" charset="0"/>
                <a:cs typeface="Courier New" pitchFamily="49" charset="0"/>
              </a:rPr>
              <a:t>[,1] </a:t>
            </a:r>
            <a:r>
              <a:rPr lang="pt-PT" sz="1600" dirty="0" err="1">
                <a:solidFill>
                  <a:schemeClr val="accent6"/>
                </a:solidFill>
              </a:rPr>
              <a:t>or</a:t>
            </a:r>
            <a:r>
              <a:rPr lang="pt-PT" sz="1600" dirty="0">
                <a:solidFill>
                  <a:schemeClr val="accent6"/>
                </a:solidFill>
                <a:latin typeface="Courier New" pitchFamily="49" charset="0"/>
                <a:cs typeface="Courier New" pitchFamily="49" charset="0"/>
              </a:rPr>
              <a:t> </a:t>
            </a:r>
            <a:r>
              <a:rPr lang="pt-PT" sz="1600" dirty="0" err="1">
                <a:solidFill>
                  <a:schemeClr val="accent6"/>
                </a:solidFill>
                <a:latin typeface="Courier New" pitchFamily="49" charset="0"/>
                <a:cs typeface="Courier New" pitchFamily="49" charset="0"/>
              </a:rPr>
              <a:t>planets$name</a:t>
            </a:r>
            <a:r>
              <a:rPr lang="pt-PT" sz="1600" dirty="0">
                <a:solidFill>
                  <a:schemeClr val="accent6"/>
                </a:solidFill>
                <a:latin typeface="Courier New" pitchFamily="49" charset="0"/>
                <a:cs typeface="Courier New" pitchFamily="49" charset="0"/>
              </a:rPr>
              <a:t> </a:t>
            </a:r>
            <a:r>
              <a:rPr lang="pt-PT" sz="1600" dirty="0" err="1">
                <a:solidFill>
                  <a:schemeClr val="accent6"/>
                </a:solidFill>
              </a:rPr>
              <a:t>or</a:t>
            </a:r>
            <a:r>
              <a:rPr lang="pt-PT" sz="1600" dirty="0">
                <a:solidFill>
                  <a:schemeClr val="accent6"/>
                </a:solidFill>
                <a:latin typeface="Courier New" pitchFamily="49" charset="0"/>
                <a:cs typeface="Courier New" pitchFamily="49" charset="0"/>
              </a:rPr>
              <a:t> </a:t>
            </a:r>
            <a:r>
              <a:rPr lang="pt-PT" sz="1600" dirty="0" err="1">
                <a:solidFill>
                  <a:schemeClr val="accent6"/>
                </a:solidFill>
                <a:latin typeface="Courier New" pitchFamily="49" charset="0"/>
                <a:cs typeface="Courier New" pitchFamily="49" charset="0"/>
              </a:rPr>
              <a:t>planets</a:t>
            </a:r>
            <a:r>
              <a:rPr lang="pt-PT" sz="1600" dirty="0">
                <a:solidFill>
                  <a:schemeClr val="accent6"/>
                </a:solidFill>
                <a:latin typeface="Courier New" pitchFamily="49" charset="0"/>
                <a:cs typeface="Courier New" pitchFamily="49" charset="0"/>
              </a:rPr>
              <a:t>[,"</a:t>
            </a:r>
            <a:r>
              <a:rPr lang="pt-PT" sz="1600" dirty="0" err="1">
                <a:solidFill>
                  <a:schemeClr val="accent6"/>
                </a:solidFill>
                <a:latin typeface="Courier New" pitchFamily="49" charset="0"/>
                <a:cs typeface="Courier New" pitchFamily="49" charset="0"/>
              </a:rPr>
              <a:t>name</a:t>
            </a:r>
            <a:r>
              <a:rPr lang="pt-PT" sz="1600" dirty="0">
                <a:solidFill>
                  <a:schemeClr val="accent6"/>
                </a:solidFill>
                <a:latin typeface="Courier New" pitchFamily="49" charset="0"/>
                <a:cs typeface="Courier New" pitchFamily="49" charset="0"/>
              </a:rPr>
              <a:t>"]</a:t>
            </a:r>
            <a:endParaRPr lang="en-US" sz="1600" dirty="0">
              <a:solidFill>
                <a:schemeClr val="accent6"/>
              </a:solidFill>
              <a:latin typeface="Courier New" pitchFamily="49" charset="0"/>
              <a:cs typeface="Courier New" pitchFamily="49" charset="0"/>
            </a:endParaRPr>
          </a:p>
          <a:p>
            <a:pPr marL="450850" indent="-271463">
              <a:buFont typeface="Arial" pitchFamily="34" charset="0"/>
              <a:buChar char="•"/>
            </a:pPr>
            <a:endParaRPr lang="en-US" sz="1600" dirty="0">
              <a:solidFill>
                <a:schemeClr val="accent6"/>
              </a:solidFill>
            </a:endParaRPr>
          </a:p>
          <a:p>
            <a:pPr marL="450850" indent="-271463">
              <a:buFont typeface="Arial" pitchFamily="34" charset="0"/>
              <a:buChar char="•"/>
            </a:pPr>
            <a:r>
              <a:rPr lang="en-US" sz="1600" b="1" u="sng" dirty="0">
                <a:solidFill>
                  <a:schemeClr val="accent6"/>
                </a:solidFill>
              </a:rPr>
              <a:t>functions</a:t>
            </a:r>
            <a:r>
              <a:rPr lang="en-US" sz="1600" dirty="0">
                <a:solidFill>
                  <a:schemeClr val="accent6"/>
                </a:solidFill>
              </a:rPr>
              <a:t> are themselves objects in R which can be arguments to other functions</a:t>
            </a:r>
          </a:p>
          <a:p>
            <a:pPr marL="1252538" indent="-271463"/>
            <a:r>
              <a:rPr lang="en-US" sz="1600" dirty="0">
                <a:solidFill>
                  <a:schemeClr val="accent6"/>
                </a:solidFill>
                <a:latin typeface="Courier New" pitchFamily="49" charset="0"/>
                <a:cs typeface="Courier New" pitchFamily="49" charset="0"/>
              </a:rPr>
              <a:t>&gt; d &lt;- function(x, y) {</a:t>
            </a:r>
            <a:r>
              <a:rPr lang="en-US" sz="1600" dirty="0" err="1">
                <a:solidFill>
                  <a:schemeClr val="accent6"/>
                </a:solidFill>
                <a:latin typeface="Courier New" pitchFamily="49" charset="0"/>
                <a:cs typeface="Courier New" pitchFamily="49" charset="0"/>
              </a:rPr>
              <a:t>sqrt</a:t>
            </a:r>
            <a:r>
              <a:rPr lang="en-US" sz="1600" dirty="0">
                <a:solidFill>
                  <a:schemeClr val="accent6"/>
                </a:solidFill>
                <a:latin typeface="Courier New" pitchFamily="49" charset="0"/>
                <a:cs typeface="Courier New" pitchFamily="49" charset="0"/>
              </a:rPr>
              <a:t>(sum((x-y)^2))}</a:t>
            </a:r>
          </a:p>
          <a:p>
            <a:pPr marL="1252538" indent="-271463"/>
            <a:r>
              <a:rPr lang="en-US" sz="1600" dirty="0">
                <a:solidFill>
                  <a:schemeClr val="accent6"/>
                </a:solidFill>
                <a:latin typeface="Courier New" pitchFamily="49" charset="0"/>
                <a:cs typeface="Courier New" pitchFamily="49" charset="0"/>
              </a:rPr>
              <a:t>&gt; d(0,c(1,1,1))</a:t>
            </a:r>
          </a:p>
          <a:p>
            <a:pPr marL="1252538" indent="-271463"/>
            <a:r>
              <a:rPr lang="en-US" sz="1600" dirty="0">
                <a:solidFill>
                  <a:schemeClr val="accent6"/>
                </a:solidFill>
                <a:latin typeface="Courier New" pitchFamily="49" charset="0"/>
                <a:cs typeface="Courier New" pitchFamily="49" charset="0"/>
              </a:rPr>
              <a:t>&gt; [1] 1.732051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6" end="1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7" end="1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18" end="1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2616101"/>
          </a:xfrm>
          <a:prstGeom prst="rect">
            <a:avLst/>
          </a:prstGeom>
          <a:noFill/>
          <a:ln w="9525">
            <a:noFill/>
            <a:miter lim="800000"/>
            <a:headEnd/>
            <a:tailEnd/>
          </a:ln>
        </p:spPr>
        <p:txBody>
          <a:bodyPr>
            <a:spAutoFit/>
          </a:bodyPr>
          <a:lstStyle/>
          <a:p>
            <a:r>
              <a:rPr lang="pt-PT" dirty="0" err="1">
                <a:solidFill>
                  <a:schemeClr val="accent6"/>
                </a:solidFill>
              </a:rPr>
              <a:t>Control</a:t>
            </a:r>
            <a:r>
              <a:rPr lang="pt-PT" dirty="0">
                <a:solidFill>
                  <a:schemeClr val="accent6"/>
                </a:solidFill>
              </a:rPr>
              <a:t> </a:t>
            </a:r>
            <a:r>
              <a:rPr lang="pt-PT" dirty="0" err="1">
                <a:solidFill>
                  <a:schemeClr val="accent6"/>
                </a:solidFill>
              </a:rPr>
              <a:t>statements</a:t>
            </a:r>
            <a:r>
              <a:rPr lang="pt-PT" dirty="0">
                <a:solidFill>
                  <a:schemeClr val="accent6"/>
                </a:solidFill>
              </a:rPr>
              <a:t>: IF</a:t>
            </a:r>
          </a:p>
          <a:p>
            <a:endParaRPr lang="pt-PT" dirty="0">
              <a:solidFill>
                <a:schemeClr val="accent6"/>
              </a:solidFill>
            </a:endParaRPr>
          </a:p>
          <a:p>
            <a:pPr marL="1252538" indent="-271463"/>
            <a:r>
              <a:rPr lang="en-US" sz="1600" b="1" dirty="0">
                <a:solidFill>
                  <a:schemeClr val="accent6"/>
                </a:solidFill>
                <a:latin typeface="Courier New" pitchFamily="49" charset="0"/>
                <a:cs typeface="Courier New" pitchFamily="49" charset="0"/>
              </a:rPr>
              <a:t>if (expr_1) expr_2 else expr_3</a:t>
            </a:r>
          </a:p>
          <a:p>
            <a:pPr marL="1252538" indent="-271463"/>
            <a:endParaRPr lang="pt-PT" sz="1600" dirty="0">
              <a:solidFill>
                <a:schemeClr val="accent6"/>
              </a:solidFill>
              <a:latin typeface="Courier New" pitchFamily="49" charset="0"/>
              <a:cs typeface="Courier New" pitchFamily="49" charset="0"/>
            </a:endParaRPr>
          </a:p>
          <a:p>
            <a:pPr marL="1252538" indent="-271463"/>
            <a:r>
              <a:rPr lang="pt-PT" sz="1600" dirty="0">
                <a:solidFill>
                  <a:schemeClr val="accent6"/>
                </a:solidFill>
                <a:latin typeface="Courier New" pitchFamily="49" charset="0"/>
                <a:cs typeface="Courier New" pitchFamily="49" charset="0"/>
              </a:rPr>
              <a:t>	</a:t>
            </a:r>
            <a:r>
              <a:rPr lang="pt-PT" sz="1600" dirty="0" err="1">
                <a:solidFill>
                  <a:schemeClr val="accent6"/>
                </a:solidFill>
                <a:latin typeface="Courier New" pitchFamily="49" charset="0"/>
                <a:cs typeface="Courier New" pitchFamily="49" charset="0"/>
              </a:rPr>
              <a:t>if</a:t>
            </a:r>
            <a:r>
              <a:rPr lang="pt-PT" sz="1600" dirty="0">
                <a:solidFill>
                  <a:schemeClr val="accent6"/>
                </a:solidFill>
                <a:latin typeface="Courier New" pitchFamily="49" charset="0"/>
                <a:cs typeface="Courier New" pitchFamily="49" charset="0"/>
              </a:rPr>
              <a:t>(i == 1) {</a:t>
            </a:r>
          </a:p>
          <a:p>
            <a:pPr marL="1252538" indent="-271463"/>
            <a:r>
              <a:rPr lang="pt-PT" sz="1600" dirty="0">
                <a:solidFill>
                  <a:schemeClr val="accent6"/>
                </a:solidFill>
                <a:latin typeface="Courier New" pitchFamily="49" charset="0"/>
                <a:cs typeface="Courier New" pitchFamily="49" charset="0"/>
              </a:rPr>
              <a:t>		</a:t>
            </a:r>
            <a:r>
              <a:rPr lang="pt-PT" sz="1600" dirty="0" err="1">
                <a:solidFill>
                  <a:schemeClr val="accent6"/>
                </a:solidFill>
                <a:latin typeface="Courier New" pitchFamily="49" charset="0"/>
                <a:cs typeface="Courier New" pitchFamily="49" charset="0"/>
              </a:rPr>
              <a:t>sed.ks</a:t>
            </a:r>
            <a:r>
              <a:rPr lang="pt-PT" sz="1600" dirty="0">
                <a:solidFill>
                  <a:schemeClr val="accent6"/>
                </a:solidFill>
                <a:latin typeface="Courier New" pitchFamily="49" charset="0"/>
                <a:cs typeface="Courier New" pitchFamily="49" charset="0"/>
              </a:rPr>
              <a:t>[i] &lt;- NA</a:t>
            </a:r>
          </a:p>
          <a:p>
            <a:pPr marL="1252538" indent="-271463"/>
            <a:r>
              <a:rPr lang="pt-PT" sz="1600" dirty="0">
                <a:solidFill>
                  <a:schemeClr val="accent6"/>
                </a:solidFill>
                <a:latin typeface="Courier New" pitchFamily="49" charset="0"/>
                <a:cs typeface="Courier New" pitchFamily="49" charset="0"/>
              </a:rPr>
              <a:t>	} </a:t>
            </a:r>
            <a:r>
              <a:rPr lang="pt-PT" sz="1600" dirty="0" err="1">
                <a:solidFill>
                  <a:schemeClr val="accent6"/>
                </a:solidFill>
                <a:latin typeface="Courier New" pitchFamily="49" charset="0"/>
                <a:cs typeface="Courier New" pitchFamily="49" charset="0"/>
              </a:rPr>
              <a:t>else</a:t>
            </a:r>
            <a:r>
              <a:rPr lang="pt-PT" sz="1600" dirty="0">
                <a:solidFill>
                  <a:schemeClr val="accent6"/>
                </a:solidFill>
                <a:latin typeface="Courier New" pitchFamily="49" charset="0"/>
                <a:cs typeface="Courier New" pitchFamily="49" charset="0"/>
              </a:rPr>
              <a:t> {</a:t>
            </a:r>
          </a:p>
          <a:p>
            <a:pPr marL="1252538" indent="-271463"/>
            <a:r>
              <a:rPr lang="pt-PT" sz="1600" dirty="0">
                <a:solidFill>
                  <a:schemeClr val="accent6"/>
                </a:solidFill>
                <a:latin typeface="Courier New" pitchFamily="49" charset="0"/>
                <a:cs typeface="Courier New" pitchFamily="49" charset="0"/>
              </a:rPr>
              <a:t>		</a:t>
            </a:r>
            <a:r>
              <a:rPr lang="pt-PT" sz="1600" dirty="0" err="1">
                <a:solidFill>
                  <a:schemeClr val="accent6"/>
                </a:solidFill>
                <a:latin typeface="Courier New" pitchFamily="49" charset="0"/>
                <a:cs typeface="Courier New" pitchFamily="49" charset="0"/>
              </a:rPr>
              <a:t>sed.ks</a:t>
            </a:r>
            <a:r>
              <a:rPr lang="pt-PT" sz="1600" dirty="0">
                <a:solidFill>
                  <a:schemeClr val="accent6"/>
                </a:solidFill>
                <a:latin typeface="Courier New" pitchFamily="49" charset="0"/>
                <a:cs typeface="Courier New" pitchFamily="49" charset="0"/>
              </a:rPr>
              <a:t>[i] &lt;- </a:t>
            </a:r>
            <a:r>
              <a:rPr lang="pt-PT" sz="1600" dirty="0" err="1">
                <a:solidFill>
                  <a:schemeClr val="accent6"/>
                </a:solidFill>
                <a:latin typeface="Courier New" pitchFamily="49" charset="0"/>
                <a:cs typeface="Courier New" pitchFamily="49" charset="0"/>
              </a:rPr>
              <a:t>f.stop.sedks</a:t>
            </a:r>
            <a:r>
              <a:rPr lang="pt-PT" sz="1600" dirty="0">
                <a:solidFill>
                  <a:schemeClr val="accent6"/>
                </a:solidFill>
                <a:latin typeface="Courier New" pitchFamily="49" charset="0"/>
                <a:cs typeface="Courier New" pitchFamily="49" charset="0"/>
              </a:rPr>
              <a:t>(</a:t>
            </a:r>
            <a:r>
              <a:rPr lang="pt-PT" sz="1600" dirty="0" err="1">
                <a:solidFill>
                  <a:schemeClr val="accent6"/>
                </a:solidFill>
                <a:latin typeface="Courier New" pitchFamily="49" charset="0"/>
                <a:cs typeface="Courier New" pitchFamily="49" charset="0"/>
              </a:rPr>
              <a:t>prev.post</a:t>
            </a:r>
            <a:r>
              <a:rPr lang="pt-PT" sz="1600" dirty="0">
                <a:solidFill>
                  <a:schemeClr val="accent6"/>
                </a:solidFill>
                <a:latin typeface="Courier New" pitchFamily="49" charset="0"/>
                <a:cs typeface="Courier New" pitchFamily="49" charset="0"/>
              </a:rPr>
              <a:t>, </a:t>
            </a:r>
            <a:r>
              <a:rPr lang="pt-PT" sz="1600" dirty="0" err="1">
                <a:solidFill>
                  <a:schemeClr val="accent6"/>
                </a:solidFill>
                <a:latin typeface="Courier New" pitchFamily="49" charset="0"/>
                <a:cs typeface="Courier New" pitchFamily="49" charset="0"/>
              </a:rPr>
              <a:t>post</a:t>
            </a:r>
            <a:r>
              <a:rPr lang="pt-PT" sz="1600" dirty="0">
                <a:solidFill>
                  <a:schemeClr val="accent6"/>
                </a:solidFill>
                <a:latin typeface="Courier New" pitchFamily="49" charset="0"/>
                <a:cs typeface="Courier New" pitchFamily="49" charset="0"/>
              </a:rPr>
              <a:t>, </a:t>
            </a:r>
            <a:r>
              <a:rPr lang="pt-PT" sz="1600" dirty="0" err="1">
                <a:solidFill>
                  <a:schemeClr val="accent6"/>
                </a:solidFill>
                <a:latin typeface="Courier New" pitchFamily="49" charset="0"/>
                <a:cs typeface="Courier New" pitchFamily="49" charset="0"/>
              </a:rPr>
              <a:t>udIdx</a:t>
            </a:r>
            <a:r>
              <a:rPr lang="pt-PT" sz="1600" dirty="0">
                <a:solidFill>
                  <a:schemeClr val="accent6"/>
                </a:solidFill>
                <a:latin typeface="Courier New" pitchFamily="49" charset="0"/>
                <a:cs typeface="Courier New" pitchFamily="49" charset="0"/>
              </a:rPr>
              <a:t>)</a:t>
            </a:r>
          </a:p>
          <a:p>
            <a:pPr marL="1252538" indent="-271463"/>
            <a:r>
              <a:rPr lang="pt-PT" sz="1600" dirty="0">
                <a:solidFill>
                  <a:schemeClr val="accent6"/>
                </a:solidFill>
                <a:latin typeface="Courier New" pitchFamily="49" charset="0"/>
                <a:cs typeface="Courier New" pitchFamily="49" charset="0"/>
              </a:rPr>
              <a:t>	}</a:t>
            </a:r>
          </a:p>
          <a:p>
            <a:pPr marL="1252538" indent="-271463"/>
            <a:endParaRPr lang="en-US" sz="1600" dirty="0">
              <a:solidFill>
                <a:schemeClr val="accent6"/>
              </a:solidFill>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2369880"/>
          </a:xfrm>
          <a:prstGeom prst="rect">
            <a:avLst/>
          </a:prstGeom>
          <a:noFill/>
          <a:ln w="9525">
            <a:noFill/>
            <a:miter lim="800000"/>
            <a:headEnd/>
            <a:tailEnd/>
          </a:ln>
        </p:spPr>
        <p:txBody>
          <a:bodyPr>
            <a:spAutoFit/>
          </a:bodyPr>
          <a:lstStyle/>
          <a:p>
            <a:r>
              <a:rPr lang="pt-PT" dirty="0" err="1">
                <a:solidFill>
                  <a:schemeClr val="accent6"/>
                </a:solidFill>
              </a:rPr>
              <a:t>Control</a:t>
            </a:r>
            <a:r>
              <a:rPr lang="pt-PT" dirty="0">
                <a:solidFill>
                  <a:schemeClr val="accent6"/>
                </a:solidFill>
              </a:rPr>
              <a:t> </a:t>
            </a:r>
            <a:r>
              <a:rPr lang="pt-PT" dirty="0" err="1">
                <a:solidFill>
                  <a:schemeClr val="accent6"/>
                </a:solidFill>
              </a:rPr>
              <a:t>statements</a:t>
            </a:r>
            <a:r>
              <a:rPr lang="pt-PT" dirty="0">
                <a:solidFill>
                  <a:schemeClr val="accent6"/>
                </a:solidFill>
              </a:rPr>
              <a:t>: FOR</a:t>
            </a:r>
          </a:p>
          <a:p>
            <a:endParaRPr lang="pt-PT" dirty="0">
              <a:solidFill>
                <a:schemeClr val="accent6"/>
              </a:solidFill>
            </a:endParaRPr>
          </a:p>
          <a:p>
            <a:pPr marL="1252538" indent="-271463"/>
            <a:r>
              <a:rPr lang="en-US" sz="1600" b="1" dirty="0">
                <a:solidFill>
                  <a:schemeClr val="accent6"/>
                </a:solidFill>
                <a:latin typeface="Courier New" pitchFamily="49" charset="0"/>
                <a:cs typeface="Courier New" pitchFamily="49" charset="0"/>
              </a:rPr>
              <a:t>for (name in expr_1) expr_2</a:t>
            </a:r>
          </a:p>
          <a:p>
            <a:pPr marL="1252538" indent="-271463"/>
            <a:r>
              <a:rPr lang="en-US" sz="1600" dirty="0">
                <a:solidFill>
                  <a:schemeClr val="accent6"/>
                </a:solidFill>
                <a:latin typeface="Courier New" pitchFamily="49" charset="0"/>
                <a:cs typeface="Courier New" pitchFamily="49" charset="0"/>
              </a:rPr>
              <a:t>	</a:t>
            </a:r>
          </a:p>
          <a:p>
            <a:pPr marL="1252538" indent="-271463"/>
            <a:r>
              <a:rPr lang="en-US" sz="1600" dirty="0">
                <a:solidFill>
                  <a:schemeClr val="accent6"/>
                </a:solidFill>
                <a:latin typeface="Courier New" pitchFamily="49" charset="0"/>
                <a:cs typeface="Courier New" pitchFamily="49" charset="0"/>
              </a:rPr>
              <a:t>	for(j in 1:nrow(ad)) {</a:t>
            </a:r>
          </a:p>
          <a:p>
            <a:pPr marL="1252538" indent="-271463"/>
            <a:r>
              <a:rPr lang="en-US" sz="1600" dirty="0">
                <a:solidFill>
                  <a:schemeClr val="accent6"/>
                </a:solidFill>
                <a:latin typeface="Courier New" pitchFamily="49" charset="0"/>
                <a:cs typeface="Courier New" pitchFamily="49" charset="0"/>
              </a:rPr>
              <a:t>		for(k in 1:length(</a:t>
            </a:r>
            <a:r>
              <a:rPr lang="en-US" sz="1600" dirty="0" err="1">
                <a:solidFill>
                  <a:schemeClr val="accent6"/>
                </a:solidFill>
                <a:latin typeface="Courier New" pitchFamily="49" charset="0"/>
                <a:cs typeface="Courier New" pitchFamily="49" charset="0"/>
              </a:rPr>
              <a:t>itkc</a:t>
            </a:r>
            <a:r>
              <a:rPr lang="en-US" sz="1600" dirty="0">
                <a:solidFill>
                  <a:schemeClr val="accent6"/>
                </a:solidFill>
                <a:latin typeface="Courier New" pitchFamily="49" charset="0"/>
                <a:cs typeface="Courier New" pitchFamily="49" charset="0"/>
              </a:rPr>
              <a:t>)) {</a:t>
            </a:r>
          </a:p>
          <a:p>
            <a:pPr marL="1252538" indent="-271463"/>
            <a:r>
              <a:rPr lang="en-US" sz="1600" dirty="0">
                <a:solidFill>
                  <a:schemeClr val="accent6"/>
                </a:solidFill>
                <a:latin typeface="Courier New" pitchFamily="49" charset="0"/>
                <a:cs typeface="Courier New" pitchFamily="49" charset="0"/>
              </a:rPr>
              <a:t>			</a:t>
            </a:r>
            <a:r>
              <a:rPr lang="en-US" sz="1600" dirty="0" err="1">
                <a:solidFill>
                  <a:schemeClr val="accent6"/>
                </a:solidFill>
                <a:latin typeface="Courier New" pitchFamily="49" charset="0"/>
                <a:cs typeface="Courier New" pitchFamily="49" charset="0"/>
              </a:rPr>
              <a:t>ipd</a:t>
            </a:r>
            <a:r>
              <a:rPr lang="en-US" sz="1600" dirty="0">
                <a:solidFill>
                  <a:schemeClr val="accent6"/>
                </a:solidFill>
                <a:latin typeface="Courier New" pitchFamily="49" charset="0"/>
                <a:cs typeface="Courier New" pitchFamily="49" charset="0"/>
              </a:rPr>
              <a:t>[</a:t>
            </a:r>
            <a:r>
              <a:rPr lang="en-US" sz="1600" dirty="0" err="1">
                <a:solidFill>
                  <a:schemeClr val="accent6"/>
                </a:solidFill>
                <a:latin typeface="Courier New" pitchFamily="49" charset="0"/>
                <a:cs typeface="Courier New" pitchFamily="49" charset="0"/>
              </a:rPr>
              <a:t>j,k</a:t>
            </a:r>
            <a:r>
              <a:rPr lang="en-US" sz="1600" dirty="0">
                <a:solidFill>
                  <a:schemeClr val="accent6"/>
                </a:solidFill>
                <a:latin typeface="Courier New" pitchFamily="49" charset="0"/>
                <a:cs typeface="Courier New" pitchFamily="49" charset="0"/>
              </a:rPr>
              <a:t>] &lt;- post[</a:t>
            </a:r>
            <a:r>
              <a:rPr lang="en-US" sz="1600" dirty="0" err="1">
                <a:solidFill>
                  <a:schemeClr val="accent6"/>
                </a:solidFill>
                <a:latin typeface="Courier New" pitchFamily="49" charset="0"/>
                <a:cs typeface="Courier New" pitchFamily="49" charset="0"/>
              </a:rPr>
              <a:t>uIdx</a:t>
            </a:r>
            <a:r>
              <a:rPr lang="en-US" sz="1600" dirty="0">
                <a:solidFill>
                  <a:schemeClr val="accent6"/>
                </a:solidFill>
                <a:latin typeface="Courier New" pitchFamily="49" charset="0"/>
                <a:cs typeface="Courier New" pitchFamily="49" charset="0"/>
              </a:rPr>
              <a:t>[j], </a:t>
            </a:r>
            <a:r>
              <a:rPr lang="en-US" sz="1600" dirty="0" err="1">
                <a:solidFill>
                  <a:schemeClr val="accent6"/>
                </a:solidFill>
                <a:latin typeface="Courier New" pitchFamily="49" charset="0"/>
                <a:cs typeface="Courier New" pitchFamily="49" charset="0"/>
              </a:rPr>
              <a:t>itkc</a:t>
            </a:r>
            <a:r>
              <a:rPr lang="en-US" sz="1600" dirty="0">
                <a:solidFill>
                  <a:schemeClr val="accent6"/>
                </a:solidFill>
                <a:latin typeface="Courier New" pitchFamily="49" charset="0"/>
                <a:cs typeface="Courier New" pitchFamily="49" charset="0"/>
              </a:rPr>
              <a:t>[k]] / ad[</a:t>
            </a:r>
            <a:r>
              <a:rPr lang="en-US" sz="1600" dirty="0" err="1">
                <a:solidFill>
                  <a:schemeClr val="accent6"/>
                </a:solidFill>
                <a:latin typeface="Courier New" pitchFamily="49" charset="0"/>
                <a:cs typeface="Courier New" pitchFamily="49" charset="0"/>
              </a:rPr>
              <a:t>j,k</a:t>
            </a:r>
            <a:r>
              <a:rPr lang="en-US" sz="1600" dirty="0">
                <a:solidFill>
                  <a:schemeClr val="accent6"/>
                </a:solidFill>
                <a:latin typeface="Courier New" pitchFamily="49" charset="0"/>
                <a:cs typeface="Courier New" pitchFamily="49" charset="0"/>
              </a:rPr>
              <a:t>]</a:t>
            </a:r>
          </a:p>
          <a:p>
            <a:pPr marL="1252538" indent="-271463"/>
            <a:r>
              <a:rPr lang="en-US" sz="1600" dirty="0">
                <a:solidFill>
                  <a:schemeClr val="accent6"/>
                </a:solidFill>
                <a:latin typeface="Courier New" pitchFamily="49" charset="0"/>
                <a:cs typeface="Courier New" pitchFamily="49" charset="0"/>
              </a:rPr>
              <a:t>		}</a:t>
            </a:r>
          </a:p>
          <a:p>
            <a:pPr marL="1252538" indent="-271463"/>
            <a:r>
              <a:rPr lang="en-US" sz="1600" dirty="0">
                <a:solidFill>
                  <a:schemeClr val="accent6"/>
                </a:solidFill>
                <a:latin typeface="Courier New" pitchFamily="49" charset="0"/>
                <a:cs typeface="Courier New" pitchFamily="49"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2616101"/>
          </a:xfrm>
          <a:prstGeom prst="rect">
            <a:avLst/>
          </a:prstGeom>
          <a:noFill/>
          <a:ln w="9525">
            <a:noFill/>
            <a:miter lim="800000"/>
            <a:headEnd/>
            <a:tailEnd/>
          </a:ln>
        </p:spPr>
        <p:txBody>
          <a:bodyPr>
            <a:spAutoFit/>
          </a:bodyPr>
          <a:lstStyle/>
          <a:p>
            <a:r>
              <a:rPr lang="pt-PT" dirty="0" err="1">
                <a:solidFill>
                  <a:schemeClr val="accent6"/>
                </a:solidFill>
              </a:rPr>
              <a:t>Control</a:t>
            </a:r>
            <a:r>
              <a:rPr lang="pt-PT" dirty="0">
                <a:solidFill>
                  <a:schemeClr val="accent6"/>
                </a:solidFill>
              </a:rPr>
              <a:t> </a:t>
            </a:r>
            <a:r>
              <a:rPr lang="pt-PT" dirty="0" err="1">
                <a:solidFill>
                  <a:schemeClr val="accent6"/>
                </a:solidFill>
              </a:rPr>
              <a:t>statements</a:t>
            </a:r>
            <a:r>
              <a:rPr lang="pt-PT" dirty="0">
                <a:solidFill>
                  <a:schemeClr val="accent6"/>
                </a:solidFill>
              </a:rPr>
              <a:t>: WHILE</a:t>
            </a:r>
          </a:p>
          <a:p>
            <a:endParaRPr lang="pt-PT" dirty="0">
              <a:solidFill>
                <a:schemeClr val="accent6"/>
              </a:solidFill>
            </a:endParaRPr>
          </a:p>
          <a:p>
            <a:pPr marL="1252538" indent="-271463"/>
            <a:r>
              <a:rPr lang="pt-PT" sz="1600" b="1" dirty="0" err="1">
                <a:solidFill>
                  <a:schemeClr val="accent6"/>
                </a:solidFill>
                <a:latin typeface="Courier New" pitchFamily="49" charset="0"/>
                <a:cs typeface="Courier New" pitchFamily="49" charset="0"/>
              </a:rPr>
              <a:t>while</a:t>
            </a:r>
            <a:r>
              <a:rPr lang="pt-PT" sz="1600" b="1" dirty="0">
                <a:solidFill>
                  <a:schemeClr val="accent6"/>
                </a:solidFill>
                <a:latin typeface="Courier New" pitchFamily="49" charset="0"/>
                <a:cs typeface="Courier New" pitchFamily="49" charset="0"/>
              </a:rPr>
              <a:t> (</a:t>
            </a:r>
            <a:r>
              <a:rPr lang="pt-PT" sz="1600" b="1" dirty="0" err="1">
                <a:solidFill>
                  <a:schemeClr val="accent6"/>
                </a:solidFill>
                <a:latin typeface="Courier New" pitchFamily="49" charset="0"/>
                <a:cs typeface="Courier New" pitchFamily="49" charset="0"/>
              </a:rPr>
              <a:t>condition</a:t>
            </a:r>
            <a:r>
              <a:rPr lang="pt-PT" sz="1600" b="1" dirty="0">
                <a:solidFill>
                  <a:schemeClr val="accent6"/>
                </a:solidFill>
                <a:latin typeface="Courier New" pitchFamily="49" charset="0"/>
                <a:cs typeface="Courier New" pitchFamily="49" charset="0"/>
              </a:rPr>
              <a:t>) </a:t>
            </a:r>
            <a:r>
              <a:rPr lang="pt-PT" sz="1600" b="1" dirty="0" err="1">
                <a:solidFill>
                  <a:schemeClr val="accent6"/>
                </a:solidFill>
                <a:latin typeface="Courier New" pitchFamily="49" charset="0"/>
                <a:cs typeface="Courier New" pitchFamily="49" charset="0"/>
              </a:rPr>
              <a:t>expr</a:t>
            </a:r>
            <a:endParaRPr lang="en-US" sz="1600" b="1" dirty="0">
              <a:solidFill>
                <a:schemeClr val="accent6"/>
              </a:solidFill>
              <a:latin typeface="Courier New" pitchFamily="49" charset="0"/>
              <a:cs typeface="Courier New" pitchFamily="49" charset="0"/>
            </a:endParaRPr>
          </a:p>
          <a:p>
            <a:pPr marL="1252538" indent="-271463"/>
            <a:endParaRPr lang="en-US" sz="1600" dirty="0">
              <a:solidFill>
                <a:schemeClr val="accent6"/>
              </a:solidFill>
              <a:latin typeface="Courier New" pitchFamily="49" charset="0"/>
              <a:cs typeface="Courier New" pitchFamily="49" charset="0"/>
            </a:endParaRPr>
          </a:p>
          <a:p>
            <a:pPr marL="1252538" indent="-271463"/>
            <a:r>
              <a:rPr lang="en-US" sz="1600" dirty="0">
                <a:solidFill>
                  <a:schemeClr val="accent6"/>
                </a:solidFill>
                <a:latin typeface="Courier New" pitchFamily="49" charset="0"/>
                <a:cs typeface="Courier New" pitchFamily="49" charset="0"/>
              </a:rPr>
              <a:t>	while (length(</a:t>
            </a:r>
            <a:r>
              <a:rPr lang="en-US" sz="1600" dirty="0" err="1">
                <a:solidFill>
                  <a:schemeClr val="accent6"/>
                </a:solidFill>
                <a:latin typeface="Courier New" pitchFamily="49" charset="0"/>
                <a:cs typeface="Courier New" pitchFamily="49" charset="0"/>
              </a:rPr>
              <a:t>unlabeledIdx</a:t>
            </a:r>
            <a:r>
              <a:rPr lang="en-US" sz="1600" dirty="0">
                <a:solidFill>
                  <a:schemeClr val="accent6"/>
                </a:solidFill>
                <a:latin typeface="Courier New" pitchFamily="49" charset="0"/>
                <a:cs typeface="Courier New" pitchFamily="49" charset="0"/>
              </a:rPr>
              <a:t>) != 0) {</a:t>
            </a:r>
          </a:p>
          <a:p>
            <a:pPr marL="1252538" indent="-271463"/>
            <a:r>
              <a:rPr lang="en-US" sz="1600" dirty="0">
                <a:solidFill>
                  <a:schemeClr val="accent6"/>
                </a:solidFill>
                <a:latin typeface="Courier New" pitchFamily="49" charset="0"/>
                <a:cs typeface="Courier New" pitchFamily="49" charset="0"/>
              </a:rPr>
              <a:t>		</a:t>
            </a:r>
            <a:r>
              <a:rPr lang="en-US" sz="1600" dirty="0" err="1">
                <a:solidFill>
                  <a:schemeClr val="accent6"/>
                </a:solidFill>
                <a:latin typeface="Courier New" pitchFamily="49" charset="0"/>
                <a:cs typeface="Courier New" pitchFamily="49" charset="0"/>
              </a:rPr>
              <a:t>labeledIdx</a:t>
            </a:r>
            <a:r>
              <a:rPr lang="en-US" sz="1600" dirty="0">
                <a:solidFill>
                  <a:schemeClr val="accent6"/>
                </a:solidFill>
                <a:latin typeface="Courier New" pitchFamily="49" charset="0"/>
                <a:cs typeface="Courier New" pitchFamily="49" charset="0"/>
              </a:rPr>
              <a:t> &lt;- union(</a:t>
            </a:r>
            <a:r>
              <a:rPr lang="en-US" sz="1600" dirty="0" err="1">
                <a:solidFill>
                  <a:schemeClr val="accent6"/>
                </a:solidFill>
                <a:latin typeface="Courier New" pitchFamily="49" charset="0"/>
                <a:cs typeface="Courier New" pitchFamily="49" charset="0"/>
              </a:rPr>
              <a:t>labeledIdx</a:t>
            </a:r>
            <a:r>
              <a:rPr lang="en-US" sz="1600" dirty="0">
                <a:solidFill>
                  <a:schemeClr val="accent6"/>
                </a:solidFill>
                <a:latin typeface="Courier New" pitchFamily="49" charset="0"/>
                <a:cs typeface="Courier New" pitchFamily="49" charset="0"/>
              </a:rPr>
              <a:t>, query[i])</a:t>
            </a:r>
          </a:p>
          <a:p>
            <a:pPr marL="1252538" indent="-271463"/>
            <a:r>
              <a:rPr lang="en-US" sz="1600" dirty="0">
                <a:solidFill>
                  <a:schemeClr val="accent6"/>
                </a:solidFill>
                <a:latin typeface="Courier New" pitchFamily="49" charset="0"/>
                <a:cs typeface="Courier New" pitchFamily="49" charset="0"/>
              </a:rPr>
              <a:t>		</a:t>
            </a:r>
            <a:r>
              <a:rPr lang="en-US" sz="1600" dirty="0" err="1">
                <a:solidFill>
                  <a:schemeClr val="accent6"/>
                </a:solidFill>
                <a:latin typeface="Courier New" pitchFamily="49" charset="0"/>
                <a:cs typeface="Courier New" pitchFamily="49" charset="0"/>
              </a:rPr>
              <a:t>unlabeledIdx</a:t>
            </a:r>
            <a:r>
              <a:rPr lang="en-US" sz="1600" dirty="0">
                <a:solidFill>
                  <a:schemeClr val="accent6"/>
                </a:solidFill>
                <a:latin typeface="Courier New" pitchFamily="49" charset="0"/>
                <a:cs typeface="Courier New" pitchFamily="49" charset="0"/>
              </a:rPr>
              <a:t> &lt;- </a:t>
            </a:r>
            <a:r>
              <a:rPr lang="en-US" sz="1600" dirty="0" err="1">
                <a:solidFill>
                  <a:schemeClr val="accent6"/>
                </a:solidFill>
                <a:latin typeface="Courier New" pitchFamily="49" charset="0"/>
                <a:cs typeface="Courier New" pitchFamily="49" charset="0"/>
              </a:rPr>
              <a:t>setdiff</a:t>
            </a:r>
            <a:r>
              <a:rPr lang="en-US" sz="1600" dirty="0">
                <a:solidFill>
                  <a:schemeClr val="accent6"/>
                </a:solidFill>
                <a:latin typeface="Courier New" pitchFamily="49" charset="0"/>
                <a:cs typeface="Courier New" pitchFamily="49" charset="0"/>
              </a:rPr>
              <a:t>(</a:t>
            </a:r>
            <a:r>
              <a:rPr lang="en-US" sz="1600" dirty="0" err="1">
                <a:solidFill>
                  <a:schemeClr val="accent6"/>
                </a:solidFill>
                <a:latin typeface="Courier New" pitchFamily="49" charset="0"/>
                <a:cs typeface="Courier New" pitchFamily="49" charset="0"/>
              </a:rPr>
              <a:t>trainingIndex</a:t>
            </a:r>
            <a:r>
              <a:rPr lang="en-US" sz="1600" dirty="0">
                <a:solidFill>
                  <a:schemeClr val="accent6"/>
                </a:solidFill>
                <a:latin typeface="Courier New" pitchFamily="49" charset="0"/>
                <a:cs typeface="Courier New" pitchFamily="49" charset="0"/>
              </a:rPr>
              <a:t>, </a:t>
            </a:r>
            <a:r>
              <a:rPr lang="en-US" sz="1600" dirty="0" err="1">
                <a:solidFill>
                  <a:schemeClr val="accent6"/>
                </a:solidFill>
                <a:latin typeface="Courier New" pitchFamily="49" charset="0"/>
                <a:cs typeface="Courier New" pitchFamily="49" charset="0"/>
              </a:rPr>
              <a:t>labeledIdx</a:t>
            </a:r>
            <a:r>
              <a:rPr lang="en-US" sz="1600" dirty="0">
                <a:solidFill>
                  <a:schemeClr val="accent6"/>
                </a:solidFill>
                <a:latin typeface="Courier New" pitchFamily="49" charset="0"/>
                <a:cs typeface="Courier New" pitchFamily="49" charset="0"/>
              </a:rPr>
              <a:t>)</a:t>
            </a:r>
          </a:p>
          <a:p>
            <a:pPr marL="1252538" indent="-271463"/>
            <a:r>
              <a:rPr lang="en-US" sz="1600" dirty="0">
                <a:solidFill>
                  <a:schemeClr val="accent6"/>
                </a:solidFill>
                <a:latin typeface="Courier New" pitchFamily="49" charset="0"/>
                <a:cs typeface="Courier New" pitchFamily="49" charset="0"/>
              </a:rPr>
              <a:t>		i &lt;- i + 1</a:t>
            </a:r>
          </a:p>
          <a:p>
            <a:pPr marL="1252538" indent="-271463"/>
            <a:r>
              <a:rPr lang="en-US" sz="1600" dirty="0">
                <a:solidFill>
                  <a:schemeClr val="accent6"/>
                </a:solidFill>
                <a:latin typeface="Courier New" pitchFamily="49" charset="0"/>
                <a:cs typeface="Courier New" pitchFamily="49" charset="0"/>
              </a:rPr>
              <a:t>	}</a:t>
            </a:r>
          </a:p>
          <a:p>
            <a:pPr marL="1252538" indent="-271463"/>
            <a:endParaRPr lang="en-US" sz="1600" dirty="0">
              <a:solidFill>
                <a:schemeClr val="accent6"/>
              </a:solidFill>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1520" y="692696"/>
            <a:ext cx="8642350" cy="5570756"/>
          </a:xfrm>
          <a:prstGeom prst="rect">
            <a:avLst/>
          </a:prstGeom>
          <a:noFill/>
          <a:ln w="9525">
            <a:noFill/>
            <a:miter lim="800000"/>
            <a:headEnd/>
            <a:tailEnd/>
          </a:ln>
        </p:spPr>
        <p:txBody>
          <a:bodyPr>
            <a:spAutoFit/>
          </a:bodyPr>
          <a:lstStyle/>
          <a:p>
            <a:r>
              <a:rPr lang="pt-PT" b="1" u="sng" dirty="0">
                <a:solidFill>
                  <a:schemeClr val="accent6"/>
                </a:solidFill>
              </a:rPr>
              <a:t>R PACKAGES</a:t>
            </a:r>
          </a:p>
          <a:p>
            <a:endParaRPr lang="pt-PT" dirty="0">
              <a:solidFill>
                <a:schemeClr val="accent6"/>
              </a:solidFill>
            </a:endParaRPr>
          </a:p>
          <a:p>
            <a:r>
              <a:rPr lang="en-US" dirty="0">
                <a:solidFill>
                  <a:schemeClr val="accent6"/>
                </a:solidFill>
              </a:rPr>
              <a:t>All R functions and datasets are stored in packages. Only when a package is loaded are its </a:t>
            </a:r>
            <a:r>
              <a:rPr lang="pt-PT" dirty="0" err="1">
                <a:solidFill>
                  <a:schemeClr val="accent6"/>
                </a:solidFill>
              </a:rPr>
              <a:t>contents</a:t>
            </a:r>
            <a:r>
              <a:rPr lang="pt-PT" dirty="0">
                <a:solidFill>
                  <a:schemeClr val="accent6"/>
                </a:solidFill>
              </a:rPr>
              <a:t> </a:t>
            </a:r>
            <a:r>
              <a:rPr lang="pt-PT" dirty="0" err="1">
                <a:solidFill>
                  <a:schemeClr val="accent6"/>
                </a:solidFill>
              </a:rPr>
              <a:t>available</a:t>
            </a:r>
            <a:r>
              <a:rPr lang="pt-PT" dirty="0">
                <a:solidFill>
                  <a:schemeClr val="accent6"/>
                </a:solidFill>
              </a:rPr>
              <a:t>.</a:t>
            </a:r>
          </a:p>
          <a:p>
            <a:endParaRPr lang="pt-PT" sz="1600" dirty="0">
              <a:solidFill>
                <a:schemeClr val="accent6"/>
              </a:solidFill>
              <a:latin typeface="Courier New" pitchFamily="49" charset="0"/>
              <a:cs typeface="Courier New" pitchFamily="49" charset="0"/>
            </a:endParaRPr>
          </a:p>
          <a:p>
            <a:r>
              <a:rPr lang="en-US" dirty="0">
                <a:solidFill>
                  <a:schemeClr val="accent6"/>
                </a:solidFill>
              </a:rPr>
              <a:t>To see which packages are installed at your site, issue the command:</a:t>
            </a:r>
          </a:p>
          <a:p>
            <a:pPr marL="361950"/>
            <a:r>
              <a:rPr lang="pt-PT" dirty="0">
                <a:solidFill>
                  <a:schemeClr val="accent6"/>
                </a:solidFill>
                <a:latin typeface="Courier New" pitchFamily="49" charset="0"/>
                <a:cs typeface="Courier New" pitchFamily="49" charset="0"/>
              </a:rPr>
              <a:t>&gt; </a:t>
            </a:r>
            <a:r>
              <a:rPr lang="pt-PT" dirty="0" err="1">
                <a:solidFill>
                  <a:schemeClr val="accent6"/>
                </a:solidFill>
                <a:latin typeface="Courier New" pitchFamily="49" charset="0"/>
                <a:cs typeface="Courier New" pitchFamily="49" charset="0"/>
              </a:rPr>
              <a:t>library</a:t>
            </a:r>
            <a:r>
              <a:rPr lang="pt-PT" dirty="0">
                <a:solidFill>
                  <a:schemeClr val="accent6"/>
                </a:solidFill>
                <a:latin typeface="Courier New" pitchFamily="49" charset="0"/>
                <a:cs typeface="Courier New" pitchFamily="49" charset="0"/>
              </a:rPr>
              <a:t>()</a:t>
            </a:r>
          </a:p>
          <a:p>
            <a:endParaRPr lang="pt-PT" dirty="0">
              <a:solidFill>
                <a:schemeClr val="accent6"/>
              </a:solidFill>
            </a:endParaRPr>
          </a:p>
          <a:p>
            <a:r>
              <a:rPr lang="en-US" dirty="0">
                <a:solidFill>
                  <a:schemeClr val="accent6"/>
                </a:solidFill>
              </a:rPr>
              <a:t>To install packages:</a:t>
            </a:r>
          </a:p>
          <a:p>
            <a:pPr marL="361950"/>
            <a:r>
              <a:rPr lang="pt-PT" dirty="0">
                <a:solidFill>
                  <a:schemeClr val="accent6"/>
                </a:solidFill>
                <a:latin typeface="Courier New" pitchFamily="49" charset="0"/>
                <a:cs typeface="Courier New" pitchFamily="49" charset="0"/>
              </a:rPr>
              <a:t>&gt; </a:t>
            </a:r>
            <a:r>
              <a:rPr lang="pt-PT" dirty="0" err="1">
                <a:solidFill>
                  <a:schemeClr val="accent6"/>
                </a:solidFill>
                <a:latin typeface="Courier New" pitchFamily="49" charset="0"/>
                <a:cs typeface="Courier New" pitchFamily="49" charset="0"/>
              </a:rPr>
              <a:t>install.packages</a:t>
            </a:r>
            <a:r>
              <a:rPr lang="pt-PT" dirty="0">
                <a:solidFill>
                  <a:schemeClr val="accent6"/>
                </a:solidFill>
                <a:latin typeface="Courier New" pitchFamily="49" charset="0"/>
                <a:cs typeface="Courier New" pitchFamily="49" charset="0"/>
              </a:rPr>
              <a:t>()</a:t>
            </a:r>
            <a:endParaRPr lang="en-US" dirty="0">
              <a:solidFill>
                <a:schemeClr val="accent6"/>
              </a:solidFill>
              <a:latin typeface="Courier New" pitchFamily="49" charset="0"/>
              <a:cs typeface="Courier New" pitchFamily="49" charset="0"/>
            </a:endParaRPr>
          </a:p>
          <a:p>
            <a:endParaRPr lang="en-US" dirty="0">
              <a:solidFill>
                <a:schemeClr val="accent6"/>
              </a:solidFill>
            </a:endParaRPr>
          </a:p>
          <a:p>
            <a:r>
              <a:rPr lang="en-US" dirty="0">
                <a:solidFill>
                  <a:schemeClr val="accent6"/>
                </a:solidFill>
              </a:rPr>
              <a:t>To load a particular package (e.g., the text mining package), use:</a:t>
            </a:r>
          </a:p>
          <a:p>
            <a:pPr marL="361950"/>
            <a:r>
              <a:rPr lang="pt-PT" dirty="0">
                <a:solidFill>
                  <a:schemeClr val="accent6"/>
                </a:solidFill>
                <a:latin typeface="Courier New" pitchFamily="49" charset="0"/>
                <a:cs typeface="Courier New" pitchFamily="49" charset="0"/>
              </a:rPr>
              <a:t>&gt; </a:t>
            </a:r>
            <a:r>
              <a:rPr lang="pt-PT" dirty="0" err="1">
                <a:solidFill>
                  <a:schemeClr val="accent6"/>
                </a:solidFill>
                <a:latin typeface="Courier New" pitchFamily="49" charset="0"/>
                <a:cs typeface="Courier New" pitchFamily="49" charset="0"/>
              </a:rPr>
              <a:t>library</a:t>
            </a:r>
            <a:r>
              <a:rPr lang="pt-PT" dirty="0">
                <a:solidFill>
                  <a:schemeClr val="accent6"/>
                </a:solidFill>
                <a:latin typeface="Courier New" pitchFamily="49" charset="0"/>
                <a:cs typeface="Courier New" pitchFamily="49" charset="0"/>
              </a:rPr>
              <a:t>(</a:t>
            </a:r>
            <a:r>
              <a:rPr lang="pt-PT" dirty="0" err="1">
                <a:solidFill>
                  <a:schemeClr val="accent6"/>
                </a:solidFill>
                <a:latin typeface="Courier New" pitchFamily="49" charset="0"/>
                <a:cs typeface="Courier New" pitchFamily="49" charset="0"/>
              </a:rPr>
              <a:t>tm</a:t>
            </a:r>
            <a:r>
              <a:rPr lang="pt-PT" dirty="0">
                <a:solidFill>
                  <a:schemeClr val="accent6"/>
                </a:solidFill>
                <a:latin typeface="Courier New" pitchFamily="49" charset="0"/>
                <a:cs typeface="Courier New" pitchFamily="49" charset="0"/>
              </a:rPr>
              <a:t>) </a:t>
            </a:r>
          </a:p>
          <a:p>
            <a:r>
              <a:rPr lang="pt-PT" dirty="0" err="1">
                <a:solidFill>
                  <a:schemeClr val="accent6"/>
                </a:solidFill>
              </a:rPr>
              <a:t>or</a:t>
            </a:r>
            <a:endParaRPr lang="pt-PT" dirty="0">
              <a:solidFill>
                <a:schemeClr val="accent6"/>
              </a:solidFill>
            </a:endParaRPr>
          </a:p>
          <a:p>
            <a:pPr marL="361950"/>
            <a:r>
              <a:rPr lang="pt-PT" dirty="0">
                <a:solidFill>
                  <a:schemeClr val="accent6"/>
                </a:solidFill>
                <a:latin typeface="Courier New" pitchFamily="49" charset="0"/>
                <a:cs typeface="Courier New" pitchFamily="49" charset="0"/>
              </a:rPr>
              <a:t>&gt; </a:t>
            </a:r>
            <a:r>
              <a:rPr lang="pt-PT" dirty="0" err="1">
                <a:solidFill>
                  <a:schemeClr val="accent6"/>
                </a:solidFill>
                <a:latin typeface="Courier New" pitchFamily="49" charset="0"/>
                <a:cs typeface="Courier New" pitchFamily="49" charset="0"/>
              </a:rPr>
              <a:t>require</a:t>
            </a:r>
            <a:r>
              <a:rPr lang="pt-PT" dirty="0">
                <a:solidFill>
                  <a:schemeClr val="accent6"/>
                </a:solidFill>
                <a:latin typeface="Courier New" pitchFamily="49" charset="0"/>
                <a:cs typeface="Courier New" pitchFamily="49" charset="0"/>
              </a:rPr>
              <a:t>(</a:t>
            </a:r>
            <a:r>
              <a:rPr lang="pt-PT" dirty="0" err="1">
                <a:solidFill>
                  <a:schemeClr val="accent6"/>
                </a:solidFill>
                <a:latin typeface="Courier New" pitchFamily="49" charset="0"/>
                <a:cs typeface="Courier New" pitchFamily="49" charset="0"/>
              </a:rPr>
              <a:t>tm</a:t>
            </a:r>
            <a:r>
              <a:rPr lang="pt-PT" dirty="0">
                <a:solidFill>
                  <a:schemeClr val="accent6"/>
                </a:solidFill>
                <a:latin typeface="Courier New" pitchFamily="49" charset="0"/>
                <a:cs typeface="Courier New" pitchFamily="49" charset="0"/>
              </a:rPr>
              <a:t>)</a:t>
            </a:r>
          </a:p>
          <a:p>
            <a:endParaRPr lang="pt-PT" dirty="0">
              <a:solidFill>
                <a:schemeClr val="accent6"/>
              </a:solidFill>
            </a:endParaRPr>
          </a:p>
          <a:p>
            <a:r>
              <a:rPr lang="en-US" dirty="0">
                <a:solidFill>
                  <a:schemeClr val="accent6"/>
                </a:solidFill>
              </a:rPr>
              <a:t>To see which packages are currently loaded, use:</a:t>
            </a:r>
          </a:p>
          <a:p>
            <a:pPr marL="361950"/>
            <a:r>
              <a:rPr lang="pt-PT" dirty="0">
                <a:solidFill>
                  <a:schemeClr val="accent6"/>
                </a:solidFill>
                <a:latin typeface="Courier New" pitchFamily="49" charset="0"/>
                <a:cs typeface="Courier New" pitchFamily="49" charset="0"/>
              </a:rPr>
              <a:t>&gt; </a:t>
            </a:r>
            <a:r>
              <a:rPr lang="pt-PT" dirty="0" err="1">
                <a:solidFill>
                  <a:schemeClr val="accent6"/>
                </a:solidFill>
                <a:latin typeface="Courier New" pitchFamily="49" charset="0"/>
                <a:cs typeface="Courier New" pitchFamily="49" charset="0"/>
              </a:rPr>
              <a:t>search</a:t>
            </a:r>
            <a:r>
              <a:rPr lang="pt-PT" dirty="0">
                <a:solidFill>
                  <a:schemeClr val="accent6"/>
                </a:solidFill>
                <a:latin typeface="Courier New" pitchFamily="49" charset="0"/>
                <a:cs typeface="Courier New" pitchFamily="49" charset="0"/>
              </a:rPr>
              <a:t>()</a:t>
            </a:r>
          </a:p>
          <a:p>
            <a:endParaRPr lang="pt-PT" dirty="0">
              <a:solidFill>
                <a:schemeClr val="accent6"/>
              </a:solidFill>
            </a:endParaRPr>
          </a:p>
          <a:p>
            <a:endParaRPr lang="pt-PT" dirty="0">
              <a:solidFill>
                <a:schemeClr val="accent6"/>
              </a:solidFill>
            </a:endParaRPr>
          </a:p>
        </p:txBody>
      </p:sp>
      <p:sp>
        <p:nvSpPr>
          <p:cNvPr id="6" name="Rectangle 5">
            <a:hlinkClick r:id="rId2" action="ppaction://hlinkfile"/>
          </p:cNvPr>
          <p:cNvSpPr/>
          <p:nvPr/>
        </p:nvSpPr>
        <p:spPr>
          <a:xfrm>
            <a:off x="5796136" y="5445224"/>
            <a:ext cx="1728192"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solidFill>
                  <a:srgbClr val="002060"/>
                </a:solidFill>
              </a:rPr>
              <a:t>R-</a:t>
            </a:r>
            <a:r>
              <a:rPr lang="pt-PT" dirty="0" err="1">
                <a:solidFill>
                  <a:srgbClr val="002060"/>
                </a:solidFill>
              </a:rPr>
              <a:t>intro</a:t>
            </a:r>
            <a:endParaRPr lang="pt-PT"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0825" y="692150"/>
            <a:ext cx="8642350" cy="4247317"/>
          </a:xfrm>
          <a:prstGeom prst="rect">
            <a:avLst/>
          </a:prstGeom>
          <a:noFill/>
          <a:ln w="9525">
            <a:noFill/>
            <a:miter lim="800000"/>
            <a:headEnd/>
            <a:tailEnd/>
          </a:ln>
        </p:spPr>
        <p:txBody>
          <a:bodyPr>
            <a:spAutoFit/>
          </a:bodyPr>
          <a:lstStyle/>
          <a:p>
            <a:r>
              <a:rPr lang="pt-PT" b="1" u="sng" dirty="0">
                <a:solidFill>
                  <a:schemeClr val="accent6"/>
                </a:solidFill>
              </a:rPr>
              <a:t>TEXT PROCESSING: </a:t>
            </a:r>
            <a:r>
              <a:rPr lang="pt-PT" b="1" u="sng" dirty="0" err="1">
                <a:solidFill>
                  <a:schemeClr val="accent6"/>
                </a:solidFill>
              </a:rPr>
              <a:t>tm</a:t>
            </a:r>
            <a:r>
              <a:rPr lang="pt-PT" b="1" u="sng" dirty="0">
                <a:solidFill>
                  <a:schemeClr val="accent6"/>
                </a:solidFill>
              </a:rPr>
              <a:t> PACKAGE</a:t>
            </a:r>
          </a:p>
          <a:p>
            <a:endParaRPr lang="pt-PT" dirty="0">
              <a:solidFill>
                <a:schemeClr val="accent6"/>
              </a:solidFill>
            </a:endParaRPr>
          </a:p>
          <a:p>
            <a:r>
              <a:rPr lang="en-US" dirty="0">
                <a:solidFill>
                  <a:srgbClr val="002060"/>
                </a:solidFill>
              </a:rPr>
              <a:t>A modular, extensible, thoroughly designed </a:t>
            </a:r>
            <a:r>
              <a:rPr lang="pt-PT" dirty="0" err="1">
                <a:solidFill>
                  <a:srgbClr val="002060"/>
                </a:solidFill>
              </a:rPr>
              <a:t>text</a:t>
            </a:r>
            <a:r>
              <a:rPr lang="pt-PT" dirty="0">
                <a:solidFill>
                  <a:srgbClr val="002060"/>
                </a:solidFill>
              </a:rPr>
              <a:t> </a:t>
            </a:r>
            <a:r>
              <a:rPr lang="pt-PT" dirty="0" err="1">
                <a:solidFill>
                  <a:srgbClr val="002060"/>
                </a:solidFill>
              </a:rPr>
              <a:t>mining</a:t>
            </a:r>
            <a:r>
              <a:rPr lang="pt-PT" dirty="0">
                <a:solidFill>
                  <a:srgbClr val="002060"/>
                </a:solidFill>
              </a:rPr>
              <a:t> </a:t>
            </a:r>
            <a:r>
              <a:rPr lang="pt-PT" dirty="0" err="1">
                <a:solidFill>
                  <a:srgbClr val="002060"/>
                </a:solidFill>
              </a:rPr>
              <a:t>infrastructure</a:t>
            </a:r>
            <a:r>
              <a:rPr lang="pt-PT" dirty="0">
                <a:solidFill>
                  <a:srgbClr val="002060"/>
                </a:solidFill>
              </a:rPr>
              <a:t> for R. </a:t>
            </a:r>
          </a:p>
          <a:p>
            <a:endParaRPr lang="pt-PT" dirty="0">
              <a:solidFill>
                <a:srgbClr val="002060"/>
              </a:solidFill>
            </a:endParaRPr>
          </a:p>
          <a:p>
            <a:pPr marL="361950"/>
            <a:r>
              <a:rPr lang="pt-PT" b="1" dirty="0" err="1">
                <a:solidFill>
                  <a:srgbClr val="002060"/>
                </a:solidFill>
              </a:rPr>
              <a:t>Pre-processing</a:t>
            </a:r>
            <a:r>
              <a:rPr lang="pt-PT" dirty="0">
                <a:solidFill>
                  <a:srgbClr val="002060"/>
                </a:solidFill>
              </a:rPr>
              <a:t>: data </a:t>
            </a:r>
            <a:r>
              <a:rPr lang="pt-PT" dirty="0" err="1">
                <a:solidFill>
                  <a:srgbClr val="002060"/>
                </a:solidFill>
              </a:rPr>
              <a:t>import</a:t>
            </a:r>
            <a:r>
              <a:rPr lang="pt-PT" dirty="0">
                <a:solidFill>
                  <a:srgbClr val="002060"/>
                </a:solidFill>
              </a:rPr>
              <a:t>, </a:t>
            </a:r>
            <a:r>
              <a:rPr lang="pt-PT" dirty="0" err="1">
                <a:solidFill>
                  <a:srgbClr val="002060"/>
                </a:solidFill>
              </a:rPr>
              <a:t>stemming</a:t>
            </a:r>
            <a:r>
              <a:rPr lang="pt-PT" dirty="0">
                <a:solidFill>
                  <a:srgbClr val="002060"/>
                </a:solidFill>
              </a:rPr>
              <a:t>, </a:t>
            </a:r>
            <a:r>
              <a:rPr lang="pt-PT" dirty="0" err="1">
                <a:solidFill>
                  <a:srgbClr val="002060"/>
                </a:solidFill>
              </a:rPr>
              <a:t>stopword</a:t>
            </a:r>
            <a:r>
              <a:rPr lang="pt-PT" dirty="0">
                <a:solidFill>
                  <a:srgbClr val="002060"/>
                </a:solidFill>
              </a:rPr>
              <a:t> </a:t>
            </a:r>
            <a:r>
              <a:rPr lang="pt-PT" dirty="0" err="1">
                <a:solidFill>
                  <a:srgbClr val="002060"/>
                </a:solidFill>
              </a:rPr>
              <a:t>removal</a:t>
            </a:r>
            <a:r>
              <a:rPr lang="pt-PT" dirty="0">
                <a:solidFill>
                  <a:srgbClr val="002060"/>
                </a:solidFill>
              </a:rPr>
              <a:t>, </a:t>
            </a:r>
            <a:r>
              <a:rPr lang="en-US" dirty="0">
                <a:solidFill>
                  <a:srgbClr val="002060"/>
                </a:solidFill>
              </a:rPr>
              <a:t>part of speech tagging, synonyms, . . .</a:t>
            </a:r>
          </a:p>
          <a:p>
            <a:pPr marL="361950"/>
            <a:endParaRPr lang="en-US" dirty="0">
              <a:solidFill>
                <a:srgbClr val="002060"/>
              </a:solidFill>
            </a:endParaRPr>
          </a:p>
          <a:p>
            <a:pPr marL="361950"/>
            <a:r>
              <a:rPr lang="en-US" dirty="0">
                <a:solidFill>
                  <a:srgbClr val="002060"/>
                </a:solidFill>
              </a:rPr>
              <a:t>Basis </a:t>
            </a:r>
            <a:r>
              <a:rPr lang="en-US" b="1" dirty="0">
                <a:solidFill>
                  <a:srgbClr val="002060"/>
                </a:solidFill>
              </a:rPr>
              <a:t>analysis techniques</a:t>
            </a:r>
            <a:r>
              <a:rPr lang="en-US" dirty="0">
                <a:solidFill>
                  <a:srgbClr val="002060"/>
                </a:solidFill>
              </a:rPr>
              <a:t>: count based evaluation, text </a:t>
            </a:r>
            <a:r>
              <a:rPr lang="pt-PT" dirty="0" err="1">
                <a:solidFill>
                  <a:srgbClr val="002060"/>
                </a:solidFill>
              </a:rPr>
              <a:t>clustering</a:t>
            </a:r>
            <a:r>
              <a:rPr lang="pt-PT" dirty="0">
                <a:solidFill>
                  <a:srgbClr val="002060"/>
                </a:solidFill>
              </a:rPr>
              <a:t>, </a:t>
            </a:r>
            <a:r>
              <a:rPr lang="pt-PT" dirty="0" err="1">
                <a:solidFill>
                  <a:srgbClr val="002060"/>
                </a:solidFill>
              </a:rPr>
              <a:t>text</a:t>
            </a:r>
            <a:r>
              <a:rPr lang="pt-PT" dirty="0">
                <a:solidFill>
                  <a:srgbClr val="002060"/>
                </a:solidFill>
              </a:rPr>
              <a:t> </a:t>
            </a:r>
            <a:r>
              <a:rPr lang="pt-PT" dirty="0" err="1">
                <a:solidFill>
                  <a:srgbClr val="002060"/>
                </a:solidFill>
              </a:rPr>
              <a:t>classification</a:t>
            </a:r>
            <a:r>
              <a:rPr lang="pt-PT" dirty="0">
                <a:solidFill>
                  <a:srgbClr val="002060"/>
                </a:solidFill>
              </a:rPr>
              <a:t>, . . .</a:t>
            </a:r>
          </a:p>
          <a:p>
            <a:pPr marL="361950"/>
            <a:endParaRPr lang="en-US" dirty="0">
              <a:solidFill>
                <a:srgbClr val="002060"/>
              </a:solidFill>
            </a:endParaRPr>
          </a:p>
          <a:p>
            <a:pPr marL="361950"/>
            <a:r>
              <a:rPr lang="en-US" dirty="0">
                <a:solidFill>
                  <a:srgbClr val="002060"/>
                </a:solidFill>
              </a:rPr>
              <a:t>Access to more </a:t>
            </a:r>
            <a:r>
              <a:rPr lang="en-US" b="1" dirty="0">
                <a:solidFill>
                  <a:srgbClr val="002060"/>
                </a:solidFill>
              </a:rPr>
              <a:t>advanced functionality</a:t>
            </a:r>
            <a:r>
              <a:rPr lang="en-US" dirty="0">
                <a:solidFill>
                  <a:srgbClr val="002060"/>
                </a:solidFill>
              </a:rPr>
              <a:t>: full integration with </a:t>
            </a:r>
            <a:r>
              <a:rPr lang="pt-PT" dirty="0" err="1">
                <a:solidFill>
                  <a:srgbClr val="002060"/>
                </a:solidFill>
              </a:rPr>
              <a:t>string</a:t>
            </a:r>
            <a:r>
              <a:rPr lang="pt-PT" dirty="0">
                <a:solidFill>
                  <a:srgbClr val="002060"/>
                </a:solidFill>
              </a:rPr>
              <a:t> </a:t>
            </a:r>
            <a:r>
              <a:rPr lang="pt-PT" dirty="0" err="1">
                <a:solidFill>
                  <a:srgbClr val="002060"/>
                </a:solidFill>
              </a:rPr>
              <a:t>kernels</a:t>
            </a:r>
            <a:r>
              <a:rPr lang="pt-PT" dirty="0">
                <a:solidFill>
                  <a:srgbClr val="002060"/>
                </a:solidFill>
              </a:rPr>
              <a:t>, </a:t>
            </a:r>
            <a:r>
              <a:rPr lang="pt-PT" dirty="0" err="1">
                <a:solidFill>
                  <a:srgbClr val="002060"/>
                </a:solidFill>
              </a:rPr>
              <a:t>latent</a:t>
            </a:r>
            <a:r>
              <a:rPr lang="pt-PT" dirty="0">
                <a:solidFill>
                  <a:srgbClr val="002060"/>
                </a:solidFill>
              </a:rPr>
              <a:t> </a:t>
            </a:r>
            <a:r>
              <a:rPr lang="pt-PT" dirty="0" err="1">
                <a:solidFill>
                  <a:srgbClr val="002060"/>
                </a:solidFill>
              </a:rPr>
              <a:t>semantic</a:t>
            </a:r>
            <a:r>
              <a:rPr lang="pt-PT" dirty="0">
                <a:solidFill>
                  <a:srgbClr val="002060"/>
                </a:solidFill>
              </a:rPr>
              <a:t> </a:t>
            </a:r>
            <a:r>
              <a:rPr lang="pt-PT" dirty="0" err="1">
                <a:solidFill>
                  <a:srgbClr val="002060"/>
                </a:solidFill>
              </a:rPr>
              <a:t>analysis</a:t>
            </a:r>
            <a:r>
              <a:rPr lang="pt-PT" dirty="0">
                <a:solidFill>
                  <a:srgbClr val="002060"/>
                </a:solidFill>
              </a:rPr>
              <a:t>, . . .</a:t>
            </a:r>
          </a:p>
          <a:p>
            <a:pPr marL="361950"/>
            <a:endParaRPr lang="en-US" dirty="0">
              <a:solidFill>
                <a:srgbClr val="002060"/>
              </a:solidFill>
            </a:endParaRPr>
          </a:p>
          <a:p>
            <a:pPr marL="361950"/>
            <a:r>
              <a:rPr lang="en-US" b="1" dirty="0">
                <a:solidFill>
                  <a:srgbClr val="002060"/>
                </a:solidFill>
              </a:rPr>
              <a:t>Export </a:t>
            </a:r>
            <a:r>
              <a:rPr lang="en-US" dirty="0">
                <a:solidFill>
                  <a:srgbClr val="002060"/>
                </a:solidFill>
              </a:rPr>
              <a:t>of term-document matrices: basically all methods in </a:t>
            </a:r>
            <a:r>
              <a:rPr lang="pt-PT" dirty="0">
                <a:solidFill>
                  <a:srgbClr val="002060"/>
                </a:solidFill>
              </a:rPr>
              <a:t>R </a:t>
            </a:r>
            <a:r>
              <a:rPr lang="pt-PT" dirty="0" err="1">
                <a:solidFill>
                  <a:srgbClr val="002060"/>
                </a:solidFill>
              </a:rPr>
              <a:t>working</a:t>
            </a:r>
            <a:r>
              <a:rPr lang="pt-PT" dirty="0">
                <a:solidFill>
                  <a:srgbClr val="002060"/>
                </a:solidFill>
              </a:rPr>
              <a:t> </a:t>
            </a:r>
            <a:r>
              <a:rPr lang="pt-PT" dirty="0" err="1">
                <a:solidFill>
                  <a:srgbClr val="002060"/>
                </a:solidFill>
              </a:rPr>
              <a:t>on</a:t>
            </a:r>
            <a:r>
              <a:rPr lang="pt-PT" dirty="0">
                <a:solidFill>
                  <a:srgbClr val="002060"/>
                </a:solidFill>
              </a:rPr>
              <a:t> </a:t>
            </a:r>
            <a:r>
              <a:rPr lang="pt-PT" dirty="0" err="1">
                <a:solidFill>
                  <a:srgbClr val="002060"/>
                </a:solidFill>
              </a:rPr>
              <a:t>matrices</a:t>
            </a:r>
            <a:endParaRPr lang="pt-PT" dirty="0">
              <a:solidFill>
                <a:srgbClr val="00206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a:t>
            </a:r>
            <a:r>
              <a:rPr lang="pt-PT" sz="2800" b="1" dirty="0" err="1">
                <a:solidFill>
                  <a:srgbClr val="C00000"/>
                </a:solidFill>
              </a:rPr>
              <a:t>R</a:t>
            </a:r>
            <a:r>
              <a:rPr lang="pt-PT" sz="2800" dirty="0" err="1">
                <a:solidFill>
                  <a:schemeClr val="bg1">
                    <a:lumMod val="50000"/>
                  </a:schemeClr>
                </a:solidFill>
              </a:rPr>
              <a:t>|Case</a:t>
            </a:r>
            <a:r>
              <a:rPr lang="pt-PT" sz="2800" dirty="0">
                <a:solidFill>
                  <a:schemeClr val="bg1">
                    <a:lumMod val="50000"/>
                  </a:schemeClr>
                </a:solidFill>
              </a:rPr>
              <a:t> </a:t>
            </a:r>
            <a:r>
              <a:rPr lang="pt-PT" sz="2800" dirty="0" err="1">
                <a:solidFill>
                  <a:schemeClr val="bg1">
                    <a:lumMod val="50000"/>
                  </a:schemeClr>
                </a:solidFill>
              </a:rPr>
              <a:t>study|Handson</a:t>
            </a:r>
            <a:endParaRPr lang="pt-PT" sz="2800" dirty="0">
              <a:solidFill>
                <a:schemeClr val="bg1">
                  <a:lumMod val="50000"/>
                </a:schemeClr>
              </a:solidFill>
            </a:endParaRPr>
          </a:p>
        </p:txBody>
      </p:sp>
      <p:sp>
        <p:nvSpPr>
          <p:cNvPr id="5" name="Text Box 3"/>
          <p:cNvSpPr txBox="1">
            <a:spLocks noChangeArrowheads="1"/>
          </p:cNvSpPr>
          <p:nvPr/>
        </p:nvSpPr>
        <p:spPr bwMode="auto">
          <a:xfrm>
            <a:off x="251520" y="692696"/>
            <a:ext cx="8642350" cy="4524315"/>
          </a:xfrm>
          <a:prstGeom prst="rect">
            <a:avLst/>
          </a:prstGeom>
          <a:noFill/>
          <a:ln w="9525">
            <a:noFill/>
            <a:miter lim="800000"/>
            <a:headEnd/>
            <a:tailEnd/>
          </a:ln>
        </p:spPr>
        <p:txBody>
          <a:bodyPr>
            <a:spAutoFit/>
          </a:bodyPr>
          <a:lstStyle/>
          <a:p>
            <a:r>
              <a:rPr lang="pt-PT" b="1" u="sng" dirty="0">
                <a:solidFill>
                  <a:schemeClr val="accent6"/>
                </a:solidFill>
              </a:rPr>
              <a:t>TEXT PROCESSING: </a:t>
            </a:r>
            <a:r>
              <a:rPr lang="pt-PT" b="1" u="sng" dirty="0" err="1">
                <a:solidFill>
                  <a:schemeClr val="accent6"/>
                </a:solidFill>
              </a:rPr>
              <a:t>tm</a:t>
            </a:r>
            <a:r>
              <a:rPr lang="pt-PT" b="1" u="sng" dirty="0">
                <a:solidFill>
                  <a:schemeClr val="accent6"/>
                </a:solidFill>
              </a:rPr>
              <a:t> PACKAGE</a:t>
            </a:r>
          </a:p>
          <a:p>
            <a:pPr marL="361950"/>
            <a:endParaRPr lang="pt-PT" dirty="0">
              <a:solidFill>
                <a:schemeClr val="accent6"/>
              </a:solidFill>
            </a:endParaRPr>
          </a:p>
          <a:p>
            <a:pPr marL="361950"/>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removeNumbers</a:t>
            </a:r>
            <a:r>
              <a:rPr lang="pt-PT" dirty="0">
                <a:solidFill>
                  <a:schemeClr val="accent6"/>
                </a:solidFill>
                <a:latin typeface="Courier New" pitchFamily="49" charset="0"/>
                <a:cs typeface="Courier New" pitchFamily="49" charset="0"/>
              </a:rPr>
              <a:t>()</a:t>
            </a:r>
            <a:endParaRPr lang="en-US" dirty="0">
              <a:solidFill>
                <a:schemeClr val="accent6"/>
              </a:solidFill>
              <a:latin typeface="Courier New" pitchFamily="49" charset="0"/>
              <a:cs typeface="Courier New" pitchFamily="49" charset="0"/>
            </a:endParaRPr>
          </a:p>
          <a:p>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removePunctuation</a:t>
            </a:r>
            <a:r>
              <a:rPr lang="pt-PT" dirty="0">
                <a:solidFill>
                  <a:schemeClr val="accent6"/>
                </a:solidFill>
                <a:latin typeface="Courier New" pitchFamily="49" charset="0"/>
                <a:cs typeface="Courier New" pitchFamily="49" charset="0"/>
              </a:rPr>
              <a:t>()</a:t>
            </a:r>
            <a:endParaRPr lang="en-US" dirty="0">
              <a:solidFill>
                <a:schemeClr val="accent6"/>
              </a:solidFill>
              <a:latin typeface="Courier New" pitchFamily="49" charset="0"/>
              <a:cs typeface="Courier New" pitchFamily="49" charset="0"/>
            </a:endParaRPr>
          </a:p>
          <a:p>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tokenizer</a:t>
            </a:r>
            <a:r>
              <a:rPr lang="pt-PT" dirty="0">
                <a:solidFill>
                  <a:schemeClr val="accent6"/>
                </a:solidFill>
                <a:latin typeface="Courier New" pitchFamily="49" charset="0"/>
                <a:cs typeface="Courier New" pitchFamily="49" charset="0"/>
              </a:rPr>
              <a:t>()</a:t>
            </a:r>
            <a:endParaRPr lang="en-US" dirty="0">
              <a:solidFill>
                <a:schemeClr val="accent6"/>
              </a:solidFill>
              <a:latin typeface="Courier New" pitchFamily="49" charset="0"/>
              <a:cs typeface="Courier New" pitchFamily="49" charset="0"/>
            </a:endParaRPr>
          </a:p>
          <a:p>
            <a:pPr marL="361950"/>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stemDocument</a:t>
            </a:r>
            <a:r>
              <a:rPr lang="pt-PT" dirty="0">
                <a:solidFill>
                  <a:schemeClr val="accent6"/>
                </a:solidFill>
                <a:latin typeface="Courier New" pitchFamily="49" charset="0"/>
                <a:cs typeface="Courier New" pitchFamily="49" charset="0"/>
              </a:rPr>
              <a:t>()</a:t>
            </a:r>
          </a:p>
          <a:p>
            <a:pPr marL="361950"/>
            <a:endParaRPr lang="pt-PT" dirty="0">
              <a:solidFill>
                <a:schemeClr val="accent6"/>
              </a:solidFill>
              <a:latin typeface="Courier New" pitchFamily="49" charset="0"/>
              <a:cs typeface="Courier New" pitchFamily="49" charset="0"/>
            </a:endParaRPr>
          </a:p>
          <a:p>
            <a:pPr marL="361950"/>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Dictionary</a:t>
            </a:r>
            <a:r>
              <a:rPr lang="pt-PT" dirty="0">
                <a:solidFill>
                  <a:schemeClr val="accent6"/>
                </a:solidFill>
                <a:latin typeface="Courier New" pitchFamily="49" charset="0"/>
                <a:cs typeface="Courier New" pitchFamily="49" charset="0"/>
              </a:rPr>
              <a:t>()</a:t>
            </a:r>
            <a:endParaRPr lang="en-US" dirty="0">
              <a:solidFill>
                <a:schemeClr val="accent6"/>
              </a:solidFill>
              <a:latin typeface="Courier New" pitchFamily="49" charset="0"/>
              <a:cs typeface="Courier New" pitchFamily="49" charset="0"/>
            </a:endParaRPr>
          </a:p>
          <a:p>
            <a:pPr marL="361950"/>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DocumentTermMatrix</a:t>
            </a:r>
            <a:r>
              <a:rPr lang="pt-PT" dirty="0">
                <a:solidFill>
                  <a:schemeClr val="accent6"/>
                </a:solidFill>
                <a:latin typeface="Courier New" pitchFamily="49" charset="0"/>
                <a:cs typeface="Courier New" pitchFamily="49" charset="0"/>
              </a:rPr>
              <a:t>()</a:t>
            </a:r>
            <a:endParaRPr lang="en-US" dirty="0">
              <a:solidFill>
                <a:schemeClr val="accent6"/>
              </a:solidFill>
              <a:latin typeface="Courier New" pitchFamily="49" charset="0"/>
              <a:cs typeface="Courier New" pitchFamily="49" charset="0"/>
            </a:endParaRPr>
          </a:p>
          <a:p>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termFreq</a:t>
            </a:r>
            <a:r>
              <a:rPr lang="pt-PT" dirty="0">
                <a:solidFill>
                  <a:schemeClr val="accent6"/>
                </a:solidFill>
                <a:latin typeface="Courier New" pitchFamily="49" charset="0"/>
                <a:cs typeface="Courier New" pitchFamily="49" charset="0"/>
              </a:rPr>
              <a:t>()</a:t>
            </a:r>
            <a:endParaRPr lang="en-US" dirty="0">
              <a:solidFill>
                <a:schemeClr val="accent6"/>
              </a:solidFill>
              <a:latin typeface="Courier New" pitchFamily="49" charset="0"/>
              <a:cs typeface="Courier New" pitchFamily="49" charset="0"/>
            </a:endParaRPr>
          </a:p>
          <a:p>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tm_intersect</a:t>
            </a:r>
            <a:r>
              <a:rPr lang="pt-PT" dirty="0">
                <a:solidFill>
                  <a:schemeClr val="accent6"/>
                </a:solidFill>
                <a:latin typeface="Courier New" pitchFamily="49" charset="0"/>
                <a:cs typeface="Courier New" pitchFamily="49" charset="0"/>
              </a:rPr>
              <a:t>()</a:t>
            </a:r>
            <a:endParaRPr lang="en-US" dirty="0">
              <a:solidFill>
                <a:schemeClr val="accent6"/>
              </a:solidFill>
              <a:latin typeface="Courier New" pitchFamily="49" charset="0"/>
              <a:cs typeface="Courier New" pitchFamily="49" charset="0"/>
            </a:endParaRPr>
          </a:p>
          <a:p>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findFreqTerms</a:t>
            </a:r>
            <a:r>
              <a:rPr lang="pt-PT" dirty="0">
                <a:solidFill>
                  <a:schemeClr val="accent6"/>
                </a:solidFill>
                <a:latin typeface="Courier New" pitchFamily="49" charset="0"/>
                <a:cs typeface="Courier New" pitchFamily="49" charset="0"/>
              </a:rPr>
              <a:t>()</a:t>
            </a:r>
            <a:endParaRPr lang="en-US" dirty="0">
              <a:solidFill>
                <a:schemeClr val="accent6"/>
              </a:solidFill>
              <a:latin typeface="Courier New" pitchFamily="49" charset="0"/>
              <a:cs typeface="Courier New" pitchFamily="49" charset="0"/>
            </a:endParaRPr>
          </a:p>
          <a:p>
            <a:r>
              <a:rPr lang="pt-PT" dirty="0">
                <a:solidFill>
                  <a:schemeClr val="accent6"/>
                </a:solidFill>
                <a:latin typeface="Courier New" pitchFamily="49" charset="0"/>
                <a:cs typeface="Courier New" pitchFamily="49" charset="0"/>
              </a:rPr>
              <a:t>	&gt; </a:t>
            </a:r>
            <a:r>
              <a:rPr lang="pt-PT" dirty="0" err="1">
                <a:solidFill>
                  <a:schemeClr val="accent6"/>
                </a:solidFill>
                <a:latin typeface="Courier New" pitchFamily="49" charset="0"/>
                <a:cs typeface="Courier New" pitchFamily="49" charset="0"/>
              </a:rPr>
              <a:t>removeSparseTerms</a:t>
            </a:r>
            <a:r>
              <a:rPr lang="pt-PT" dirty="0">
                <a:solidFill>
                  <a:schemeClr val="accent6"/>
                </a:solidFill>
                <a:latin typeface="Courier New" pitchFamily="49" charset="0"/>
                <a:cs typeface="Courier New" pitchFamily="49" charset="0"/>
              </a:rPr>
              <a:t>()</a:t>
            </a:r>
          </a:p>
          <a:p>
            <a:r>
              <a:rPr lang="pt-PT" dirty="0">
                <a:solidFill>
                  <a:schemeClr val="accent6"/>
                </a:solidFill>
                <a:latin typeface="Courier New" pitchFamily="49" charset="0"/>
                <a:cs typeface="Courier New" pitchFamily="49" charset="0"/>
              </a:rPr>
              <a:t>	…</a:t>
            </a:r>
            <a:endParaRPr lang="en-US" dirty="0">
              <a:solidFill>
                <a:schemeClr val="accent6"/>
              </a:solidFill>
              <a:latin typeface="Courier New" pitchFamily="49" charset="0"/>
              <a:cs typeface="Courier New" pitchFamily="49" charset="0"/>
            </a:endParaRPr>
          </a:p>
          <a:p>
            <a:endParaRPr lang="pt-PT" dirty="0">
              <a:solidFill>
                <a:schemeClr val="accent6"/>
              </a:solidFill>
            </a:endParaRPr>
          </a:p>
          <a:p>
            <a:endParaRPr lang="pt-PT" dirty="0">
              <a:solidFill>
                <a:schemeClr val="accent6"/>
              </a:solidFill>
            </a:endParaRPr>
          </a:p>
        </p:txBody>
      </p:sp>
      <p:sp>
        <p:nvSpPr>
          <p:cNvPr id="6" name="Rectangle 5">
            <a:hlinkClick r:id="rId2" action="ppaction://hlinkfile"/>
          </p:cNvPr>
          <p:cNvSpPr/>
          <p:nvPr/>
        </p:nvSpPr>
        <p:spPr>
          <a:xfrm>
            <a:off x="5796136" y="5445224"/>
            <a:ext cx="1728192"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err="1">
                <a:solidFill>
                  <a:srgbClr val="002060"/>
                </a:solidFill>
              </a:rPr>
              <a:t>tm</a:t>
            </a:r>
            <a:r>
              <a:rPr lang="pt-PT" dirty="0">
                <a:solidFill>
                  <a:srgbClr val="002060"/>
                </a:solidFill>
              </a:rPr>
              <a:t> </a:t>
            </a:r>
            <a:r>
              <a:rPr lang="pt-PT" dirty="0" err="1">
                <a:solidFill>
                  <a:srgbClr val="002060"/>
                </a:solidFill>
              </a:rPr>
              <a:t>reference</a:t>
            </a:r>
            <a:endParaRPr lang="pt-PT" dirty="0">
              <a:solidFill>
                <a:srgbClr val="00206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p:cNvSpPr>
            <a:spLocks noChangeArrowheads="1"/>
          </p:cNvSpPr>
          <p:nvPr/>
        </p:nvSpPr>
        <p:spPr bwMode="auto">
          <a:xfrm>
            <a:off x="1403648" y="1412776"/>
            <a:ext cx="7560394" cy="4216539"/>
          </a:xfrm>
          <a:prstGeom prst="rect">
            <a:avLst/>
          </a:prstGeom>
          <a:noFill/>
          <a:ln w="9525">
            <a:noFill/>
            <a:miter lim="800000"/>
            <a:headEnd/>
            <a:tailEnd/>
          </a:ln>
        </p:spPr>
        <p:txBody>
          <a:bodyPr wrap="square">
            <a:spAutoFit/>
          </a:bodyPr>
          <a:lstStyle/>
          <a:p>
            <a:endParaRPr lang="pt-PT" sz="3200" b="1" dirty="0">
              <a:solidFill>
                <a:srgbClr val="002060"/>
              </a:solidFill>
            </a:endParaRPr>
          </a:p>
          <a:p>
            <a:endParaRPr lang="pt-PT" sz="3200" b="1" dirty="0">
              <a:solidFill>
                <a:srgbClr val="002060"/>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r>
              <a:rPr lang="pt-PT" sz="3200" b="1" dirty="0">
                <a:solidFill>
                  <a:schemeClr val="tx1">
                    <a:lumMod val="65000"/>
                    <a:lumOff val="35000"/>
                  </a:schemeClr>
                </a:solidFill>
              </a:rPr>
              <a:t>CASE STUDY</a:t>
            </a:r>
          </a:p>
          <a:p>
            <a:endParaRPr lang="pt-PT" sz="2600" b="1" i="1" dirty="0">
              <a:solidFill>
                <a:schemeClr val="tx1">
                  <a:lumMod val="65000"/>
                  <a:lumOff val="35000"/>
                </a:schemeClr>
              </a:solidFill>
            </a:endParaRPr>
          </a:p>
          <a:p>
            <a:r>
              <a:rPr lang="pt-PT" dirty="0">
                <a:solidFill>
                  <a:schemeClr val="tx1">
                    <a:lumMod val="65000"/>
                    <a:lumOff val="35000"/>
                  </a:schemeClr>
                </a:solidFill>
              </a:rPr>
              <a:t>				</a:t>
            </a:r>
          </a:p>
        </p:txBody>
      </p:sp>
      <p:pic>
        <p:nvPicPr>
          <p:cNvPr id="17410" name="Picture 2" descr="http://mediatemetrics.files.wordpress.com/2012/01/text-mining.jpg?w=216&amp;h=100&amp;crop=1"/>
          <p:cNvPicPr>
            <a:picLocks noChangeAspect="1" noChangeArrowheads="1"/>
          </p:cNvPicPr>
          <p:nvPr/>
        </p:nvPicPr>
        <p:blipFill>
          <a:blip r:embed="rId2" cstate="print"/>
          <a:srcRect/>
          <a:stretch>
            <a:fillRect/>
          </a:stretch>
        </p:blipFill>
        <p:spPr bwMode="auto">
          <a:xfrm>
            <a:off x="1475656" y="1268760"/>
            <a:ext cx="3816424" cy="1766864"/>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ítulo 1"/>
          <p:cNvSpPr>
            <a:spLocks/>
          </p:cNvSpPr>
          <p:nvPr/>
        </p:nvSpPr>
        <p:spPr bwMode="auto">
          <a:xfrm>
            <a:off x="179388" y="0"/>
            <a:ext cx="8856662"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a:t>
            </a:r>
            <a:r>
              <a:rPr lang="pt-PT" sz="2800" dirty="0" err="1">
                <a:solidFill>
                  <a:schemeClr val="bg2"/>
                </a:solidFill>
              </a:rPr>
              <a:t>|Models|Processing|Tools|R|</a:t>
            </a:r>
            <a:r>
              <a:rPr lang="pt-PT" sz="2800" b="1" dirty="0" err="1">
                <a:solidFill>
                  <a:srgbClr val="C00000"/>
                </a:solidFill>
              </a:rPr>
              <a:t>Case</a:t>
            </a:r>
            <a:r>
              <a:rPr lang="pt-PT" sz="2800" b="1" dirty="0">
                <a:solidFill>
                  <a:srgbClr val="C00000"/>
                </a:solidFill>
              </a:rPr>
              <a:t> </a:t>
            </a:r>
            <a:r>
              <a:rPr lang="pt-PT" sz="2800" b="1" dirty="0" err="1">
                <a:solidFill>
                  <a:srgbClr val="C00000"/>
                </a:solidFill>
              </a:rPr>
              <a:t>study</a:t>
            </a:r>
            <a:r>
              <a:rPr lang="pt-PT" sz="2800" dirty="0" err="1">
                <a:solidFill>
                  <a:schemeClr val="bg2"/>
                </a:solidFill>
              </a:rPr>
              <a:t>|Handson</a:t>
            </a:r>
            <a:endParaRPr lang="pt-PT" sz="2800" dirty="0">
              <a:solidFill>
                <a:schemeClr val="bg2"/>
              </a:solidFill>
            </a:endParaRPr>
          </a:p>
        </p:txBody>
      </p:sp>
      <p:sp>
        <p:nvSpPr>
          <p:cNvPr id="4" name="Text Box 3"/>
          <p:cNvSpPr txBox="1">
            <a:spLocks noChangeArrowheads="1"/>
          </p:cNvSpPr>
          <p:nvPr/>
        </p:nvSpPr>
        <p:spPr bwMode="auto">
          <a:xfrm>
            <a:off x="250825" y="692150"/>
            <a:ext cx="8642350" cy="4885953"/>
          </a:xfrm>
          <a:prstGeom prst="rect">
            <a:avLst/>
          </a:prstGeom>
          <a:noFill/>
          <a:ln w="9525">
            <a:noFill/>
            <a:miter lim="800000"/>
            <a:headEnd/>
            <a:tailEnd/>
          </a:ln>
        </p:spPr>
        <p:txBody>
          <a:bodyPr>
            <a:spAutoFit/>
          </a:bodyPr>
          <a:lstStyle/>
          <a:p>
            <a:pPr marL="342900" indent="-342900">
              <a:lnSpc>
                <a:spcPct val="150000"/>
              </a:lnSpc>
              <a:spcBef>
                <a:spcPct val="25000"/>
              </a:spcBef>
            </a:pP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load</a:t>
            </a:r>
            <a:r>
              <a:rPr lang="pt-PT" sz="1400" dirty="0">
                <a:solidFill>
                  <a:schemeClr val="accent6"/>
                </a:solidFill>
                <a:latin typeface="Courier New" pitchFamily="49" charset="0"/>
                <a:cs typeface="Courier New" pitchFamily="49" charset="0"/>
              </a:rPr>
              <a:t> corpus</a:t>
            </a:r>
          </a:p>
          <a:p>
            <a:pPr marL="342900" indent="-342900">
              <a:lnSpc>
                <a:spcPct val="150000"/>
              </a:lnSpc>
              <a:spcBef>
                <a:spcPct val="25000"/>
              </a:spcBef>
            </a:pPr>
            <a:r>
              <a:rPr lang="pt-PT" sz="1400" dirty="0" err="1">
                <a:solidFill>
                  <a:schemeClr val="accent6"/>
                </a:solidFill>
                <a:latin typeface="Courier New" pitchFamily="49" charset="0"/>
                <a:cs typeface="Courier New" pitchFamily="49" charset="0"/>
              </a:rPr>
              <a:t>reviews</a:t>
            </a:r>
            <a:r>
              <a:rPr lang="pt-PT" sz="1400" dirty="0">
                <a:solidFill>
                  <a:schemeClr val="accent6"/>
                </a:solidFill>
                <a:latin typeface="Courier New" pitchFamily="49" charset="0"/>
                <a:cs typeface="Courier New" pitchFamily="49" charset="0"/>
              </a:rPr>
              <a:t> &lt;- Corpus(</a:t>
            </a:r>
            <a:r>
              <a:rPr lang="pt-PT" sz="1400" dirty="0" err="1">
                <a:solidFill>
                  <a:schemeClr val="accent6"/>
                </a:solidFill>
                <a:latin typeface="Courier New" pitchFamily="49" charset="0"/>
                <a:cs typeface="Courier New" pitchFamily="49" charset="0"/>
              </a:rPr>
              <a:t>DirSource</a:t>
            </a:r>
            <a:r>
              <a:rPr lang="pt-PT" sz="1400" dirty="0">
                <a:solidFill>
                  <a:schemeClr val="accent6"/>
                </a:solidFill>
                <a:latin typeface="Courier New" pitchFamily="49" charset="0"/>
                <a:cs typeface="Courier New" pitchFamily="49" charset="0"/>
              </a:rPr>
              <a:t>("./</a:t>
            </a:r>
            <a:r>
              <a:rPr lang="pt-PT" sz="1400" dirty="0" err="1">
                <a:solidFill>
                  <a:schemeClr val="accent6"/>
                </a:solidFill>
                <a:latin typeface="Courier New" pitchFamily="49" charset="0"/>
                <a:cs typeface="Courier New" pitchFamily="49" charset="0"/>
              </a:rPr>
              <a:t>reviews</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readerControl</a:t>
            </a:r>
            <a:r>
              <a:rPr lang="pt-PT" sz="1400" dirty="0">
                <a:solidFill>
                  <a:schemeClr val="accent6"/>
                </a:solidFill>
                <a:latin typeface="Courier New" pitchFamily="49" charset="0"/>
                <a:cs typeface="Courier New" pitchFamily="49" charset="0"/>
              </a:rPr>
              <a:t> = </a:t>
            </a:r>
            <a:r>
              <a:rPr lang="pt-PT" sz="1400" dirty="0" err="1">
                <a:solidFill>
                  <a:schemeClr val="accent6"/>
                </a:solidFill>
                <a:latin typeface="Courier New" pitchFamily="49" charset="0"/>
                <a:cs typeface="Courier New" pitchFamily="49" charset="0"/>
              </a:rPr>
              <a:t>list</a:t>
            </a:r>
            <a:r>
              <a:rPr lang="pt-PT" sz="1400" dirty="0">
                <a:solidFill>
                  <a:schemeClr val="accent6"/>
                </a:solidFill>
                <a:latin typeface="Courier New" pitchFamily="49" charset="0"/>
                <a:cs typeface="Courier New" pitchFamily="49" charset="0"/>
              </a:rPr>
              <a:t>(</a:t>
            </a:r>
            <a:r>
              <a:rPr lang="pt-PT" sz="1400" dirty="0" err="1">
                <a:solidFill>
                  <a:schemeClr val="accent6"/>
                </a:solidFill>
                <a:latin typeface="Courier New" pitchFamily="49" charset="0"/>
                <a:cs typeface="Courier New" pitchFamily="49" charset="0"/>
              </a:rPr>
              <a:t>reader</a:t>
            </a:r>
            <a:r>
              <a:rPr lang="pt-PT" sz="1400" dirty="0">
                <a:solidFill>
                  <a:schemeClr val="accent6"/>
                </a:solidFill>
                <a:latin typeface="Courier New" pitchFamily="49" charset="0"/>
                <a:cs typeface="Courier New" pitchFamily="49" charset="0"/>
              </a:rPr>
              <a:t> = </a:t>
            </a:r>
            <a:r>
              <a:rPr lang="pt-PT" sz="1400" dirty="0" err="1">
                <a:solidFill>
                  <a:schemeClr val="accent6"/>
                </a:solidFill>
                <a:latin typeface="Courier New" pitchFamily="49" charset="0"/>
                <a:cs typeface="Courier New" pitchFamily="49" charset="0"/>
              </a:rPr>
              <a:t>readPlain</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language</a:t>
            </a:r>
            <a:r>
              <a:rPr lang="pt-PT" sz="1400" dirty="0">
                <a:solidFill>
                  <a:schemeClr val="accent6"/>
                </a:solidFill>
                <a:latin typeface="Courier New" pitchFamily="49" charset="0"/>
                <a:cs typeface="Courier New" pitchFamily="49" charset="0"/>
              </a:rPr>
              <a:t> = "</a:t>
            </a:r>
            <a:r>
              <a:rPr lang="pt-PT" sz="1400" dirty="0" err="1">
                <a:solidFill>
                  <a:schemeClr val="accent6"/>
                </a:solidFill>
                <a:latin typeface="Courier New" pitchFamily="49" charset="0"/>
                <a:cs typeface="Courier New" pitchFamily="49" charset="0"/>
              </a:rPr>
              <a:t>english</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load</a:t>
            </a:r>
            <a:r>
              <a:rPr lang="pt-PT" sz="1400" dirty="0">
                <a:solidFill>
                  <a:schemeClr val="accent6"/>
                </a:solidFill>
                <a:latin typeface="Courier New" pitchFamily="49" charset="0"/>
                <a:cs typeface="Courier New" pitchFamily="49" charset="0"/>
              </a:rPr>
              <a:t> = TRUE))</a:t>
            </a:r>
          </a:p>
          <a:p>
            <a:pPr marL="342900" indent="-342900">
              <a:lnSpc>
                <a:spcPct val="150000"/>
              </a:lnSpc>
              <a:spcBef>
                <a:spcPct val="25000"/>
              </a:spcBef>
            </a:pPr>
            <a:endParaRPr lang="pt-PT" sz="1400" dirty="0">
              <a:solidFill>
                <a:schemeClr val="accent6"/>
              </a:solidFill>
              <a:latin typeface="Courier New" pitchFamily="49" charset="0"/>
              <a:cs typeface="Courier New" pitchFamily="49" charset="0"/>
            </a:endParaRPr>
          </a:p>
          <a:p>
            <a:pPr marL="342900" indent="-342900">
              <a:lnSpc>
                <a:spcPct val="150000"/>
              </a:lnSpc>
              <a:spcBef>
                <a:spcPct val="25000"/>
              </a:spcBef>
            </a:pP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generate</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vector</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space</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model</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computing</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index</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term’s</a:t>
            </a:r>
            <a:r>
              <a:rPr lang="pt-PT" sz="1400" dirty="0">
                <a:solidFill>
                  <a:schemeClr val="accent6"/>
                </a:solidFill>
                <a:latin typeface="Courier New" pitchFamily="49" charset="0"/>
                <a:cs typeface="Courier New" pitchFamily="49" charset="0"/>
              </a:rPr>
              <a:t> </a:t>
            </a:r>
            <a:r>
              <a:rPr lang="pt-PT" sz="1400" dirty="0" err="1">
                <a:solidFill>
                  <a:schemeClr val="accent6"/>
                </a:solidFill>
                <a:latin typeface="Courier New" pitchFamily="49" charset="0"/>
                <a:cs typeface="Courier New" pitchFamily="49" charset="0"/>
              </a:rPr>
              <a:t>weights</a:t>
            </a:r>
            <a:r>
              <a:rPr lang="pt-PT" sz="1400" dirty="0">
                <a:solidFill>
                  <a:schemeClr val="accent6"/>
                </a:solidFill>
                <a:latin typeface="Courier New" pitchFamily="49" charset="0"/>
                <a:cs typeface="Courier New" pitchFamily="49" charset="0"/>
              </a:rPr>
              <a:t> TF</a:t>
            </a:r>
          </a:p>
          <a:p>
            <a:pPr marL="342900" indent="-342900">
              <a:lnSpc>
                <a:spcPct val="150000"/>
              </a:lnSpc>
              <a:spcBef>
                <a:spcPct val="25000"/>
              </a:spcBef>
            </a:pPr>
            <a:r>
              <a:rPr lang="pt-PT" sz="1400" dirty="0" err="1">
                <a:solidFill>
                  <a:schemeClr val="accent6"/>
                </a:solidFill>
                <a:latin typeface="Courier New" pitchFamily="49" charset="0"/>
                <a:cs typeface="Courier New" pitchFamily="49" charset="0"/>
              </a:rPr>
              <a:t>dtm</a:t>
            </a:r>
            <a:r>
              <a:rPr lang="pt-PT" sz="1400" dirty="0">
                <a:solidFill>
                  <a:schemeClr val="accent6"/>
                </a:solidFill>
                <a:latin typeface="Courier New" pitchFamily="49" charset="0"/>
                <a:cs typeface="Courier New" pitchFamily="49" charset="0"/>
              </a:rPr>
              <a:t> &lt;- </a:t>
            </a:r>
            <a:r>
              <a:rPr lang="pt-PT" sz="1400" dirty="0" err="1">
                <a:solidFill>
                  <a:schemeClr val="accent6"/>
                </a:solidFill>
                <a:latin typeface="Courier New" pitchFamily="49" charset="0"/>
                <a:cs typeface="Courier New" pitchFamily="49" charset="0"/>
              </a:rPr>
              <a:t>DocumentTermMatrix</a:t>
            </a:r>
            <a:r>
              <a:rPr lang="pt-PT" sz="1400" dirty="0">
                <a:solidFill>
                  <a:schemeClr val="accent6"/>
                </a:solidFill>
                <a:latin typeface="Courier New" pitchFamily="49" charset="0"/>
                <a:cs typeface="Courier New" pitchFamily="49" charset="0"/>
              </a:rPr>
              <a:t>(</a:t>
            </a:r>
            <a:r>
              <a:rPr lang="pt-PT" sz="1400" dirty="0" err="1">
                <a:solidFill>
                  <a:schemeClr val="accent6"/>
                </a:solidFill>
                <a:latin typeface="Courier New" pitchFamily="49" charset="0"/>
                <a:cs typeface="Courier New" pitchFamily="49" charset="0"/>
              </a:rPr>
              <a:t>reuters</a:t>
            </a:r>
            <a:r>
              <a:rPr lang="pt-PT" sz="1400" dirty="0">
                <a:solidFill>
                  <a:schemeClr val="accent6"/>
                </a:solidFill>
                <a:latin typeface="Courier New" pitchFamily="49" charset="0"/>
                <a:cs typeface="Courier New" pitchFamily="49" charset="0"/>
              </a:rPr>
              <a:t>)</a:t>
            </a:r>
          </a:p>
          <a:p>
            <a:pPr marL="342900" indent="-342900">
              <a:lnSpc>
                <a:spcPct val="150000"/>
              </a:lnSpc>
              <a:spcBef>
                <a:spcPct val="25000"/>
              </a:spcBef>
            </a:pPr>
            <a:endParaRPr lang="pt-PT" sz="1400" dirty="0">
              <a:solidFill>
                <a:schemeClr val="accent6"/>
              </a:solidFill>
              <a:latin typeface="Courier New" pitchFamily="49" charset="0"/>
              <a:cs typeface="Courier New" pitchFamily="49" charset="0"/>
            </a:endParaRPr>
          </a:p>
          <a:p>
            <a:pPr marL="342900" indent="-342900">
              <a:lnSpc>
                <a:spcPct val="150000"/>
              </a:lnSpc>
              <a:spcBef>
                <a:spcPct val="25000"/>
              </a:spcBef>
            </a:pPr>
            <a:r>
              <a:rPr lang="pt-PT" sz="1400" dirty="0">
                <a:solidFill>
                  <a:schemeClr val="accent6"/>
                </a:solidFill>
                <a:latin typeface="Courier New" pitchFamily="49" charset="0"/>
                <a:cs typeface="Courier New" pitchFamily="49" charset="0"/>
              </a:rPr>
              <a:t># CHECK IT</a:t>
            </a:r>
          </a:p>
          <a:p>
            <a:pPr marL="342900" indent="-342900">
              <a:lnSpc>
                <a:spcPct val="150000"/>
              </a:lnSpc>
              <a:spcBef>
                <a:spcPct val="25000"/>
              </a:spcBef>
            </a:pPr>
            <a:r>
              <a:rPr lang="pt-PT" sz="1400" dirty="0" err="1">
                <a:solidFill>
                  <a:schemeClr val="accent6"/>
                </a:solidFill>
                <a:latin typeface="Courier New" pitchFamily="49" charset="0"/>
                <a:cs typeface="Courier New" pitchFamily="49" charset="0"/>
              </a:rPr>
              <a:t>inspect</a:t>
            </a:r>
            <a:r>
              <a:rPr lang="pt-PT" sz="1400" dirty="0">
                <a:solidFill>
                  <a:schemeClr val="accent6"/>
                </a:solidFill>
                <a:latin typeface="Courier New" pitchFamily="49" charset="0"/>
                <a:cs typeface="Courier New" pitchFamily="49" charset="0"/>
              </a:rPr>
              <a:t>(</a:t>
            </a:r>
            <a:r>
              <a:rPr lang="pt-PT" sz="1400" dirty="0" err="1">
                <a:solidFill>
                  <a:schemeClr val="accent6"/>
                </a:solidFill>
                <a:latin typeface="Courier New" pitchFamily="49" charset="0"/>
                <a:cs typeface="Courier New" pitchFamily="49" charset="0"/>
              </a:rPr>
              <a:t>reviews</a:t>
            </a:r>
            <a:r>
              <a:rPr lang="pt-PT" sz="1400" dirty="0">
                <a:solidFill>
                  <a:schemeClr val="accent6"/>
                </a:solidFill>
                <a:latin typeface="Courier New" pitchFamily="49" charset="0"/>
                <a:cs typeface="Courier New" pitchFamily="49" charset="0"/>
              </a:rPr>
              <a:t>)</a:t>
            </a:r>
          </a:p>
          <a:p>
            <a:pPr marL="342900" indent="-342900">
              <a:lnSpc>
                <a:spcPct val="150000"/>
              </a:lnSpc>
              <a:spcBef>
                <a:spcPct val="25000"/>
              </a:spcBef>
            </a:pPr>
            <a:r>
              <a:rPr lang="pt-PT" sz="1400" dirty="0" err="1">
                <a:solidFill>
                  <a:schemeClr val="accent6"/>
                </a:solidFill>
                <a:latin typeface="Courier New" pitchFamily="49" charset="0"/>
                <a:cs typeface="Courier New" pitchFamily="49" charset="0"/>
              </a:rPr>
              <a:t>inspect</a:t>
            </a:r>
            <a:r>
              <a:rPr lang="pt-PT" sz="1400" dirty="0">
                <a:solidFill>
                  <a:schemeClr val="accent6"/>
                </a:solidFill>
                <a:latin typeface="Courier New" pitchFamily="49" charset="0"/>
                <a:cs typeface="Courier New" pitchFamily="49" charset="0"/>
              </a:rPr>
              <a:t>(</a:t>
            </a:r>
            <a:r>
              <a:rPr lang="pt-PT" sz="1400" dirty="0" err="1">
                <a:solidFill>
                  <a:schemeClr val="accent6"/>
                </a:solidFill>
                <a:latin typeface="Courier New" pitchFamily="49" charset="0"/>
                <a:cs typeface="Courier New" pitchFamily="49" charset="0"/>
              </a:rPr>
              <a:t>reviews</a:t>
            </a:r>
            <a:r>
              <a:rPr lang="pt-PT" sz="1400" dirty="0">
                <a:solidFill>
                  <a:schemeClr val="accent6"/>
                </a:solidFill>
                <a:latin typeface="Courier New" pitchFamily="49" charset="0"/>
                <a:cs typeface="Courier New" pitchFamily="49" charset="0"/>
              </a:rPr>
              <a:t>[1])</a:t>
            </a:r>
          </a:p>
          <a:p>
            <a:pPr marL="342900" indent="-342900">
              <a:lnSpc>
                <a:spcPct val="150000"/>
              </a:lnSpc>
              <a:spcBef>
                <a:spcPct val="25000"/>
              </a:spcBef>
            </a:pPr>
            <a:endParaRPr lang="pt-PT" sz="1400" dirty="0">
              <a:solidFill>
                <a:schemeClr val="accent6"/>
              </a:solidFill>
              <a:latin typeface="Courier New" pitchFamily="49" charset="0"/>
              <a:cs typeface="Courier New" pitchFamily="49" charset="0"/>
            </a:endParaRPr>
          </a:p>
          <a:p>
            <a:pPr marL="342900" indent="-342900">
              <a:lnSpc>
                <a:spcPct val="150000"/>
              </a:lnSpc>
              <a:spcBef>
                <a:spcPct val="25000"/>
              </a:spcBef>
            </a:pPr>
            <a:r>
              <a:rPr lang="pt-PT" sz="1400" dirty="0" err="1">
                <a:solidFill>
                  <a:schemeClr val="accent6"/>
                </a:solidFill>
                <a:latin typeface="Courier New" pitchFamily="49" charset="0"/>
                <a:cs typeface="Courier New" pitchFamily="49" charset="0"/>
              </a:rPr>
              <a:t>str</a:t>
            </a:r>
            <a:r>
              <a:rPr lang="pt-PT" sz="1400" dirty="0">
                <a:solidFill>
                  <a:schemeClr val="accent6"/>
                </a:solidFill>
                <a:latin typeface="Courier New" pitchFamily="49" charset="0"/>
                <a:cs typeface="Courier New" pitchFamily="49" charset="0"/>
              </a:rPr>
              <a:t>(</a:t>
            </a:r>
            <a:r>
              <a:rPr lang="pt-PT" sz="1400" dirty="0" err="1">
                <a:solidFill>
                  <a:schemeClr val="accent6"/>
                </a:solidFill>
                <a:latin typeface="Courier New" pitchFamily="49" charset="0"/>
                <a:cs typeface="Courier New" pitchFamily="49" charset="0"/>
              </a:rPr>
              <a:t>dtm</a:t>
            </a:r>
            <a:r>
              <a:rPr lang="pt-PT" sz="1400" dirty="0">
                <a:solidFill>
                  <a:schemeClr val="accent6"/>
                </a:solidFill>
                <a:latin typeface="Courier New" pitchFamily="49" charset="0"/>
                <a:cs typeface="Courier New" pitchFamily="49" charset="0"/>
              </a:rPr>
              <a:t>)</a:t>
            </a:r>
          </a:p>
          <a:p>
            <a:pPr marL="342900" indent="-342900">
              <a:lnSpc>
                <a:spcPct val="150000"/>
              </a:lnSpc>
              <a:spcBef>
                <a:spcPct val="25000"/>
              </a:spcBef>
            </a:pPr>
            <a:r>
              <a:rPr lang="pt-PT" sz="1400" dirty="0" err="1">
                <a:solidFill>
                  <a:schemeClr val="accent6"/>
                </a:solidFill>
                <a:latin typeface="Courier New" pitchFamily="49" charset="0"/>
                <a:cs typeface="Courier New" pitchFamily="49" charset="0"/>
              </a:rPr>
              <a:t>colnames</a:t>
            </a:r>
            <a:r>
              <a:rPr lang="pt-PT" sz="1400" dirty="0">
                <a:solidFill>
                  <a:schemeClr val="accent6"/>
                </a:solidFill>
                <a:latin typeface="Courier New" pitchFamily="49" charset="0"/>
                <a:cs typeface="Courier New" pitchFamily="49" charset="0"/>
              </a:rPr>
              <a:t>(</a:t>
            </a:r>
            <a:r>
              <a:rPr lang="pt-PT" sz="1400" dirty="0" err="1">
                <a:solidFill>
                  <a:schemeClr val="accent6"/>
                </a:solidFill>
                <a:latin typeface="Courier New" pitchFamily="49" charset="0"/>
                <a:cs typeface="Courier New" pitchFamily="49" charset="0"/>
              </a:rPr>
              <a:t>dtm</a:t>
            </a:r>
            <a:r>
              <a:rPr lang="pt-PT" sz="1400" dirty="0">
                <a:solidFill>
                  <a:schemeClr val="accent6"/>
                </a:solidFill>
                <a:latin typeface="Courier New" pitchFamily="49" charset="0"/>
                <a:cs typeface="Courier New" pitchFamily="49" charset="0"/>
              </a:rPr>
              <a:t>) # YOU</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p:cNvSpPr>
            <a:spLocks noChangeArrowheads="1"/>
          </p:cNvSpPr>
          <p:nvPr/>
        </p:nvSpPr>
        <p:spPr bwMode="auto">
          <a:xfrm>
            <a:off x="1403648" y="1412776"/>
            <a:ext cx="7560394" cy="4216539"/>
          </a:xfrm>
          <a:prstGeom prst="rect">
            <a:avLst/>
          </a:prstGeom>
          <a:noFill/>
          <a:ln w="9525">
            <a:noFill/>
            <a:miter lim="800000"/>
            <a:headEnd/>
            <a:tailEnd/>
          </a:ln>
        </p:spPr>
        <p:txBody>
          <a:bodyPr wrap="square">
            <a:spAutoFit/>
          </a:bodyPr>
          <a:lstStyle/>
          <a:p>
            <a:endParaRPr lang="pt-PT" sz="3200" b="1" dirty="0">
              <a:solidFill>
                <a:srgbClr val="002060"/>
              </a:solidFill>
            </a:endParaRPr>
          </a:p>
          <a:p>
            <a:endParaRPr lang="pt-PT" sz="3200" b="1" dirty="0">
              <a:solidFill>
                <a:srgbClr val="002060"/>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r>
              <a:rPr lang="pt-PT" sz="3200" b="1" dirty="0">
                <a:solidFill>
                  <a:schemeClr val="tx1">
                    <a:lumMod val="65000"/>
                    <a:lumOff val="35000"/>
                  </a:schemeClr>
                </a:solidFill>
              </a:rPr>
              <a:t>HANDS-ON TEXT MINING</a:t>
            </a:r>
          </a:p>
          <a:p>
            <a:endParaRPr lang="pt-PT" sz="2600" b="1" i="1" dirty="0">
              <a:solidFill>
                <a:schemeClr val="tx1">
                  <a:lumMod val="65000"/>
                  <a:lumOff val="35000"/>
                </a:schemeClr>
              </a:solidFill>
            </a:endParaRPr>
          </a:p>
          <a:p>
            <a:r>
              <a:rPr lang="pt-PT" dirty="0">
                <a:solidFill>
                  <a:schemeClr val="tx1">
                    <a:lumMod val="65000"/>
                    <a:lumOff val="35000"/>
                  </a:schemeClr>
                </a:solidFill>
              </a:rPr>
              <a:t>				</a:t>
            </a:r>
          </a:p>
        </p:txBody>
      </p:sp>
      <p:pic>
        <p:nvPicPr>
          <p:cNvPr id="17410" name="Picture 2" descr="http://mediatemetrics.files.wordpress.com/2012/01/text-mining.jpg?w=216&amp;h=100&amp;crop=1"/>
          <p:cNvPicPr>
            <a:picLocks noChangeAspect="1" noChangeArrowheads="1"/>
          </p:cNvPicPr>
          <p:nvPr/>
        </p:nvPicPr>
        <p:blipFill>
          <a:blip r:embed="rId2" cstate="print"/>
          <a:srcRect/>
          <a:stretch>
            <a:fillRect/>
          </a:stretch>
        </p:blipFill>
        <p:spPr bwMode="auto">
          <a:xfrm>
            <a:off x="1475656" y="1268760"/>
            <a:ext cx="3816424" cy="1766864"/>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Intro|Models|Processing|Tools|R|Case</a:t>
            </a:r>
            <a:r>
              <a:rPr lang="pt-PT" sz="2800" dirty="0">
                <a:solidFill>
                  <a:schemeClr val="bg1">
                    <a:lumMod val="50000"/>
                  </a:schemeClr>
                </a:solidFill>
              </a:rPr>
              <a:t> </a:t>
            </a:r>
            <a:r>
              <a:rPr lang="pt-PT" sz="2800" dirty="0" err="1">
                <a:solidFill>
                  <a:schemeClr val="bg1">
                    <a:lumMod val="50000"/>
                  </a:schemeClr>
                </a:solidFill>
              </a:rPr>
              <a:t>study|</a:t>
            </a:r>
            <a:r>
              <a:rPr lang="pt-PT" sz="2800" b="1" dirty="0" err="1">
                <a:solidFill>
                  <a:srgbClr val="C00000"/>
                </a:solidFill>
              </a:rPr>
              <a:t>Handson</a:t>
            </a:r>
            <a:endParaRPr lang="pt-PT" sz="2800" b="1" dirty="0">
              <a:solidFill>
                <a:srgbClr val="C00000"/>
              </a:solidFill>
            </a:endParaRPr>
          </a:p>
        </p:txBody>
      </p:sp>
      <p:sp>
        <p:nvSpPr>
          <p:cNvPr id="6" name="Text Box 3"/>
          <p:cNvSpPr txBox="1">
            <a:spLocks noChangeArrowheads="1"/>
          </p:cNvSpPr>
          <p:nvPr/>
        </p:nvSpPr>
        <p:spPr bwMode="auto">
          <a:xfrm>
            <a:off x="251520" y="692696"/>
            <a:ext cx="8642350" cy="3416320"/>
          </a:xfrm>
          <a:prstGeom prst="rect">
            <a:avLst/>
          </a:prstGeom>
          <a:noFill/>
          <a:ln w="9525">
            <a:noFill/>
            <a:miter lim="800000"/>
            <a:headEnd/>
            <a:tailEnd/>
          </a:ln>
        </p:spPr>
        <p:txBody>
          <a:bodyPr>
            <a:spAutoFit/>
          </a:bodyPr>
          <a:lstStyle/>
          <a:p>
            <a:r>
              <a:rPr lang="pt-PT" b="1" u="sng" dirty="0">
                <a:solidFill>
                  <a:schemeClr val="accent6"/>
                </a:solidFill>
              </a:rPr>
              <a:t>R PACKAGES</a:t>
            </a:r>
          </a:p>
          <a:p>
            <a:endParaRPr lang="pt-PT" dirty="0">
              <a:solidFill>
                <a:schemeClr val="accent6"/>
              </a:solidFill>
            </a:endParaRPr>
          </a:p>
          <a:p>
            <a:pPr marL="342900" indent="-342900">
              <a:buFont typeface="+mj-lt"/>
              <a:buAutoNum type="arabicPeriod"/>
            </a:pPr>
            <a:r>
              <a:rPr lang="pt-PT" dirty="0" err="1">
                <a:solidFill>
                  <a:schemeClr val="accent6"/>
                </a:solidFill>
              </a:rPr>
              <a:t>Install</a:t>
            </a:r>
            <a:r>
              <a:rPr lang="pt-PT" dirty="0">
                <a:solidFill>
                  <a:schemeClr val="accent6"/>
                </a:solidFill>
              </a:rPr>
              <a:t> R</a:t>
            </a:r>
          </a:p>
          <a:p>
            <a:pPr marL="342900" indent="-342900">
              <a:buFont typeface="+mj-lt"/>
              <a:buAutoNum type="arabicPeriod"/>
            </a:pPr>
            <a:endParaRPr lang="pt-PT" dirty="0">
              <a:solidFill>
                <a:schemeClr val="accent6"/>
              </a:solidFill>
            </a:endParaRPr>
          </a:p>
          <a:p>
            <a:pPr marL="342900" indent="-342900">
              <a:buFont typeface="+mj-lt"/>
              <a:buAutoNum type="arabicPeriod"/>
            </a:pPr>
            <a:r>
              <a:rPr lang="pt-PT" dirty="0" err="1">
                <a:solidFill>
                  <a:schemeClr val="accent6"/>
                </a:solidFill>
              </a:rPr>
              <a:t>Install</a:t>
            </a:r>
            <a:r>
              <a:rPr lang="pt-PT" dirty="0">
                <a:solidFill>
                  <a:schemeClr val="accent6"/>
                </a:solidFill>
              </a:rPr>
              <a:t> </a:t>
            </a:r>
            <a:r>
              <a:rPr lang="pt-PT" dirty="0" err="1">
                <a:solidFill>
                  <a:schemeClr val="accent6"/>
                </a:solidFill>
              </a:rPr>
              <a:t>required</a:t>
            </a:r>
            <a:r>
              <a:rPr lang="pt-PT" dirty="0">
                <a:solidFill>
                  <a:schemeClr val="accent6"/>
                </a:solidFill>
              </a:rPr>
              <a:t> </a:t>
            </a:r>
            <a:r>
              <a:rPr lang="pt-PT" dirty="0" err="1">
                <a:solidFill>
                  <a:schemeClr val="accent6"/>
                </a:solidFill>
              </a:rPr>
              <a:t>libraries</a:t>
            </a:r>
            <a:endParaRPr lang="pt-PT" dirty="0">
              <a:solidFill>
                <a:schemeClr val="accent6"/>
              </a:solidFill>
            </a:endParaRPr>
          </a:p>
          <a:p>
            <a:r>
              <a:rPr lang="pt-PT" dirty="0">
                <a:solidFill>
                  <a:schemeClr val="accent6"/>
                </a:solidFill>
              </a:rPr>
              <a:t>	</a:t>
            </a:r>
            <a:r>
              <a:rPr lang="pt-PT" dirty="0" err="1">
                <a:solidFill>
                  <a:schemeClr val="accent6"/>
                </a:solidFill>
                <a:latin typeface="Courier New" pitchFamily="49" charset="0"/>
                <a:cs typeface="Courier New" pitchFamily="49" charset="0"/>
              </a:rPr>
              <a:t>tm</a:t>
            </a:r>
            <a:r>
              <a:rPr lang="pt-PT" dirty="0">
                <a:solidFill>
                  <a:schemeClr val="accent6"/>
                </a:solidFill>
              </a:rPr>
              <a:t>  -- </a:t>
            </a:r>
            <a:r>
              <a:rPr lang="pt-PT" dirty="0" err="1">
                <a:solidFill>
                  <a:schemeClr val="accent6"/>
                </a:solidFill>
              </a:rPr>
              <a:t>text</a:t>
            </a:r>
            <a:r>
              <a:rPr lang="pt-PT" dirty="0">
                <a:solidFill>
                  <a:schemeClr val="accent6"/>
                </a:solidFill>
              </a:rPr>
              <a:t> </a:t>
            </a:r>
            <a:r>
              <a:rPr lang="pt-PT" dirty="0" err="1">
                <a:solidFill>
                  <a:schemeClr val="accent6"/>
                </a:solidFill>
              </a:rPr>
              <a:t>mining</a:t>
            </a:r>
            <a:endParaRPr lang="pt-PT" dirty="0">
              <a:solidFill>
                <a:schemeClr val="accent6"/>
              </a:solidFill>
            </a:endParaRPr>
          </a:p>
          <a:p>
            <a:r>
              <a:rPr lang="pt-PT" dirty="0">
                <a:solidFill>
                  <a:schemeClr val="accent6"/>
                </a:solidFill>
              </a:rPr>
              <a:t>	</a:t>
            </a:r>
            <a:r>
              <a:rPr lang="pt-PT" dirty="0">
                <a:solidFill>
                  <a:schemeClr val="accent6"/>
                </a:solidFill>
                <a:latin typeface="Courier New" pitchFamily="49" charset="0"/>
                <a:cs typeface="Courier New" pitchFamily="49" charset="0"/>
              </a:rPr>
              <a:t>SnowballC</a:t>
            </a:r>
            <a:r>
              <a:rPr lang="pt-PT" dirty="0">
                <a:solidFill>
                  <a:schemeClr val="accent6"/>
                </a:solidFill>
              </a:rPr>
              <a:t> -- stemming</a:t>
            </a:r>
          </a:p>
          <a:p>
            <a:r>
              <a:rPr lang="pt-PT" dirty="0">
                <a:solidFill>
                  <a:schemeClr val="accent6"/>
                </a:solidFill>
              </a:rPr>
              <a:t>	</a:t>
            </a:r>
            <a:r>
              <a:rPr lang="pt-PT" dirty="0" err="1">
                <a:solidFill>
                  <a:schemeClr val="accent6"/>
                </a:solidFill>
                <a:latin typeface="Courier New" pitchFamily="49" charset="0"/>
                <a:cs typeface="Courier New" pitchFamily="49" charset="0"/>
              </a:rPr>
              <a:t>RWeka</a:t>
            </a:r>
            <a:r>
              <a:rPr lang="pt-PT" dirty="0">
                <a:solidFill>
                  <a:schemeClr val="accent6"/>
                </a:solidFill>
              </a:rPr>
              <a:t> -- N-</a:t>
            </a:r>
            <a:r>
              <a:rPr lang="pt-PT" dirty="0" err="1">
                <a:solidFill>
                  <a:schemeClr val="accent6"/>
                </a:solidFill>
              </a:rPr>
              <a:t>gram</a:t>
            </a:r>
            <a:r>
              <a:rPr lang="pt-PT" dirty="0">
                <a:solidFill>
                  <a:schemeClr val="accent6"/>
                </a:solidFill>
              </a:rPr>
              <a:t> </a:t>
            </a:r>
            <a:r>
              <a:rPr lang="pt-PT" dirty="0" err="1">
                <a:solidFill>
                  <a:schemeClr val="accent6"/>
                </a:solidFill>
              </a:rPr>
              <a:t>tokenizer</a:t>
            </a:r>
            <a:endParaRPr lang="pt-PT" dirty="0">
              <a:solidFill>
                <a:schemeClr val="accent6"/>
              </a:solidFill>
            </a:endParaRPr>
          </a:p>
          <a:p>
            <a:r>
              <a:rPr lang="pt-PT" dirty="0">
                <a:solidFill>
                  <a:schemeClr val="accent6"/>
                </a:solidFill>
              </a:rPr>
              <a:t>	</a:t>
            </a:r>
          </a:p>
          <a:p>
            <a:r>
              <a:rPr lang="pt-PT" dirty="0">
                <a:solidFill>
                  <a:schemeClr val="accent6"/>
                </a:solidFill>
              </a:rPr>
              <a:t>	</a:t>
            </a:r>
            <a:r>
              <a:rPr lang="pt-PT" dirty="0">
                <a:solidFill>
                  <a:schemeClr val="accent6"/>
                </a:solidFill>
                <a:latin typeface="Courier New" pitchFamily="49" charset="0"/>
                <a:cs typeface="Courier New" pitchFamily="49" charset="0"/>
              </a:rPr>
              <a:t>e1071</a:t>
            </a:r>
            <a:r>
              <a:rPr lang="pt-PT" dirty="0">
                <a:solidFill>
                  <a:schemeClr val="accent6"/>
                </a:solidFill>
              </a:rPr>
              <a:t> -- </a:t>
            </a:r>
            <a:r>
              <a:rPr lang="pt-PT" dirty="0" err="1">
                <a:solidFill>
                  <a:schemeClr val="accent6"/>
                </a:solidFill>
              </a:rPr>
              <a:t>svm</a:t>
            </a:r>
            <a:endParaRPr lang="pt-PT" dirty="0">
              <a:solidFill>
                <a:schemeClr val="accent6"/>
              </a:solidFill>
            </a:endParaRPr>
          </a:p>
          <a:p>
            <a:r>
              <a:rPr lang="pt-PT" dirty="0">
                <a:solidFill>
                  <a:schemeClr val="accent6"/>
                </a:solidFill>
              </a:rPr>
              <a:t>	</a:t>
            </a:r>
            <a:r>
              <a:rPr lang="pt-PT" dirty="0" err="1">
                <a:solidFill>
                  <a:schemeClr val="accent6"/>
                </a:solidFill>
                <a:latin typeface="Courier New" pitchFamily="49" charset="0"/>
                <a:cs typeface="Courier New" pitchFamily="49" charset="0"/>
              </a:rPr>
              <a:t>class</a:t>
            </a:r>
            <a:r>
              <a:rPr lang="pt-PT" dirty="0">
                <a:solidFill>
                  <a:schemeClr val="accent6"/>
                </a:solidFill>
              </a:rPr>
              <a:t> -- </a:t>
            </a:r>
            <a:r>
              <a:rPr lang="pt-PT" dirty="0" err="1">
                <a:solidFill>
                  <a:schemeClr val="accent6"/>
                </a:solidFill>
              </a:rPr>
              <a:t>knn</a:t>
            </a:r>
            <a:endParaRPr lang="pt-PT" dirty="0">
              <a:solidFill>
                <a:schemeClr val="accent6"/>
              </a:solidFill>
            </a:endParaRPr>
          </a:p>
          <a:p>
            <a:endParaRPr lang="pt-PT" dirty="0">
              <a:solidFill>
                <a:schemeClr val="accent6"/>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p:cNvSpPr>
          <p:nvPr/>
        </p:nvSpPr>
        <p:spPr bwMode="auto">
          <a:xfrm>
            <a:off x="0" y="0"/>
            <a:ext cx="9144000" cy="314325"/>
          </a:xfrm>
          <a:prstGeom prst="rect">
            <a:avLst/>
          </a:prstGeom>
          <a:noFill/>
          <a:ln w="9525">
            <a:noFill/>
            <a:miter lim="800000"/>
            <a:headEnd/>
            <a:tailEnd/>
          </a:ln>
        </p:spPr>
        <p:txBody>
          <a:bodyPr anchor="ctr"/>
          <a:lstStyle/>
          <a:p>
            <a:pPr algn="ctr"/>
            <a:r>
              <a:rPr lang="pt-PT" sz="2800" dirty="0" err="1">
                <a:solidFill>
                  <a:schemeClr val="bg1">
                    <a:lumMod val="50000"/>
                  </a:schemeClr>
                </a:solidFill>
              </a:rPr>
              <a:t>Intro|Models|Processing|Tools|R|Case</a:t>
            </a:r>
            <a:r>
              <a:rPr lang="pt-PT" sz="2800" dirty="0">
                <a:solidFill>
                  <a:schemeClr val="bg1">
                    <a:lumMod val="50000"/>
                  </a:schemeClr>
                </a:solidFill>
              </a:rPr>
              <a:t> </a:t>
            </a:r>
            <a:r>
              <a:rPr lang="pt-PT" sz="2800" dirty="0" err="1">
                <a:solidFill>
                  <a:schemeClr val="bg1">
                    <a:lumMod val="50000"/>
                  </a:schemeClr>
                </a:solidFill>
              </a:rPr>
              <a:t>study|</a:t>
            </a:r>
            <a:r>
              <a:rPr lang="pt-PT" sz="2800" b="1" dirty="0" err="1">
                <a:solidFill>
                  <a:srgbClr val="C00000"/>
                </a:solidFill>
              </a:rPr>
              <a:t>Handson</a:t>
            </a:r>
            <a:endParaRPr lang="pt-PT" sz="2800" b="1" dirty="0">
              <a:solidFill>
                <a:srgbClr val="C00000"/>
              </a:solidFill>
            </a:endParaRPr>
          </a:p>
        </p:txBody>
      </p:sp>
      <p:sp>
        <p:nvSpPr>
          <p:cNvPr id="6" name="Text Box 3"/>
          <p:cNvSpPr txBox="1">
            <a:spLocks noChangeArrowheads="1"/>
          </p:cNvSpPr>
          <p:nvPr/>
        </p:nvSpPr>
        <p:spPr bwMode="auto">
          <a:xfrm>
            <a:off x="251520" y="692696"/>
            <a:ext cx="8642350" cy="6617196"/>
          </a:xfrm>
          <a:prstGeom prst="rect">
            <a:avLst/>
          </a:prstGeom>
          <a:noFill/>
          <a:ln w="9525">
            <a:noFill/>
            <a:miter lim="800000"/>
            <a:headEnd/>
            <a:tailEnd/>
          </a:ln>
        </p:spPr>
        <p:txBody>
          <a:bodyPr>
            <a:spAutoFit/>
          </a:bodyPr>
          <a:lstStyle/>
          <a:p>
            <a:r>
              <a:rPr lang="pt-PT" b="1" u="sng" dirty="0">
                <a:solidFill>
                  <a:schemeClr val="accent6"/>
                </a:solidFill>
              </a:rPr>
              <a:t>THE CONTEST</a:t>
            </a:r>
          </a:p>
          <a:p>
            <a:endParaRPr lang="pt-PT" dirty="0">
              <a:solidFill>
                <a:schemeClr val="accent6"/>
              </a:solidFill>
            </a:endParaRPr>
          </a:p>
          <a:p>
            <a:pPr marL="727075" indent="-342900">
              <a:buFont typeface="+mj-lt"/>
              <a:buAutoNum type="arabicPeriod"/>
            </a:pPr>
            <a:r>
              <a:rPr lang="pt-PT" dirty="0" err="1">
                <a:solidFill>
                  <a:schemeClr val="accent6"/>
                </a:solidFill>
              </a:rPr>
              <a:t>Get</a:t>
            </a:r>
            <a:r>
              <a:rPr lang="pt-PT" dirty="0">
                <a:solidFill>
                  <a:schemeClr val="accent6"/>
                </a:solidFill>
              </a:rPr>
              <a:t> a </a:t>
            </a:r>
            <a:r>
              <a:rPr lang="pt-PT" dirty="0" err="1">
                <a:solidFill>
                  <a:schemeClr val="accent6"/>
                </a:solidFill>
              </a:rPr>
              <a:t>review</a:t>
            </a:r>
            <a:r>
              <a:rPr lang="pt-PT" dirty="0">
                <a:solidFill>
                  <a:schemeClr val="accent6"/>
                </a:solidFill>
              </a:rPr>
              <a:t>, </a:t>
            </a:r>
            <a:r>
              <a:rPr lang="pt-PT" dirty="0" err="1">
                <a:solidFill>
                  <a:schemeClr val="accent6"/>
                </a:solidFill>
              </a:rPr>
              <a:t>guess</a:t>
            </a:r>
            <a:r>
              <a:rPr lang="pt-PT" dirty="0">
                <a:solidFill>
                  <a:schemeClr val="accent6"/>
                </a:solidFill>
              </a:rPr>
              <a:t> </a:t>
            </a:r>
            <a:r>
              <a:rPr lang="pt-PT" dirty="0" err="1">
                <a:solidFill>
                  <a:schemeClr val="accent6"/>
                </a:solidFill>
              </a:rPr>
              <a:t>if</a:t>
            </a:r>
            <a:r>
              <a:rPr lang="pt-PT" dirty="0">
                <a:solidFill>
                  <a:schemeClr val="accent6"/>
                </a:solidFill>
              </a:rPr>
              <a:t> </a:t>
            </a:r>
            <a:r>
              <a:rPr lang="pt-PT" dirty="0" err="1">
                <a:solidFill>
                  <a:schemeClr val="accent6"/>
                </a:solidFill>
              </a:rPr>
              <a:t>it</a:t>
            </a:r>
            <a:r>
              <a:rPr lang="pt-PT" dirty="0">
                <a:solidFill>
                  <a:schemeClr val="accent6"/>
                </a:solidFill>
              </a:rPr>
              <a:t> </a:t>
            </a:r>
            <a:r>
              <a:rPr lang="pt-PT" dirty="0" err="1">
                <a:solidFill>
                  <a:schemeClr val="accent6"/>
                </a:solidFill>
              </a:rPr>
              <a:t>is</a:t>
            </a:r>
            <a:r>
              <a:rPr lang="pt-PT" dirty="0">
                <a:solidFill>
                  <a:schemeClr val="accent6"/>
                </a:solidFill>
              </a:rPr>
              <a:t> a positive </a:t>
            </a:r>
            <a:r>
              <a:rPr lang="pt-PT" dirty="0" err="1">
                <a:solidFill>
                  <a:schemeClr val="accent6"/>
                </a:solidFill>
              </a:rPr>
              <a:t>or</a:t>
            </a:r>
            <a:r>
              <a:rPr lang="pt-PT" dirty="0">
                <a:solidFill>
                  <a:schemeClr val="accent6"/>
                </a:solidFill>
              </a:rPr>
              <a:t> negative </a:t>
            </a:r>
            <a:r>
              <a:rPr lang="pt-PT" dirty="0" err="1">
                <a:solidFill>
                  <a:schemeClr val="accent6"/>
                </a:solidFill>
              </a:rPr>
              <a:t>review</a:t>
            </a:r>
            <a:endParaRPr lang="pt-PT" dirty="0">
              <a:solidFill>
                <a:schemeClr val="accent6"/>
              </a:solidFill>
            </a:endParaRPr>
          </a:p>
          <a:p>
            <a:pPr marL="727075" indent="-342900">
              <a:buFont typeface="+mj-lt"/>
              <a:buAutoNum type="arabicPeriod"/>
            </a:pPr>
            <a:r>
              <a:rPr lang="pt-PT" dirty="0" err="1">
                <a:solidFill>
                  <a:schemeClr val="accent6"/>
                </a:solidFill>
              </a:rPr>
              <a:t>Building</a:t>
            </a:r>
            <a:r>
              <a:rPr lang="pt-PT" dirty="0">
                <a:solidFill>
                  <a:schemeClr val="accent6"/>
                </a:solidFill>
              </a:rPr>
              <a:t> a </a:t>
            </a:r>
            <a:r>
              <a:rPr lang="pt-PT" dirty="0" err="1">
                <a:solidFill>
                  <a:schemeClr val="accent6"/>
                </a:solidFill>
              </a:rPr>
              <a:t>text</a:t>
            </a:r>
            <a:r>
              <a:rPr lang="pt-PT" dirty="0">
                <a:solidFill>
                  <a:schemeClr val="accent6"/>
                </a:solidFill>
              </a:rPr>
              <a:t> </a:t>
            </a:r>
            <a:r>
              <a:rPr lang="pt-PT" dirty="0" err="1">
                <a:solidFill>
                  <a:schemeClr val="accent6"/>
                </a:solidFill>
              </a:rPr>
              <a:t>classifier</a:t>
            </a:r>
            <a:endParaRPr lang="pt-PT" dirty="0">
              <a:solidFill>
                <a:schemeClr val="accent6"/>
              </a:solidFill>
            </a:endParaRPr>
          </a:p>
          <a:p>
            <a:pPr marL="727075" indent="-342900">
              <a:buFont typeface="+mj-lt"/>
              <a:buAutoNum type="arabicPeriod"/>
            </a:pPr>
            <a:r>
              <a:rPr lang="pt-PT" dirty="0" err="1">
                <a:solidFill>
                  <a:schemeClr val="accent6"/>
                </a:solidFill>
              </a:rPr>
              <a:t>Group</a:t>
            </a:r>
            <a:r>
              <a:rPr lang="pt-PT" dirty="0">
                <a:solidFill>
                  <a:schemeClr val="accent6"/>
                </a:solidFill>
              </a:rPr>
              <a:t> </a:t>
            </a:r>
            <a:r>
              <a:rPr lang="pt-PT" dirty="0" err="1">
                <a:solidFill>
                  <a:schemeClr val="accent6"/>
                </a:solidFill>
              </a:rPr>
              <a:t>the</a:t>
            </a:r>
            <a:r>
              <a:rPr lang="pt-PT" dirty="0">
                <a:solidFill>
                  <a:schemeClr val="accent6"/>
                </a:solidFill>
              </a:rPr>
              <a:t> </a:t>
            </a:r>
            <a:r>
              <a:rPr lang="pt-PT" dirty="0" err="1">
                <a:solidFill>
                  <a:schemeClr val="accent6"/>
                </a:solidFill>
              </a:rPr>
              <a:t>reviews</a:t>
            </a:r>
            <a:r>
              <a:rPr lang="pt-PT" dirty="0">
                <a:solidFill>
                  <a:schemeClr val="accent6"/>
                </a:solidFill>
              </a:rPr>
              <a:t> </a:t>
            </a:r>
            <a:r>
              <a:rPr lang="pt-PT" dirty="0" err="1">
                <a:solidFill>
                  <a:schemeClr val="accent6"/>
                </a:solidFill>
              </a:rPr>
              <a:t>by</a:t>
            </a:r>
            <a:r>
              <a:rPr lang="pt-PT" dirty="0">
                <a:solidFill>
                  <a:schemeClr val="accent6"/>
                </a:solidFill>
              </a:rPr>
              <a:t> game (</a:t>
            </a:r>
            <a:r>
              <a:rPr lang="pt-PT" dirty="0" err="1">
                <a:solidFill>
                  <a:schemeClr val="accent6"/>
                </a:solidFill>
              </a:rPr>
              <a:t>Classification</a:t>
            </a:r>
            <a:r>
              <a:rPr lang="pt-PT" dirty="0">
                <a:solidFill>
                  <a:schemeClr val="accent6"/>
                </a:solidFill>
              </a:rPr>
              <a:t>? </a:t>
            </a:r>
            <a:r>
              <a:rPr lang="pt-PT" dirty="0" err="1">
                <a:solidFill>
                  <a:schemeClr val="accent6"/>
                </a:solidFill>
              </a:rPr>
              <a:t>Clustering</a:t>
            </a:r>
            <a:r>
              <a:rPr lang="pt-PT" dirty="0">
                <a:solidFill>
                  <a:schemeClr val="accent6"/>
                </a:solidFill>
              </a:rPr>
              <a:t>? </a:t>
            </a:r>
            <a:r>
              <a:rPr lang="pt-PT">
                <a:solidFill>
                  <a:schemeClr val="accent6"/>
                </a:solidFill>
              </a:rPr>
              <a:t>??)</a:t>
            </a:r>
            <a:endParaRPr lang="pt-PT" dirty="0">
              <a:solidFill>
                <a:schemeClr val="accent6"/>
              </a:solidFill>
            </a:endParaRPr>
          </a:p>
          <a:p>
            <a:pPr marL="342900" indent="-342900">
              <a:buFont typeface="+mj-lt"/>
              <a:buAutoNum type="arabicPeriod"/>
            </a:pPr>
            <a:endParaRPr lang="pt-PT" dirty="0">
              <a:solidFill>
                <a:schemeClr val="accent6"/>
              </a:solidFill>
            </a:endParaRPr>
          </a:p>
          <a:p>
            <a:pPr marL="342900" indent="-342900"/>
            <a:r>
              <a:rPr lang="pt-PT" b="1" dirty="0" err="1">
                <a:solidFill>
                  <a:schemeClr val="accent6"/>
                </a:solidFill>
              </a:rPr>
              <a:t>Everything</a:t>
            </a:r>
            <a:r>
              <a:rPr lang="pt-PT" b="1" dirty="0">
                <a:solidFill>
                  <a:schemeClr val="accent6"/>
                </a:solidFill>
              </a:rPr>
              <a:t> </a:t>
            </a:r>
            <a:r>
              <a:rPr lang="pt-PT" b="1" dirty="0" err="1">
                <a:solidFill>
                  <a:schemeClr val="accent6"/>
                </a:solidFill>
              </a:rPr>
              <a:t>is</a:t>
            </a:r>
            <a:r>
              <a:rPr lang="pt-PT" b="1" dirty="0">
                <a:solidFill>
                  <a:schemeClr val="accent6"/>
                </a:solidFill>
              </a:rPr>
              <a:t> </a:t>
            </a:r>
            <a:r>
              <a:rPr lang="pt-PT" b="1" dirty="0" err="1">
                <a:solidFill>
                  <a:schemeClr val="accent6"/>
                </a:solidFill>
              </a:rPr>
              <a:t>valid</a:t>
            </a:r>
            <a:r>
              <a:rPr lang="pt-PT" b="1" dirty="0">
                <a:solidFill>
                  <a:schemeClr val="accent6"/>
                </a:solidFill>
              </a:rPr>
              <a:t>:</a:t>
            </a:r>
          </a:p>
          <a:p>
            <a:pPr marL="727075" indent="-342900">
              <a:buFont typeface="Arial" pitchFamily="34" charset="0"/>
              <a:buChar char="•"/>
            </a:pPr>
            <a:r>
              <a:rPr lang="pt-PT" dirty="0">
                <a:solidFill>
                  <a:schemeClr val="accent6"/>
                </a:solidFill>
              </a:rPr>
              <a:t>Stop </a:t>
            </a:r>
            <a:r>
              <a:rPr lang="pt-PT" dirty="0" err="1">
                <a:solidFill>
                  <a:schemeClr val="accent6"/>
                </a:solidFill>
              </a:rPr>
              <a:t>word</a:t>
            </a:r>
            <a:r>
              <a:rPr lang="pt-PT" dirty="0">
                <a:solidFill>
                  <a:schemeClr val="accent6"/>
                </a:solidFill>
              </a:rPr>
              <a:t> </a:t>
            </a:r>
            <a:r>
              <a:rPr lang="pt-PT" dirty="0" err="1">
                <a:solidFill>
                  <a:schemeClr val="accent6"/>
                </a:solidFill>
              </a:rPr>
              <a:t>removal</a:t>
            </a:r>
            <a:endParaRPr lang="pt-PT" dirty="0">
              <a:solidFill>
                <a:schemeClr val="accent6"/>
              </a:solidFill>
            </a:endParaRPr>
          </a:p>
          <a:p>
            <a:pPr marL="727075" indent="-342900">
              <a:buFont typeface="Arial" pitchFamily="34" charset="0"/>
              <a:buChar char="•"/>
            </a:pPr>
            <a:r>
              <a:rPr lang="pt-PT" dirty="0" err="1">
                <a:solidFill>
                  <a:schemeClr val="accent6"/>
                </a:solidFill>
              </a:rPr>
              <a:t>Removal</a:t>
            </a:r>
            <a:r>
              <a:rPr lang="pt-PT" dirty="0">
                <a:solidFill>
                  <a:schemeClr val="accent6"/>
                </a:solidFill>
              </a:rPr>
              <a:t> of non-</a:t>
            </a:r>
            <a:r>
              <a:rPr lang="pt-PT" dirty="0" err="1">
                <a:solidFill>
                  <a:schemeClr val="accent6"/>
                </a:solidFill>
              </a:rPr>
              <a:t>useful</a:t>
            </a:r>
            <a:r>
              <a:rPr lang="pt-PT" dirty="0">
                <a:solidFill>
                  <a:schemeClr val="accent6"/>
                </a:solidFill>
              </a:rPr>
              <a:t> </a:t>
            </a:r>
            <a:r>
              <a:rPr lang="pt-PT" dirty="0" err="1">
                <a:solidFill>
                  <a:schemeClr val="accent6"/>
                </a:solidFill>
              </a:rPr>
              <a:t>words</a:t>
            </a:r>
            <a:r>
              <a:rPr lang="pt-PT" dirty="0">
                <a:solidFill>
                  <a:schemeClr val="accent6"/>
                </a:solidFill>
              </a:rPr>
              <a:t> (</a:t>
            </a:r>
            <a:r>
              <a:rPr lang="pt-PT" dirty="0" err="1">
                <a:solidFill>
                  <a:schemeClr val="accent6"/>
                </a:solidFill>
              </a:rPr>
              <a:t>low</a:t>
            </a:r>
            <a:r>
              <a:rPr lang="pt-PT" dirty="0">
                <a:solidFill>
                  <a:schemeClr val="accent6"/>
                </a:solidFill>
              </a:rPr>
              <a:t> </a:t>
            </a:r>
            <a:r>
              <a:rPr lang="pt-PT" dirty="0" err="1">
                <a:solidFill>
                  <a:schemeClr val="accent6"/>
                </a:solidFill>
              </a:rPr>
              <a:t>frequency</a:t>
            </a:r>
            <a:r>
              <a:rPr lang="pt-PT" dirty="0">
                <a:solidFill>
                  <a:schemeClr val="accent6"/>
                </a:solidFill>
              </a:rPr>
              <a:t>/</a:t>
            </a:r>
            <a:r>
              <a:rPr lang="pt-PT" dirty="0" err="1">
                <a:solidFill>
                  <a:schemeClr val="accent6"/>
                </a:solidFill>
              </a:rPr>
              <a:t>high</a:t>
            </a:r>
            <a:r>
              <a:rPr lang="pt-PT" dirty="0">
                <a:solidFill>
                  <a:schemeClr val="accent6"/>
                </a:solidFill>
              </a:rPr>
              <a:t> </a:t>
            </a:r>
            <a:r>
              <a:rPr lang="pt-PT" dirty="0" err="1">
                <a:solidFill>
                  <a:schemeClr val="accent6"/>
                </a:solidFill>
              </a:rPr>
              <a:t>frequency</a:t>
            </a:r>
            <a:r>
              <a:rPr lang="pt-PT" dirty="0">
                <a:solidFill>
                  <a:schemeClr val="accent6"/>
                </a:solidFill>
              </a:rPr>
              <a:t>)</a:t>
            </a:r>
          </a:p>
          <a:p>
            <a:pPr marL="727075" indent="-342900">
              <a:buFont typeface="Arial" pitchFamily="34" charset="0"/>
              <a:buChar char="•"/>
            </a:pPr>
            <a:r>
              <a:rPr lang="pt-PT" dirty="0" err="1">
                <a:solidFill>
                  <a:schemeClr val="accent6"/>
                </a:solidFill>
              </a:rPr>
              <a:t>Re-weighting</a:t>
            </a:r>
            <a:endParaRPr lang="pt-PT" dirty="0">
              <a:solidFill>
                <a:schemeClr val="accent6"/>
              </a:solidFill>
            </a:endParaRPr>
          </a:p>
          <a:p>
            <a:pPr marL="727075" indent="-342900">
              <a:buFont typeface="Arial" pitchFamily="34" charset="0"/>
              <a:buChar char="•"/>
            </a:pPr>
            <a:r>
              <a:rPr lang="pt-PT" dirty="0" err="1">
                <a:solidFill>
                  <a:schemeClr val="accent6"/>
                </a:solidFill>
              </a:rPr>
              <a:t>Stemming</a:t>
            </a:r>
            <a:endParaRPr lang="pt-PT" dirty="0">
              <a:solidFill>
                <a:schemeClr val="accent6"/>
              </a:solidFill>
            </a:endParaRPr>
          </a:p>
          <a:p>
            <a:pPr marL="727075" indent="-342900">
              <a:buFont typeface="Arial" pitchFamily="34" charset="0"/>
              <a:buChar char="•"/>
            </a:pPr>
            <a:r>
              <a:rPr lang="pt-PT" dirty="0">
                <a:solidFill>
                  <a:schemeClr val="accent6"/>
                </a:solidFill>
              </a:rPr>
              <a:t>POS </a:t>
            </a:r>
            <a:r>
              <a:rPr lang="pt-PT" dirty="0" err="1">
                <a:solidFill>
                  <a:schemeClr val="accent6"/>
                </a:solidFill>
              </a:rPr>
              <a:t>tagging</a:t>
            </a:r>
            <a:endParaRPr lang="pt-PT" dirty="0">
              <a:solidFill>
                <a:schemeClr val="accent6"/>
              </a:solidFill>
            </a:endParaRPr>
          </a:p>
          <a:p>
            <a:pPr marL="727075" indent="-342900">
              <a:buFont typeface="Arial" pitchFamily="34" charset="0"/>
              <a:buChar char="•"/>
            </a:pPr>
            <a:r>
              <a:rPr lang="pt-PT" dirty="0">
                <a:solidFill>
                  <a:schemeClr val="accent6"/>
                </a:solidFill>
              </a:rPr>
              <a:t>N-</a:t>
            </a:r>
            <a:r>
              <a:rPr lang="pt-PT" dirty="0" err="1">
                <a:solidFill>
                  <a:schemeClr val="accent6"/>
                </a:solidFill>
              </a:rPr>
              <a:t>grams</a:t>
            </a:r>
            <a:endParaRPr lang="pt-PT" dirty="0">
              <a:solidFill>
                <a:schemeClr val="accent6"/>
              </a:solidFill>
            </a:endParaRPr>
          </a:p>
          <a:p>
            <a:pPr marL="727075" indent="-342900">
              <a:buFont typeface="Arial" pitchFamily="34" charset="0"/>
              <a:buChar char="•"/>
            </a:pPr>
            <a:r>
              <a:rPr lang="pt-PT" dirty="0" err="1">
                <a:solidFill>
                  <a:schemeClr val="accent6"/>
                </a:solidFill>
              </a:rPr>
              <a:t>Correlation</a:t>
            </a:r>
            <a:r>
              <a:rPr lang="pt-PT" dirty="0">
                <a:solidFill>
                  <a:schemeClr val="accent6"/>
                </a:solidFill>
              </a:rPr>
              <a:t> </a:t>
            </a:r>
            <a:r>
              <a:rPr lang="pt-PT" dirty="0" err="1">
                <a:solidFill>
                  <a:schemeClr val="accent6"/>
                </a:solidFill>
              </a:rPr>
              <a:t>between</a:t>
            </a:r>
            <a:r>
              <a:rPr lang="pt-PT" dirty="0">
                <a:solidFill>
                  <a:schemeClr val="accent6"/>
                </a:solidFill>
              </a:rPr>
              <a:t> </a:t>
            </a:r>
            <a:r>
              <a:rPr lang="pt-PT" dirty="0" err="1">
                <a:solidFill>
                  <a:schemeClr val="accent6"/>
                </a:solidFill>
              </a:rPr>
              <a:t>terms</a:t>
            </a:r>
            <a:r>
              <a:rPr lang="pt-PT" dirty="0">
                <a:solidFill>
                  <a:schemeClr val="accent6"/>
                </a:solidFill>
              </a:rPr>
              <a:t> and </a:t>
            </a:r>
            <a:r>
              <a:rPr lang="pt-PT" dirty="0" err="1">
                <a:solidFill>
                  <a:schemeClr val="accent6"/>
                </a:solidFill>
              </a:rPr>
              <a:t>topics</a:t>
            </a:r>
            <a:endParaRPr lang="pt-PT" dirty="0">
              <a:solidFill>
                <a:schemeClr val="accent6"/>
              </a:solidFill>
            </a:endParaRPr>
          </a:p>
          <a:p>
            <a:pPr marL="727075" indent="-342900">
              <a:buFont typeface="Arial" pitchFamily="34" charset="0"/>
              <a:buChar char="•"/>
            </a:pPr>
            <a:r>
              <a:rPr lang="pt-PT" dirty="0">
                <a:solidFill>
                  <a:schemeClr val="accent6"/>
                </a:solidFill>
              </a:rPr>
              <a:t>More data, Less data</a:t>
            </a:r>
          </a:p>
          <a:p>
            <a:pPr marL="727075" indent="-342900">
              <a:buFont typeface="Arial" pitchFamily="34" charset="0"/>
              <a:buChar char="•"/>
            </a:pPr>
            <a:r>
              <a:rPr lang="pt-PT" dirty="0">
                <a:solidFill>
                  <a:schemeClr val="accent6"/>
                </a:solidFill>
              </a:rPr>
              <a:t>Use of Wordnet</a:t>
            </a:r>
          </a:p>
          <a:p>
            <a:pPr marL="727075" indent="-342900">
              <a:buFont typeface="Arial" pitchFamily="34" charset="0"/>
              <a:buChar char="•"/>
            </a:pPr>
            <a:r>
              <a:rPr lang="pt-PT" dirty="0" err="1">
                <a:solidFill>
                  <a:schemeClr val="accent6"/>
                </a:solidFill>
              </a:rPr>
              <a:t>Other</a:t>
            </a:r>
            <a:r>
              <a:rPr lang="pt-PT" dirty="0">
                <a:solidFill>
                  <a:schemeClr val="accent6"/>
                </a:solidFill>
              </a:rPr>
              <a:t> </a:t>
            </a:r>
            <a:r>
              <a:rPr lang="pt-PT" dirty="0" err="1">
                <a:solidFill>
                  <a:schemeClr val="accent6"/>
                </a:solidFill>
              </a:rPr>
              <a:t>classification</a:t>
            </a:r>
            <a:r>
              <a:rPr lang="pt-PT" dirty="0">
                <a:solidFill>
                  <a:schemeClr val="accent6"/>
                </a:solidFill>
              </a:rPr>
              <a:t> </a:t>
            </a:r>
            <a:r>
              <a:rPr lang="pt-PT" dirty="0" err="1">
                <a:solidFill>
                  <a:schemeClr val="accent6"/>
                </a:solidFill>
              </a:rPr>
              <a:t>algorithms</a:t>
            </a:r>
            <a:r>
              <a:rPr lang="pt-PT" dirty="0">
                <a:solidFill>
                  <a:schemeClr val="accent6"/>
                </a:solidFill>
              </a:rPr>
              <a:t> (neural networks, </a:t>
            </a:r>
            <a:r>
              <a:rPr lang="pt-PT" dirty="0" err="1">
                <a:solidFill>
                  <a:schemeClr val="accent6"/>
                </a:solidFill>
              </a:rPr>
              <a:t>decison</a:t>
            </a:r>
            <a:r>
              <a:rPr lang="pt-PT" dirty="0">
                <a:solidFill>
                  <a:schemeClr val="accent6"/>
                </a:solidFill>
              </a:rPr>
              <a:t> </a:t>
            </a:r>
            <a:r>
              <a:rPr lang="pt-PT" dirty="0" err="1">
                <a:solidFill>
                  <a:schemeClr val="accent6"/>
                </a:solidFill>
              </a:rPr>
              <a:t>trees</a:t>
            </a:r>
            <a:r>
              <a:rPr lang="pt-PT" dirty="0">
                <a:solidFill>
                  <a:schemeClr val="accent6"/>
                </a:solidFill>
              </a:rPr>
              <a:t>, …)</a:t>
            </a:r>
          </a:p>
          <a:p>
            <a:pPr marL="727075" indent="-342900">
              <a:buFont typeface="Arial" pitchFamily="34" charset="0"/>
              <a:buChar char="•"/>
            </a:pPr>
            <a:r>
              <a:rPr lang="pt-PT" dirty="0">
                <a:solidFill>
                  <a:schemeClr val="accent6"/>
                </a:solidFill>
              </a:rPr>
              <a:t>…</a:t>
            </a:r>
          </a:p>
          <a:p>
            <a:pPr marL="727075" indent="-342900">
              <a:buFont typeface="Arial" pitchFamily="34" charset="0"/>
              <a:buChar char="•"/>
            </a:pPr>
            <a:endParaRPr lang="pt-PT" dirty="0">
              <a:solidFill>
                <a:schemeClr val="accent6"/>
              </a:solidFill>
            </a:endParaRPr>
          </a:p>
          <a:p>
            <a:pPr marL="727075" indent="-342900">
              <a:spcBef>
                <a:spcPts val="0"/>
              </a:spcBef>
              <a:spcAft>
                <a:spcPts val="1200"/>
              </a:spcAft>
            </a:pPr>
            <a:r>
              <a:rPr lang="pt-PT" sz="2200" b="1" dirty="0">
                <a:solidFill>
                  <a:schemeClr val="accent6"/>
                </a:solidFill>
                <a:hlinkClick r:id="rId2"/>
              </a:rPr>
              <a:t>https://www.dropbox.com/sh/zeb9iqiy9u0isdx/_EhjMTTRXL</a:t>
            </a:r>
            <a:endParaRPr lang="pt-PT" sz="2200" b="1" dirty="0">
              <a:solidFill>
                <a:schemeClr val="accent6"/>
              </a:solidFill>
            </a:endParaRPr>
          </a:p>
          <a:p>
            <a:pPr marL="727075" indent="-342900">
              <a:spcBef>
                <a:spcPts val="0"/>
              </a:spcBef>
              <a:spcAft>
                <a:spcPts val="1200"/>
              </a:spcAft>
            </a:pPr>
            <a:r>
              <a:rPr lang="pt-PT" sz="2200" b="1" dirty="0">
                <a:solidFill>
                  <a:schemeClr val="accent6"/>
                </a:solidFill>
                <a:hlinkClick r:id="rId3"/>
              </a:rPr>
              <a:t>http://www.metacritic.com/game/pc</a:t>
            </a:r>
            <a:r>
              <a:rPr lang="pt-PT" sz="2200" b="1" dirty="0">
                <a:solidFill>
                  <a:schemeClr val="accent6"/>
                </a:solidFill>
              </a:rPr>
              <a:t> </a:t>
            </a:r>
          </a:p>
          <a:p>
            <a:pPr marL="342900" indent="-342900"/>
            <a:endParaRPr lang="pt-PT" dirty="0">
              <a:solidFill>
                <a:schemeClr val="accent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6" end="1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9" end="1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p:cNvSpPr>
            <a:spLocks noChangeArrowheads="1"/>
          </p:cNvSpPr>
          <p:nvPr/>
        </p:nvSpPr>
        <p:spPr bwMode="auto">
          <a:xfrm>
            <a:off x="1403648" y="1412776"/>
            <a:ext cx="7560394" cy="4401205"/>
          </a:xfrm>
          <a:prstGeom prst="rect">
            <a:avLst/>
          </a:prstGeom>
          <a:noFill/>
          <a:ln w="9525">
            <a:noFill/>
            <a:miter lim="800000"/>
            <a:headEnd/>
            <a:tailEnd/>
          </a:ln>
        </p:spPr>
        <p:txBody>
          <a:bodyPr wrap="square">
            <a:spAutoFit/>
          </a:bodyPr>
          <a:lstStyle/>
          <a:p>
            <a:endParaRPr lang="pt-PT" sz="3200" b="1" dirty="0">
              <a:solidFill>
                <a:srgbClr val="002060"/>
              </a:solidFill>
            </a:endParaRPr>
          </a:p>
          <a:p>
            <a:endParaRPr lang="pt-PT" sz="3200" b="1" dirty="0">
              <a:solidFill>
                <a:srgbClr val="002060"/>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endParaRPr lang="pt-PT" sz="3200" b="1" dirty="0">
              <a:solidFill>
                <a:schemeClr val="tx1">
                  <a:lumMod val="65000"/>
                  <a:lumOff val="35000"/>
                </a:schemeClr>
              </a:solidFill>
            </a:endParaRPr>
          </a:p>
          <a:p>
            <a:r>
              <a:rPr lang="pt-PT" sz="3200" b="1" dirty="0">
                <a:solidFill>
                  <a:schemeClr val="tx1">
                    <a:lumMod val="65000"/>
                    <a:lumOff val="35000"/>
                  </a:schemeClr>
                </a:solidFill>
              </a:rPr>
              <a:t>LOWEST ERROR SO FAR</a:t>
            </a:r>
            <a:r>
              <a:rPr lang="pt-PT" sz="3200" b="1">
                <a:solidFill>
                  <a:schemeClr val="tx1">
                    <a:lumMod val="65000"/>
                    <a:lumOff val="35000"/>
                  </a:schemeClr>
                </a:solidFill>
              </a:rPr>
              <a:t>:</a:t>
            </a:r>
            <a:r>
              <a:rPr lang="pt-PT" sz="4400" b="1">
                <a:solidFill>
                  <a:srgbClr val="A50021"/>
                </a:solidFill>
              </a:rPr>
              <a:t> 100%</a:t>
            </a:r>
            <a:endParaRPr lang="pt-PT" sz="3200" b="1" dirty="0">
              <a:solidFill>
                <a:srgbClr val="A50021"/>
              </a:solidFill>
            </a:endParaRPr>
          </a:p>
          <a:p>
            <a:endParaRPr lang="pt-PT" sz="2600" b="1" i="1" dirty="0">
              <a:solidFill>
                <a:schemeClr val="tx1">
                  <a:lumMod val="65000"/>
                  <a:lumOff val="35000"/>
                </a:schemeClr>
              </a:solidFill>
            </a:endParaRPr>
          </a:p>
          <a:p>
            <a:r>
              <a:rPr lang="pt-PT" dirty="0">
                <a:solidFill>
                  <a:schemeClr val="tx1">
                    <a:lumMod val="65000"/>
                    <a:lumOff val="35000"/>
                  </a:schemeClr>
                </a:solidFill>
              </a:rPr>
              <a:t>				</a:t>
            </a:r>
          </a:p>
        </p:txBody>
      </p:sp>
      <p:pic>
        <p:nvPicPr>
          <p:cNvPr id="17410" name="Picture 2" descr="http://mediatemetrics.files.wordpress.com/2012/01/text-mining.jpg?w=216&amp;h=100&amp;crop=1"/>
          <p:cNvPicPr>
            <a:picLocks noChangeAspect="1" noChangeArrowheads="1"/>
          </p:cNvPicPr>
          <p:nvPr/>
        </p:nvPicPr>
        <p:blipFill>
          <a:blip r:embed="rId2" cstate="print"/>
          <a:srcRect/>
          <a:stretch>
            <a:fillRect/>
          </a:stretch>
        </p:blipFill>
        <p:spPr bwMode="auto">
          <a:xfrm>
            <a:off x="1475656" y="1268760"/>
            <a:ext cx="3816424" cy="1766864"/>
          </a:xfrm>
          <a:prstGeom prst="rect">
            <a:avLst/>
          </a:prstGeom>
          <a:noFill/>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2148</TotalTime>
  <Words>3571</Words>
  <Application>Microsoft Office PowerPoint</Application>
  <PresentationFormat>On-screen Show (4:3)</PresentationFormat>
  <Paragraphs>599</Paragraphs>
  <Slides>42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Courier New</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Nuno Escudeiro</dc:creator>
  <cp:lastModifiedBy>Nuno Escudeiro</cp:lastModifiedBy>
  <cp:revision>343</cp:revision>
  <dcterms:created xsi:type="dcterms:W3CDTF">2009-03-05T10:33:01Z</dcterms:created>
  <dcterms:modified xsi:type="dcterms:W3CDTF">2026-05-15T01:17:34Z</dcterms:modified>
</cp:coreProperties>
</file>